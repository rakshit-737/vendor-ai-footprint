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 Title.</a:t>
            </a:r>
          </a:p>
          <a:p>
            <a:r>
              <a:t>Good morning. We are Team Osprey. Meridian's third-party risk team asked a precise question: from a vendor's</a:t>
            </a:r>
          </a:p>
          <a:p>
            <a:r>
              <a:t>public footprint alone, can we tell whether the vendor genuinely uses AI in the service it provides, rather than</a:t>
            </a:r>
          </a:p>
          <a:p>
            <a:r>
              <a:t>only talking about AI, and what that use means for Meridian's data, operations and risk?</a:t>
            </a:r>
          </a:p>
          <a:p>
            <a:r>
              <a:t>Everything you will see runs offline from a frozen, hashed evidence pack. The findings live in the workbook's</a:t>
            </a:r>
          </a:p>
          <a:p>
            <a:r>
              <a:t>student columns L to V; this deck explains how they were reached.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Answer first.</a:t>
            </a:r>
          </a:p>
          <a:p>
            <a:r>
              <a:t>AI runs in service delivery at 3 of 6 vendors (Fiserv, BNY and TCH). None reaches Critical AI risk on public evidence; AutomWorx's ceiling is Critical if confirmed, and Fiserv, BNY and TCH would become Critical on a single confirming answer.</a:t>
            </a:r>
          </a:p>
          <a:p>
            <a:r>
              <a:t>- V-001 AutomWorx: High tier; Inconclusive (roughly even chance, confidence Moderate); AI risk Medium, provisional with a ceiling of Critical if confirmed. Evidence: V-001-E-0001, V-001-E-0002. Flip: Confirmation that the AI platform of the inferred affiliate Labarum AI delivers Meridian work would make the verdict Yes and could raise the class to Critical. Next: Issue questionnaire items Q1 to Q4 within 15 business days to establish whether AI is used in the service, which Meridian data it touches, which model providers are involved and what human review applies.</a:t>
            </a:r>
          </a:p>
          <a:p>
            <a:r>
              <a:t>- V-002 Fiserv: Critical tier; Yes · Probable (likely, confidence Low); AI risk High. Evidence: V-002-E-0001, V-002-E-0002. Flip: Independent confirmation of AI use in the service itself would lift the Probable cap and raise the class to Critical. Next: Issue a targeted questionnaire within 15 business days covering which Meridian data the AI touches, model provider identity and AI sub-processors, training use and retention of Meridian data, hosting region, human review and explainability of AI output, permissions and approval gates for AI agents, prompt-injection and data-leakage controls, AI governance and attestations, AI incident and change notification, and validation and monitoring of predictive models.</a:t>
            </a:r>
          </a:p>
          <a:p>
            <a:r>
              <a:t>- V-003 FSSI: High tier; No · Not detected (unlikely, confidence Moderate); AI risk None identified. Evidence: V-003-E-0001, V-003-E-0002, V-003-E-0003. Flip: Evidence that AI features of the platforms the vendor uses, or AI tools used by its staff, touch Meridian data would require reassessment. Next: Obtain a written attestation from the vendor that no AI is used in the service or on Meridian data, including the AI features of the platforms it uses.</a:t>
            </a:r>
          </a:p>
          <a:p>
            <a:r>
              <a:t>- V-004 Terrapin: High tier; Inconclusive (roughly even chance, confidence Low); AI risk Medium, provisional with a ceiling of High if confirmed. Evidence: V-004-E-0001, V-004-E-0002. Flip: Confirmation that the AI services indicated only by DNS records (Anthropic and OpenAI) are used on Meridian data would make the verdict Yes and could raise the class to High. Next: Issue questionnaire items Q1 to Q4 within 15 business days to establish whether AI is used in the service, which Meridian data it touches, which model providers are involved and what human review applies.</a:t>
            </a:r>
          </a:p>
          <a:p>
            <a:r>
              <a:t>- V-005 BNY: Critical tier; Yes · Probable (likely, confidence Low); AI risk High. Evidence: V-005-E-0001, V-005-E-0003, V-005-E-0002. Flip: Independent confirmation of AI use in the service itself would lift the Probable cap and raise the class to Critical. Next: Issue a targeted questionnaire within 15 business days covering which Meridian data the AI touches, model provider identity and AI sub-processors, training use and retention of Meridian data, hosting region, human review and explainability of AI output, permissions and approval gates for AI agents, prompt-injection and data-leakage controls, AI governance and attestations, AI incident and change notification, and validation and monitoring of predictive models.</a:t>
            </a:r>
          </a:p>
          <a:p>
            <a:r>
              <a:t>- V-006 TCH: Critical tier; Yes · Probable (likely, confidence Moderate); AI risk High. Evidence: V-006-E-0001, V-006-E-0002, V-006-E-0004. Flip: Independent confirmation of AI use in the service itself would lift the Probable cap and raise the class to Critical. Next: Issue a targeted questionnaire within 15 business days covering which Meridian data the AI touches, model provider identity and AI sub-processors, training use and retention of Meridian data, hosting region, human review and explainability of AI output, prompt-injection and data-leakage controls, AI governance and attestations, AI incident and change notification, and validation and monitoring of predictive models.</a:t>
            </a:r>
          </a:p>
          <a:p>
            <a:r>
              <a:t>Each row is the workbook's columns L, O and S plus the flip condition from T and the first action from U. Every vendor claim above cites Evidence Log IDs; say the ID when you quote 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Approach.</a:t>
            </a:r>
          </a:p>
          <a:p>
            <a:r>
              <a:t>The brief gives us five roles. We mapped each role onto pipeline components C1 to C10, so every step has an</a:t>
            </a:r>
          </a:p>
          <a:p>
            <a:r>
              <a:t>owner in code and an output in the workbook.</a:t>
            </a:r>
          </a:p>
          <a:p>
            <a:r>
              <a:t>The rule that runs through all of it: AI proposes, code verifies, analyst approves. Gemini only suggests names,</a:t>
            </a:r>
          </a:p>
          <a:p>
            <a:r>
              <a:t>priorities and candidate claims. Code decides what counts: a quote is evidence only if it is an exact slice of a</a:t>
            </a:r>
          </a:p>
          <a:p>
            <a:r>
              <a:t>captured, hashed page. Analysts hold two checkpoints: HC1 confirms the tier, and HC2 accepts or rejects each cited</a:t>
            </a:r>
          </a:p>
          <a:p>
            <a:r>
              <a:t>excerpt with a reason. The Approve action on the Findings page is part of HC2: it accepts a vendor's remaining</a:t>
            </a:r>
          </a:p>
          <a:p>
            <a:r>
              <a:t>cited excerpts in one step, after the analyst confirms reading each one. Export itself is gated by code, not by a</a:t>
            </a:r>
          </a:p>
          <a:p>
            <a:r>
              <a:t>sign-off: the LLM audit must be clean and the integrity check must pass.</a:t>
            </a:r>
          </a:p>
          <a:p>
            <a:r>
              <a:t>The strip at the bottom shows where each required outcome is covered in this deck.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Outcome 01: functional design.</a:t>
            </a:r>
          </a:p>
          <a:p>
            <a:r>
              <a:t>Read the top row left to right. C1 takes the uploaded workbook, tolerates header typos and maps the cream student</a:t>
            </a:r>
          </a:p>
          <a:p>
            <a:r>
              <a:t>cells; it skips the fictional V-000 row. C2 rates criticality from the profile alone, and HC1 is the analyst</a:t>
            </a:r>
          </a:p>
          <a:p>
            <a:r>
              <a:t>confirming that tier; an override needs a written reason. C3 turns the tier into a depth plan: which source</a:t>
            </a:r>
          </a:p>
          <a:p>
            <a:r>
              <a:t>families are mandatory, their request caps, the Gemini budget and the stop rules.</a:t>
            </a:r>
          </a:p>
          <a:p>
            <a:r>
              <a:t>C4 discovers candidate sources with our own OSINT: seeds, DNS, sitemaps, SEC, job-board APIs and Wayback. Gemini</a:t>
            </a:r>
          </a:p>
          <a:p>
            <a:r>
              <a:t>may expand names and triage pages, by ID only. C5 captures compliantly: terms register, then robots.txt, then a</a:t>
            </a:r>
          </a:p>
          <a:p>
            <a:r>
              <a:t>per-host rate limit, then a GET. Raw bytes land in a content-addressed store with SHA-256 and UTC time.</a:t>
            </a:r>
          </a:p>
          <a:p>
            <a:r>
              <a:t>The bottom row reads right to left. C6 extracts dated text and lexicon passages. C7 runs the rules tagger and</a:t>
            </a:r>
          </a:p>
          <a:p>
            <a:r>
              <a:t>Gemini claim extraction side by side; every claim must pass gates V1 to V9 before it becomes an excerpt with tags.</a:t>
            </a:r>
          </a:p>
          <a:p>
            <a:r>
              <a:t>The stop-rule loop sends work back to discovery until usage, sub-processors and data use are answered, the search</a:t>
            </a:r>
          </a:p>
          <a:p>
            <a:r>
              <a:t>saturates or the budget runs out. HC2 is the analyst reviewing each cited excerpt. C8 applies verdict rules a to f,</a:t>
            </a:r>
          </a:p>
          <a:p>
            <a:r>
              <a:t>C9 scores risk and picks actions, and C10 composes the cells and logs.</a:t>
            </a:r>
          </a:p>
          <a:p>
            <a:r>
              <a:t>C10 always freezes evidence first and then renders the cells. The export refuses a run whose LLM audit log has</a:t>
            </a:r>
          </a:p>
          <a:p>
            <a:r>
              <a:t>problems, proves with the integrity check that only the student cells changed, and an offline replay then proves</a:t>
            </a:r>
          </a:p>
          <a:p>
            <a:r>
              <a:t>it reproduces the same cells. Those release gates are code, not a third sign-off: the human checkpoints are HC1</a:t>
            </a:r>
          </a:p>
          <a:p>
            <a:r>
              <a:t>and HC2.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Outcome 02: architecture.</a:t>
            </a:r>
          </a:p>
          <a:p>
            <a:r>
              <a:t>One engine sits behind three interfaces: the typer CLI, the Streamlit app and the Colab or Jupyter notebook. All</a:t>
            </a:r>
          </a:p>
          <a:p>
            <a:r>
              <a:t>three call a single entry point, run_assessment, with a mode switch. Replay is the default: it reads the frozen</a:t>
            </a:r>
          </a:p>
          <a:p>
            <a:r>
              <a:t>evidence pack and the LLM cache and makes no network calls, so the demo cannot be broken by Wi-Fi or quota.</a:t>
            </a:r>
          </a:p>
          <a:p>
            <a:r>
              <a:t>live_rules collects live without Gemini; live_ai adds Gemini through the cache.</a:t>
            </a:r>
          </a:p>
          <a:p>
            <a:r>
              <a:t>Inside the engine, net policy is the only way out to the internet: the Live or Replay fetcher, the terms-of-use</a:t>
            </a:r>
          </a:p>
          <a:p>
            <a:r>
              <a:t>register, robots.txt via Protego with an honest user agent, and per-host rate limits. Collectors for DNS, sites,</a:t>
            </a:r>
          </a:p>
          <a:p>
            <a:r>
              <a:t>WordPress, SEC, three ATS APIs, Wayback, providers and seeds sit on top of it, and manual captures enter through</a:t>
            </a:r>
          </a:p>
          <a:p>
            <a:r>
              <a:t>an import command. Analysis extracts text, runs the rules tagger and the Gemini layer, verifies with V1 to V9 and</a:t>
            </a:r>
          </a:p>
          <a:p>
            <a:r>
              <a:t>clusters corroboration. Decisions are made by the verdict, risk and action modules, and compose writes the cells.</a:t>
            </a:r>
          </a:p>
          <a:p>
            <a:r>
              <a:t>The stores are versioned config and prompts, the evidence store, the review records and the run manifests.</a:t>
            </a:r>
          </a:p>
          <a:p>
            <a:r>
              <a:t>The dashed line is the trust boundary. Profile fields, tiers, verdicts and findings never cross it. The only thing</a:t>
            </a:r>
          </a:p>
          <a:p>
            <a:r>
              <a:t>that leaves is public vendor text that has passed the payload guard, and the audit log records each call without</a:t>
            </a:r>
          </a:p>
          <a:p>
            <a:r>
              <a:t>its text. The demo is allowlisted for one live DNS lookup on top of replay.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Outcome 03: source strategy.</a:t>
            </a:r>
          </a:p>
          <a:p>
            <a:r>
              <a:t>Read the table by row. Shaded cells are mandatory: the family must end with a Coverage Log status, and that status is our negative evidence. The number is the cap on automated requests per vendor. REG applies only to SEC registrants; for the others the SEC collector logs it not applicable, with proof of the EDGAR check.</a:t>
            </a:r>
          </a:p>
          <a:p>
            <a:r>
              <a:t>Why each family thins below Critical (config/depth.toml):</a:t>
            </a:r>
          </a:p>
          <a:p>
            <a:r>
              <a:t>- LEG (Medium and below): Never dropped, narrowed to the privacy notice and sub-processor list: cheap, legally accountable and where AI sub-processors appear first.</a:t>
            </a:r>
          </a:p>
          <a:p>
            <a:r>
              <a:t>- REG (Medium and below): One full-text query at Medium: filings rarely describe a non-critical service, and most smaller vendors do not file.</a:t>
            </a:r>
          </a:p>
          <a:p>
            <a:r>
              <a:t>- PRD (Medium and below): Keyword scan at Medium: a full crawl mostly adds marketing (U7) for a vendor whose failure would not seriously affect Meridian.</a:t>
            </a:r>
          </a:p>
          <a:p>
            <a:r>
              <a:t>- JOB (Medium and below): Keyword search at Medium: postings show intent and staff skills (capped at S2), worth reading in volume only where data or dependency is material.</a:t>
            </a:r>
          </a:p>
          <a:p>
            <a:r>
              <a:t>- DNS (same mode at every tier): Never dropped: one cheap lookup, although it proves only a relationship.</a:t>
            </a:r>
          </a:p>
          <a:p>
            <a:r>
              <a:t>- IND (Medium and below): None below High: provider stories and trade press only corroborate (SR C); a questionnaire separates Probable from Confirmed more cheaply.</a:t>
            </a:r>
          </a:p>
          <a:p>
            <a:r>
              <a:t>- HIST (High and below): On a lead at High, none below: history dates claims and finds withdrawn ones but rarely gives SR A/B evidence of use.</a:t>
            </a:r>
          </a:p>
          <a:p>
            <a:r>
              <a:t>- EXEC (High and below): On a lead at High, captured by hand, none below: executive channels rarely give SR A/B evidence of use.</a:t>
            </a:r>
          </a:p>
          <a:p>
            <a:r>
              <a:t>Source reliability comes only from the source type (config/sources.toml), never from the model: A legally accountable: SEC filing, Product terms, Government record +9 more; B first-party: DNS TXT record, Job posting, AI policy +10 more; C promotional: Blog post, Trade press, Case study +16 more; D syndicated: Aggregator copy; E–F excluded: User-generated content.</a:t>
            </a:r>
          </a:p>
          <a:p>
            <a:r>
              <a:t>Terms register (config/tou.toml): 10 hosts allow automated GETs within limits, 7 allow seeded URLs only, 7 are manual only (fiserv.com, fiserv.wd5.myworkdayjobs.com, bny.com, eofe.fa.us2.oraclecloud.com, press.aboutamazon.com, openai.com, linkedin.com).</a:t>
            </a:r>
          </a:p>
          <a:p>
            <a:r>
              <a:t>Excluded by design, with reasons:</a:t>
            </a:r>
          </a:p>
          <a:p>
            <a:r>
              <a:t>- Search-engine result pages, ddgs and Google News RSS: Their terms bar automated querying, and the results cannot be reproduced.</a:t>
            </a:r>
          </a:p>
          <a:p>
            <a:r>
              <a:t>- Gemini grounding: It is paid, and its terms forbid harvesting the links.</a:t>
            </a:r>
          </a:p>
          <a:p>
            <a:r>
              <a:t>- Automated LinkedIn or Glassdoor access: Their terms forbid it; executive posts are captured by hand instead.</a:t>
            </a:r>
          </a:p>
          <a:p>
            <a:r>
              <a:t>- Wayback Save Page Now: It would create new public archive records of the research.</a:t>
            </a:r>
          </a:p>
          <a:p>
            <a:r>
              <a:t>- Patents: They show capability, not use.</a:t>
            </a:r>
          </a:p>
          <a:p>
            <a:r>
              <a:t>- GDELT, OpenAlex and Hacker News: Low yield or reliability: aggregator copies (SR D), research capability rather than use, and user-generated content (SR E).</a:t>
            </a:r>
          </a:p>
          <a:p>
            <a:r>
              <a:t>- Logins, forms and NDA-gated portals: They are not part of the public footprint.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Outcome 03: evidentiary weight.</a:t>
            </a:r>
          </a:p>
          <a:p>
            <a:r>
              <a:t>Every verified excerpt carries a tag card. U is the signal class, from U1 (AI in the exact service) to U8 (a limiting statement). SR is source reliability, set by the source type. SP is specificity from genuine-use indicators G1 to G11 against marketing indicators M1 to M7. RL is relevance to the exact service, computed locally. RC is recency against the as-of date. IC is corroboration.</a:t>
            </a:r>
          </a:p>
          <a:p>
            <a:r>
              <a:t>Four tests run in order: the EU AI Act definition, the subject, the use-state, then specificity.</a:t>
            </a:r>
          </a:p>
          <a:p>
            <a:r>
              <a:t>The strength label is the first rule that matches, in a fixed order. A DNS verification token is therefore always 'Context - relationship only', never evidence of use.</a:t>
            </a:r>
          </a:p>
          <a:p>
            <a:r>
              <a:t>Trap shown: V-001 AutomWorx, V-001-E-0138, Homepage: "The Orchestration Layer of the Private Cloud. Running AI in Production Starts Below the Model"</a:t>
            </a:r>
          </a:p>
          <a:p>
            <a:r>
              <a:t>Placeholder examples come from scouting; the build with --findings swaps in the verified excerpts and their Evidence Log IDs.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AI where it adds recall, code where it adds trust.</a:t>
            </a:r>
          </a:p>
          <a:p>
            <a:r>
              <a:t>Gemini does three jobs. Expand turns a vendor's public name and navigation text into names to search for. Triage</a:t>
            </a:r>
          </a:p>
          <a:p>
            <a:r>
              <a:t>ranks pages, by ID only, so it never invents a URL. Extract labels public passages as structured JSON claims. If</a:t>
            </a:r>
          </a:p>
          <a:p>
            <a:r>
              <a:t>Gemini is unavailable, the keyless NullLLM path does the same jobs with rules, and the rest of the pipeline is</a:t>
            </a:r>
          </a:p>
          <a:p>
            <a:r>
              <a:t>unchanged.</a:t>
            </a:r>
          </a:p>
          <a:p>
            <a:r>
              <a:t>Before any call, the payload guard withholds passages that contain Meridian's name, our team name or distinctive</a:t>
            </a:r>
          </a:p>
          <a:p>
            <a:r>
              <a:t>profile wording; it redacts emails, phone numbers and listed names, and it skips hosts whose terms or robots.txt</a:t>
            </a:r>
          </a:p>
          <a:p>
            <a:r>
              <a:t>refuse AI processing. Withheld passages still go to the rules.</a:t>
            </a:r>
          </a:p>
          <a:p>
            <a:r>
              <a:t>Every claim then passes nine gates. Five reject it: unknown passage, a quote that is not an exact slice of the</a:t>
            </a:r>
          </a:p>
          <a:p>
            <a:r>
              <a:t>captured text, an inserted ellipsis or a bad length, a failed entity guard, or a duplicate. Two repair it by</a:t>
            </a:r>
          </a:p>
          <a:p>
            <a:r>
              <a:t>dropping an unverified indicator or provider name. Two keep decisions in code: relevance and locus are computed</a:t>
            </a:r>
          </a:p>
          <a:p>
            <a:r>
              <a:t>locally, and the rules decide the final labels while Gemini's labels are shown beside them for review.</a:t>
            </a:r>
          </a:p>
          <a:p>
            <a:r>
              <a:t>Gemini vs rules (frozen run): 51 Gemini calls · 67 passages withheld by the guard · 63 items agree · 251 disagree and go to the HC2 queue · 113 Gemini-only proposals wait for an analyst · 0 URLs taken from the model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Outcome 04: criticality.</a:t>
            </a:r>
          </a:p>
          <a:p>
            <a:r>
              <a:t>Criticality comes first and from the profile alone, columns B to K, so OSINT can never change a tier. The rubric is anchored on OCC Bulletin 2023-17: an activity is critical when the third party's failure would cause significant risk, customer impact or operational impact.</a:t>
            </a:r>
          </a:p>
          <a:p>
            <a:r>
              <a:t>Score = 7O + 6D + 5P + 4R + 3V, out of 100. Critical from 80, High from 50, Medium from 25. Floors can only lift a tier.</a:t>
            </a:r>
          </a:p>
          <a:p>
            <a:r>
              <a:t>Per vendor (computed live by footprint.criticality, rubric v1.1):</a:t>
            </a:r>
          </a:p>
          <a:p>
            <a:r>
              <a:t>- V-000 Larkspur Servicing Group: O3 D4 P2 R4 V3, score 80, floors F3, F5, F6 → Critical. Sensitivity: Would drop to High if operational dependency were Moderate, if the data were only customer non-public information or if volume were moderate (population-scale floor no longer applies).</a:t>
            </a:r>
          </a:p>
          <a:p>
            <a:r>
              <a:t>- V-001 AutomWorx: O3 D3P P2 R2 V0, score 57, floors F4, F5 → High. Sensitivity: Would become Critical if operational dependency were Critical/Total (operational-dependency floor) or if the service transmitted payment messages (payment-path floor). Stays High for any single one-step decrease.</a:t>
            </a:r>
          </a:p>
          <a:p>
            <a:r>
              <a:t>- V-002 Fiserv: O4 D4 P4 R4 V4, score 100, floors F1, F2, F3, F5, F6 → Critical. Sensitivity: Stays Critical for any single one-step decrease.</a:t>
            </a:r>
          </a:p>
          <a:p>
            <a:r>
              <a:t>- V-003 FSSI: O2 D4 P1 R4 V4, score 71, floors F3, F5 → High. Sensitivity: Would become Critical if operational dependency were High (population-scale floor). Stays High for any single one-step decrease.</a:t>
            </a:r>
          </a:p>
          <a:p>
            <a:r>
              <a:t>- V-004 Terrapin: O2 D3 P2 R3 V2, score 60, floors F5 → High. Sensitivity: Stays High for any single one-step increase or decrease.</a:t>
            </a:r>
          </a:p>
          <a:p>
            <a:r>
              <a:t>- V-005 BNY: O3 D3 P3 R4 V3, score 79, floors F2, F5 → Critical. Sensitivity: Would drop to High if operational dependency were Moderate or if the service did not transmit payment messages (payment-path floor no longer applies).</a:t>
            </a:r>
          </a:p>
          <a:p>
            <a:r>
              <a:t>- V-006 TCH: O4 D3 P4 R4 V4, score 94, floors F1, F2, F5 → Critical. Sensitivity: Stays Critical for any single one-step decrease.</a:t>
            </a:r>
          </a:p>
          <a:p>
            <a:r>
              <a:t>V-000 is the fictional worked example: the rubric reproduces its Critical rating, which is our calibration check. Any analyst override at HC1 needs a reason, and any rule change bumps the version.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Outcome 04: depth.</a:t>
            </a:r>
          </a:p>
          <a:p>
            <a:r>
              <a:t>The tier decides how far we look, never the volume of material a vendor publishes. Mandatory families run to completion or to their caps and always end with a Coverage Log status; the discretionary budget only covers extra work such as snowball rounds.</a:t>
            </a:r>
          </a:p>
          <a:p>
            <a:r>
              <a:t>Per tier (config/depth.toml):</a:t>
            </a:r>
          </a:p>
          <a:p>
            <a:r>
              <a:t>- Critical → 'Full review – tier-driven': LEG, REG, PRD, JOB, DNS, IND, HIST; 100 discretionary fetches, 40 Gemini calls, 180 analyst minutes; saturation window 10. Vendors: Fiserv, BNY, TCH.</a:t>
            </a:r>
          </a:p>
          <a:p>
            <a:r>
              <a:t>- High → 'Standard review – tier-driven': LEG, REG, PRD, JOB, DNS, IND; 50 discretionary fetches, 20 Gemini calls, 90 analyst minutes; saturation window 6. Vendors: AutomWorx, FSSI, Terrapin.</a:t>
            </a:r>
          </a:p>
          <a:p>
            <a:r>
              <a:t>- Medium → 'Focused review': LEG, REG, PRD, JOB, DNS; 0 discretionary fetches, 6 Gemini calls, 30 analyst minutes; saturation window 4. Vendors: none in this inventory.</a:t>
            </a:r>
          </a:p>
          <a:p>
            <a:r>
              <a:t>- Low → 'Screen': LEG, PRD, DNS; 0 discretionary fetches, 2 Gemini calls, 15 analyst minutes; saturation window 3. Vendors: none in this inventory.</a:t>
            </a:r>
          </a:p>
          <a:p>
            <a:r>
              <a:t>- Modifier M-D4: legal and archive review at Critical depth, including AI features of named platforms, for data of the highest sensitivity</a:t>
            </a:r>
          </a:p>
          <a:p>
            <a:r>
              <a:t>- Modifier M-D3P: delivery-AI module: embedded third-party tenants and affiliates, platform-maker AI terms, staff AI-tool signals; escalate early</a:t>
            </a:r>
          </a:p>
          <a:p>
            <a:r>
              <a:t>- Modifier M-Private: regulatory filings not applicable (not an SEC registrant; EDGAR checked), offset by deeper legal and archive review</a:t>
            </a:r>
          </a:p>
          <a:p>
            <a:r>
              <a:t>Steps reserved for Meridian, never done by us: AI due-diligence questionnaire (FS-ISAC Level 3 equivalent); contract and AI-clause review; SOC 2 Type II scope and ISO/IEC 42001 validation; AI system and sub-processor inventory request.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Findings and risk.</a:t>
            </a:r>
          </a:p>
          <a:p>
            <a:r>
              <a:t>Walk the chain for V-002 Fiserv. Excerpt V-002-E-0001 (SEC Form DEFA14A, Fiserv): "Two weeks ago, we re-architected our client service portal to drive more self-service and agentic AI capabilities to resolve our tickets." Tags U3 · SR:A · SP:S3 · RL:R2 · RC:T3 · IC:2 · locus=delivery_ops give Moderate. Verdict Yes (Probable), likely; confidence Low because the search of legal and trust pages (still pending), product pages and newsroom (still pending) and job postings (still pending) was not completed. Exposure 2, decision impact 3, tier points 3, transparency gap 2: ARP = 2E + 2K + TP + TG = 15 of 18 → High. Flip condition: Independent confirmation of AI use in the service itself would lift the Probable cap and raise the class to Critical.</a:t>
            </a:r>
          </a:p>
          <a:p>
            <a:r>
              <a:t>- V-001 AutomWorx: Inconclusive; risk Medium; strongest excerpt V-001-E-0001 Affiliate website.</a:t>
            </a:r>
          </a:p>
          <a:p>
            <a:r>
              <a:t>- V-002 Fiserv: Yes (Probable); risk High; strongest excerpt V-002-E-0001 SEC Form DEFA14A.</a:t>
            </a:r>
          </a:p>
          <a:p>
            <a:r>
              <a:t>- V-003 FSSI: No (Not detected); risk None identified; strongest excerpt V-003-E-0001 Platform supplier blog.</a:t>
            </a:r>
          </a:p>
          <a:p>
            <a:r>
              <a:t>- V-004 Terrapin: Inconclusive; risk Medium; strongest excerpt V-004-E-0001 DNS TXT record.</a:t>
            </a:r>
          </a:p>
          <a:p>
            <a:r>
              <a:t>- V-005 BNY: Yes (Probable); risk High; strongest excerpt V-005-E-0001 SEC Form 8-K exhibit.</a:t>
            </a:r>
          </a:p>
          <a:p>
            <a:r>
              <a:t>- V-006 TCH: Yes (Probable); risk High; strongest excerpt V-006-E-0001 Job posting.</a:t>
            </a:r>
          </a:p>
          <a:p>
            <a:r>
              <a:t>- OpenAI: named by 3 vendors; named only by third parties at 1 more; DNS verification token only at 1 more</a:t>
            </a:r>
          </a:p>
          <a:p>
            <a:r>
              <a:t>- Microsoft: named by 2 vendors; named only by third parties at 1 more</a:t>
            </a:r>
          </a:p>
          <a:p>
            <a:r>
              <a:t>- Anthropic: named by 1 vendor; DNS verification token only at 2 more</a:t>
            </a:r>
          </a:p>
          <a:p>
            <a:r>
              <a:t>- NVIDIA: named by 2 vendors</a:t>
            </a:r>
          </a:p>
          <a:p>
            <a:r>
              <a:t>- Google: named by 1 vendor; named only by third parties at 1 more</a:t>
            </a:r>
          </a:p>
          <a:p>
            <a:r>
              <a:t>- agentOS: named by 1 vendor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 Outcome 05: live demo. Review actions in steps 4 and 5 use a sandbox copy of review/, so the demo never changes the submitted decisions. HC1 and HC2 are the only human checkpoints; the export is gated by code (the LLM audit and the integrity check).</a:t>
            </a:r>
          </a:p>
          <a:p>
            <a:r>
              <a:t>1. (0:15) Upload the workbook: Header typos are tolerated; V-000 is recognised as the worked example and is never written.</a:t>
            </a:r>
          </a:p>
          <a:p>
            <a:r>
              <a:t>2. (0:30) Criticality and HC1: BNY scores 79 and the payment-path floor makes it Critical; FSSI's sensitivity line shows why it stays High.</a:t>
            </a:r>
          </a:p>
          <a:p>
            <a:r>
              <a:t>3. (0:25) Replay, then one live check: Replay the frozen run offline, then the allowlisted live DNS lookup against the captured record (Evidence page).</a:t>
            </a:r>
          </a:p>
          <a:p>
            <a:r>
              <a:t>4. (0:40) Evidence review (HC2): Fiserv's excerpt V-002-E-0002 with its screenshot, then Re-verify; reject AutomWorx's trap V-001-E-0138, which fails the definition test; compare Gemini with the rules on AutomWorx (90 disagreements).</a:t>
            </a:r>
          </a:p>
          <a:p>
            <a:r>
              <a:t>5. (0:30) Risk, then sign-off (HC2): Fiserv: exposure 2/3, decision impact 3/3, tier 3, transparency gap 2 → 15 of 18 = High, with its flip condition; then Approve accepts its remaining cited excerpts.</a:t>
            </a:r>
          </a:p>
          <a:p>
            <a:r>
              <a:t>6. (0:30) Export and check: Build and open the workbook: V-000 untouched, Evidence Log and Coverage Log appended, with 14 screenshots in Evidence Images; the integrity check passes.</a:t>
            </a:r>
          </a:p>
          <a:p>
            <a:r>
              <a:t>7. (0:10) Spare time: The V-000 worked example on Findings &amp; Risk: a calibration check the export never writes.</a:t>
            </a:r>
          </a:p>
          <a:p>
            <a:r>
              <a:t>Rebuild this deck from the final frozen run, then rehearse these steps in the app before presenting.</a:t>
            </a:r>
          </a:p>
          <a:p>
            <a:r>
              <a:t>If the app fails: Plan B is the same engine in local Jupyter; Plan C is the recorded run.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Recommendations, controls and limits.</a:t>
            </a:r>
          </a:p>
          <a:p>
            <a:r>
              <a:t>Next 30 days, all actions by Meridian:</a:t>
            </a:r>
          </a:p>
          <a:p>
            <a:r>
              <a:t>Send a targeted AI questionnaire to Fiserv, BNY and TCH within 15 business days.</a:t>
            </a:r>
          </a:p>
          <a:p>
            <a:r>
              <a:t>Put questions Q1–Q4 to AutomWorx and Terrapin within 15 business days, then reclassify on the answers.</a:t>
            </a:r>
          </a:p>
          <a:p>
            <a:r>
              <a:t>Register AI sub-processors on Meridian's inventory (agentOS, AI Hub, Anthropic, Eliza, Eliza 2.0, Eliza AI platform and 7 more), flagging unresolved providers.</a:t>
            </a:r>
          </a:p>
          <a:p>
            <a:r>
              <a:t>Ask FSSI for a written no-AI attestation and an AI change-notification clause.</a:t>
            </a:r>
          </a:p>
          <a:p>
            <a:r>
              <a:t>Each vendor's first column U action (the cell holds the full playbook):</a:t>
            </a:r>
          </a:p>
          <a:p>
            <a:r>
              <a:t>- V-001 AutomWorx: Issue questionnaire items Q1 to Q4 within 15 business days to establish whether AI is used in the service, which Meridian data it touches, which model providers are involved and what human review applies.</a:t>
            </a:r>
          </a:p>
          <a:p>
            <a:r>
              <a:t>- V-002 Fiserv: Issue a targeted questionnaire within 15 business days covering which Meridian data the AI touches, model provider identity and AI sub-processors, training use and retention of Meridian data, hosting region, human review and explainability of AI output, permissions and approval gates for AI agents, prompt-injection and data-leakage controls, AI governance and attestations, AI incident and change notification, and validation and monitoring of predictive models.</a:t>
            </a:r>
          </a:p>
          <a:p>
            <a:r>
              <a:t>- V-003 FSSI: Obtain a written attestation from the vendor that no AI is used in the service or on Meridian data, including the AI features of the platforms it uses.</a:t>
            </a:r>
          </a:p>
          <a:p>
            <a:r>
              <a:t>- V-004 Terrapin: Issue questionnaire items Q1 to Q4 within 15 business days to establish whether AI is used in the service, which Meridian data it touches, which model providers are involved and what human review applies.</a:t>
            </a:r>
          </a:p>
          <a:p>
            <a:r>
              <a:t>- V-005 BNY: Issue a targeted questionnaire within 15 business days covering which Meridian data the AI touches, model provider identity and AI sub-processors, training use and retention of Meridian data, hosting region, human review and explainability of AI output, permissions and approval gates for AI agents, prompt-injection and data-leakage controls, AI governance and attestations, AI incident and change notification, and validation and monitoring of predictive models.</a:t>
            </a:r>
          </a:p>
          <a:p>
            <a:r>
              <a:t>- V-006 TCH: Issue a targeted questionnaire within 15 business days covering which Meridian data the AI touches, model provider identity and AI sub-processors, training use and retention of Meridian data, hosting region, human review and explainability of AI output, prompt-injection and data-leakage controls, AI governance and attestations, AI incident and change notification, and validation and monitoring of predictive models.</a:t>
            </a:r>
          </a:p>
          <a:p>
            <a:r>
              <a:t>30 to 90 days:</a:t>
            </a:r>
          </a:p>
          <a:p>
            <a:r>
              <a:t>Add AI clauses at the next contract review: training limits, sub-processor change notice, human-oversight thresholds, attestation rights.</a:t>
            </a:r>
          </a:p>
          <a:p>
            <a:r>
              <a:t>Escalate vendors that do not answer to the Third-Party Risk Committee.</a:t>
            </a:r>
          </a:p>
          <a:p>
            <a:r>
              <a:t>Re-scan annually or on material change; replay keeps runs comparable.</a:t>
            </a:r>
          </a:p>
          <a:p>
            <a:r>
              <a:t>Controls we practised:</a:t>
            </a:r>
          </a:p>
          <a:p>
            <a:r>
              <a:t>Private repository; nothing published; no vendor contacted; GET requests only.</a:t>
            </a:r>
          </a:p>
          <a:p>
            <a:r>
              <a:t>Terms register, robots.txt and rate limits before every request; barred sites captured by hand.</a:t>
            </a:r>
          </a:p>
          <a:p>
            <a:r>
              <a:t>Only public vendor text reaches Gemini, through the payload guard, with an audit log.</a:t>
            </a:r>
          </a:p>
          <a:p>
            <a:r>
              <a:t>Replay reproduces identical L–V cells from the SHA-256 evidence pack.</a:t>
            </a:r>
          </a:p>
          <a:p>
            <a:r>
              <a:t>Limits of OSINT:</a:t>
            </a:r>
          </a:p>
          <a:p>
            <a:r>
              <a:t>Absence of public evidence is not proof of no AI: a 'No (Not detected)' still needs an attestation.</a:t>
            </a:r>
          </a:p>
          <a:p>
            <a:r>
              <a:t>Public claims can overstate (marketing) or lag (unannounced tools).</a:t>
            </a:r>
          </a:p>
          <a:p>
            <a:r>
              <a:t>A DNS token proves a relationship, not processing of Meridian data.</a:t>
            </a:r>
          </a:p>
          <a:p>
            <a:r>
              <a:t>Contracts, internal tools and data flows are invisible; the questionnaire closes the gap.</a:t>
            </a:r>
          </a:p>
          <a:p>
            <a:r>
              <a:t>A point-in-time snapshot, as of 3 October 2026.</a:t>
            </a:r>
          </a:p>
          <a:p>
            <a:r>
              <a:t>Bottom line: Every rating in the workbook traces to a captured, hashed source; whatever public evidence cannot settle goes to Meridian's questionnaire, never to a guess.</a:t>
            </a:r>
          </a:p>
          <a:p>
            <a:r>
              <a:t>Close: thank you; questions.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divider. Reference material for questions; not presented in the 13-minute walkthrough.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 rubric v1.1 anchors (config/rubric.toml). The highest level whose anchor matches wins; when two adjacent levels fit, the higher is taken and logged. Each factor keeps its verbatim trigger phrase in the Criticality Workings sheet. Descriptions are shortened here; the sheet and the config file hold them in full.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A2: tag legend (design §2.3; IC 4 is our documented interpretation, the Admiralty 'doubtful'). Genuine-use indicators: G1 named model or provider, G2 named feature with observable behaviour, G3 data flow, retention, training or human review, G4 release note for a GA feature, G5 developer artifact, G6 legal artifact, G7 filing tying AI to products, G8 job posting with operational AI duties, G11 quantified outcome. Marketing indicators: M1 buzzword, M2 aspiration or capability wording, M3 industry commentary, M4 automation relabelled as AI, M5 superlative, M6 no product named, M7 logo-only partnership.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A3: verdict rules a to f, first match wins (design §2.7). Likelihood follows ICD 203 and is written in its own sentence in column T; confidence is a separate sentence. Q = verified, SR A/B, SP S2+, RL R2+, RC T1+, class U1-U4, delivery locus. K = an independent cluster, SR A-C, SP S2+, RL R2+, RC T1+. Independent = different origin cluster and a different publisher or family.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A4: risk anchors (design §2.8). Order is fixed: score, base class, materiality gate, escalator floors, verdict cap last. Assumed values (marked a) never satisfy the gate. Calibration: V-000 = E3 + K3 + TP3 + TG2 = 17, gate met, Confirmed so no cap → Critical.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A5: workbook fidelity and the interpretations we documented (docs/contracts_p3.md §17). The writer refuses rather than bends a rule; the fidelity gate compares every provided cell, style, merge, column definition and sheet before export.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A6: V-001 AutomWorx. High tier (criticality score 57).</a:t>
            </a:r>
          </a:p>
          <a:p>
            <a:r>
              <a:t>AI usage: Inconclusive; it is roughly even chance that the vendor uses AI in the service; confidence moderate because the finding rests on two or more promotional or second-party sources.</a:t>
            </a:r>
          </a:p>
          <a:p>
            <a:r>
              <a:t>AI risk: Medium, provisional; ceiling Critical if confirmed; ARP 17 of 18 (E 3, K 3, TP 2, TG 3). Flip: Confirmation that the AI platform of the inferred affiliate Labarum AI delivers Meridian work would make the verdict Yes and could raise the class to Critical.</a:t>
            </a:r>
          </a:p>
          <a:p>
            <a:r>
              <a:t>Evidence Log IDs: V-001-E-0001, V-001-E-0002. Trap kept in the log, never cited: V-001-E-0138.</a:t>
            </a:r>
          </a:p>
          <a:p>
            <a:r>
              <a:t>Next action: Issue questionnaire items Q1 to Q4 within 15 business days to establish whether AI is used in the service, which Meridian data it touches, which model providers are involved and what human review applies.</a:t>
            </a:r>
          </a:p>
          <a:p>
            <a:r>
              <a:t>Column P: Indicator — inferred affiliate, not confirmed, Affiliate website, Labarum AI, labarum.ai (retrieved 03-10-2026; Evidence Log V-001-E-0001): "Twenty years of platform depth across 250+ Fortune 1000 accounts gets extended by AI infrastructure built to run where customer data runs." Indicator — inferred affiliate, not confirmed, Affiliate website, Labarum AI, labarum.ai/public-sector/ (retrieved 03-10-2026; Evidence Log V-001-E-0002): "Agencies engage Labarum AI for enterprise workload automation migrations, managed support of production scheduling environments, modernization of legacy schedulers, and the AI-enabled operating model that brings federal-grade discipline to the work." Negative finding — named AI providers or an AI sub-processor list, an AI policy or AI governance attestation, and AI data-use terms not found on the vendor's legal and trust pages (Coverage Log V-001-C-01). Negative finding — an SEC registration not found on EDGAR (Coverage Log V-001-C-02). Negative finding — an applicant tracking system not found on the vendor's website (Coverage Log V-001-C-04). Negative finding — AI-provider verification tokens not found on the vendor's DNS records (Coverage Log V-001-C-05). Entries are recorded in the Evidence Log sheet with retrieval dates and screenshots.</a:t>
            </a:r>
          </a:p>
          <a:p>
            <a:r>
              <a:t>Column Q: No usage pathway is evidenced in public material. AI options of Broadcom, a platform supplier the vendor uses (Gemini, OpenAI, Ollama, Google, and VMware Private AI), are a relationship indicator, not a confirmed sub-processor (V-001-E-0003, V-001-E-0004, V-001-E-0005 and 70 more). AI and generative AI (large language models) described by an inferred affiliate are not confirmed as used in the service (V-001-E-0001, V-001-E-0002, V-001-E-0076 and 14 more). The extent of AI use within the service itself, Meridian data reaching AI models, and human review over AI output is undetermined from public material and is carried forward to the vendor questionnaire.</a:t>
            </a:r>
          </a:p>
          <a:p>
            <a:r>
              <a:t>Column R: None named by the vendor — Inconclusive. No public sub-processor register found (searched the legal and trust pages of automworx.com; Coverage Log V-001-C-01). Provider identity, hosting region and retention terms are raised with the vendor through Meridian's questionnaire.</a:t>
            </a:r>
          </a:p>
          <a:p>
            <a:r>
              <a:t>Column T: Risk class: Medium (Provisional). Data involved, per the vendor profile: no direct customer data; privileged access to production job schedules, among others. Public evidence is limited to an inferred affiliate's AI capability (V-001-E-0001, V-001-E-0002), and none of it confirms AI use in the service. There is a roughly even chance that the vendor uses AI in the service supporting batch scheduling across core systems. Confidence is moderate because the finding rests on two or more promotional or second-party sources. Operational dependency is high, and the criticality tier is High. None of the six transparency checks is publicly disclosed; contractual disclosure is unknown. Score: exposure 3/3 (assumed), decision impact 3/3 (assumed), tier 2, transparency gap 3 → 17 of 18 = Critical. The materiality gate lowers the class to Medium. Provisional; ceiling Critical if confirmed. Confirmation that the AI platform of the inferred affiliate Labarum AI delivers Meridian work would make the verdict Yes and could raise the class to Critical.</a:t>
            </a:r>
          </a:p>
          <a:p>
            <a:r>
              <a:t>Column U: Issue questionnaire items Q1 to Q4 within 15 business days to establish whether AI is used in the service, which Meridian data it touches, which model providers are involved and what human review applies. Reclassify the vendor on the response; until then the class stays provisional, with a ceiling of Critical if AI use is confirmed. Cover training use and retention of Meridian data, hosting region, permissions and approval gates for AI agents, prompt-injection and data-leakage controls, AI governance and attestations, AI incident and change notification, and validation and monitoring of predictive models in the same questionnaire. Use questionnaire items Q1, Q2, Q3, Q4, Q5, Q6, Q7, Q8, Q9, Q10, Q11, Q13, Q14, Q15 and contract clauses C1, C2, C3, C4, C5, C6, C7, C8, C9, C10 from the Method &amp; Legend sheet. Re-scan the vendor's public AI footprint every six months until the classification is final.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A7: V-002 Fiserv. Critical tier (criticality score 100).</a:t>
            </a:r>
          </a:p>
          <a:p>
            <a:r>
              <a:t>AI usage: Yes (Probable); it is likely that the vendor uses AI in the service; confidence low because the search of legal and trust pages (still pending), product pages and newsroom (still pending) and job postings (still pending) was not completed.</a:t>
            </a:r>
          </a:p>
          <a:p>
            <a:r>
              <a:t>AI risk: High; ARP 15 of 18 (E 2, K 3, TP 3, TG 2). Flip: Independent confirmation of AI use in the service itself would lift the Probable cap and raise the class to Critical.</a:t>
            </a:r>
          </a:p>
          <a:p>
            <a:r>
              <a:t>Evidence Log IDs: V-002-E-0001, V-002-E-0002.</a:t>
            </a:r>
          </a:p>
          <a:p>
            <a:r>
              <a:t>Next action: Issue a targeted questionnaire within 15 business days covering which Meridian data the AI touches, model provider identity and AI sub-processors, training use and retention of Meridian data, hosting region, human review and explainability of AI output, permissions and approval gates for AI agents, prompt-injection and data-leakage controls, AI governance and attestations, AI incident and change notification, and validation and monitoring of predictive models.</a:t>
            </a:r>
          </a:p>
          <a:p>
            <a:r>
              <a:t>Column P: Primary source — SEC Form DEFA14A, Fiserv, 15-05-2026, www.sec.gov/Archives/edgar/data/798354/000119312526226797/d150338ddefa14a.htm (retrieved 03-10-2026; Evidence Log V-002-E-0001): "Two weeks ago, we re-architected our client service portal to drive more self-service and agentic AI capabilities to resolve our tickets." Supporting source — Press release mirror, Mondo Visione, 08-01-2026, mondovisione.com/media-and-resources/news/fiserv-collaborates-with-microsoft-to-accelerate-ai-driven-innovation-the-two-202618/ (retrieved 03-10-2026; Evidence Log V-002-E-0002): "GitHub Copilot has been deployed to more than 8,000 software engineers across Fiserv, driving measurable gains in developer productivity and accelerating solution delivery for clients." Entries are recorded in the Evidence Log sheet with retrieval dates and screenshots.</a:t>
            </a:r>
          </a:p>
          <a:p>
            <a:r>
              <a:t>Column Q: Two usage pathways are indicated. First, agentic AI in the vendor's delivery operations, described as "resolve our tickets", "resolve client issues", and "onboarding", applied to tickets (V-002-E-0001, V-002-E-0014, V-002-E-0015). Second, generative AI and machine learning in the vendor's software development, described as "code generation" and "fraud detection", applied to code; a third-party source names GitHub Copilot (V-002-E-0002, V-002-E-0012, V-002-E-0013 and 1 more). Anthropic and OpenAI domain-verification tokens in the vendor's DNS records are a relationship indicator, not a confirmed sub-processor (V-002-E-0006, V-002-E-0007). Named AI relationships (OpenAI, Personetics, and Devin) are a relationship indicator, not a confirmed sub-processor (V-002-E-0003, V-002-E-0004, V-002-E-0005 and 4 more). The extent of human review over AI output and retention or training use of Meridian data is undetermined from public material and is carried forward to the vendor questionnaire.</a:t>
            </a:r>
          </a:p>
          <a:p>
            <a:r>
              <a:t>Column R: Named by the vendor: OpenAI — named as an AI partner or provider (SEC Form DEFA14A; Evidence Log V-002-E-0003, V-002-E-0004); Personetics — named as an AI partner or provider (SEC Form DEFA14A; Evidence Log V-002-E-0005); agentOS — agentic AI in the service itself (SEC Form DEFA14A; Evidence Log V-002-E-0030, V-002-E-0031); Finxact — AI in the service itself (SEC Form 10-K; Evidence Log V-002-E-0118); NVIDIA — machine learning in the service itself (SEC Form DEFA14A; Evidence Log V-002-E-0152). The vendor's legal and trust pages could not be fully searched (Coverage Log V-002-C-01), so a public sub-processor register is not ruled out. Hosting region, retention and training terms are not stated publicly and are raised with the vendor through Meridian's questionnaire.</a:t>
            </a:r>
          </a:p>
          <a:p>
            <a:r>
              <a:t>Column T: Risk class: High. Data involved, per the vendor profile: full customer master, balances and transactions for 1.4 million customers (annual volume: 240 million transactions). Public evidence shows agentic AI in the vendor's delivery operations (V-002-E-0001, V-002-E-0014, V-002-E-0015). It is likely that the vendor uses AI in the service supporting core account processing and servicing. Confidence is low because the search of legal and trust pages (still pending), product pages and newsroom (still pending) and job postings (still pending) was not completed. Operational dependency is critical, and the criticality tier is Critical. Score: exposure 2/3, decision impact 3/3 (assumed), tier 3, transparency gap 2 → 15 of 18 = Critical. An escalation floor of High applies: a provider named only by a third party. The Probable verdict caps the class at High. Ceiling Critical if confirmed. Independent confirmation of AI use in the service itself would lift the Probable cap and raise the class to Critical.</a:t>
            </a:r>
          </a:p>
          <a:p>
            <a:r>
              <a:t>Column U: Issue a targeted questionnaire within 15 business days covering which Meridian data the AI touches, model provider identity and AI sub-processors, training use and retention of Meridian data, hosting region, human review and explainability of AI output, permissions and approval gates for AI agents, prompt-injection and data-leakage controls, AI governance and attestations, AI incident and change notification, and validation and monitoring of predictive models. Register the vendor on Meridian's AI sub-processor inventory, recording the AI providers it names publicly. Raise AI clauses at the next contract review, addressing training restrictions, sub-processor change notification, human oversight thresholds, and rights to review attestations. Escalate to the Third-Party Risk Committee where confirmation is not received. Use questionnaire items Q2, Q3, Q4, Q5, Q6, Q7, Q8, Q9, Q10, Q11, Q13, Q14, Q15 and contract clauses C1, C2, C3, C4, C5, C6, C7, C8, C9, C10 from the Method &amp; Legend sheet. Re-scan the vendor's public AI footprint every six months.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A8: V-003 FSSI. High tier (criticality score 71).</a:t>
            </a:r>
          </a:p>
          <a:p>
            <a:r>
              <a:t>AI usage: No (Not detected); it is unlikely that the vendor uses AI in the service; confidence moderate because every mandatory source family was searched and no evidence of AI use was found.</a:t>
            </a:r>
          </a:p>
          <a:p>
            <a:r>
              <a:t>AI risk: None identified; ARP 5 of 18 (E 0, K 0, TP 2, TG 3). Flip: Evidence that AI features of the platforms the vendor uses, or AI tools used by its staff, touch Meridian data would require reassessment.</a:t>
            </a:r>
          </a:p>
          <a:p>
            <a:r>
              <a:t>Evidence Log IDs: V-003-E-0001, V-003-E-0002, V-003-E-0003.</a:t>
            </a:r>
          </a:p>
          <a:p>
            <a:r>
              <a:t>Next action: Obtain a written attestation from the vendor that no AI is used in the service or on Meridian data, including the AI features of the platforms it uses.</a:t>
            </a:r>
          </a:p>
          <a:p>
            <a:r>
              <a:t>Column P: No verified excerpt evidences AI use in the service. Negative finding — named AI providers or an AI sub-processor list, an AI policy or AI governance attestation, and AI data-use terms not found on eleven legal and trust pages, which hold no AI or automated-decision terms (Coverage Log V-003-C-01). Negative finding — an SEC registration not found on EDGAR (Coverage Log V-003-C-02). Negative finding — AI duties or named AI tools not found on eight job postings (Coverage Log V-003-C-04). Negative finding — AI-provider verification tokens not found on the vendor's DNS records (Coverage Log V-003-C-05). Entries are recorded in the Evidence Log sheet with retrieval dates and screenshots.</a:t>
            </a:r>
          </a:p>
          <a:p>
            <a:r>
              <a:t>Column Q: No usage pathway is evidenced in public material. AI options of OpenText, a platform supplier the vendor uses, are a relationship indicator, not a confirmed sub-processor (V-003-E-0001, V-003-E-0002, V-003-E-0003 and 7 more). Whether AI is used in the service is not evidenced by public material, so written confirmation is carried forward to the vendor questionnaire.</a:t>
            </a:r>
          </a:p>
          <a:p>
            <a:r>
              <a:t>Column R: None named by the vendor — Not detected. No public sub-processor register found (searched the legal and trust pages of fssi-ca.com; Coverage Log V-003-C-01). Provider identity, hosting region and retention terms are raised with the vendor through Meridian's questionnaire.</a:t>
            </a:r>
          </a:p>
          <a:p>
            <a:r>
              <a:t>Column T: Risk class: None identified. Data involved, per the vendor profile: names, addresses, account numbers, balances and tax identifiers for the entire customer base. The mandatory sources were searched without finding AI evidence tied to the service. It is unlikely that the vendor uses AI in the service supporting customer statements and regulatory notices. Confidence is moderate because every mandatory source family was searched and no evidence of AI use was found. Operational dependency on the vendor for customer statements and regulatory notices is moderate, and the criticality tier is High. None of the six transparency checks is publicly disclosed; contractual disclosure is unknown. Score: exposure 0/3, decision impact 0/3, tier 2, transparency gap 3 → 5 of 18 = Low (exposure and decision impact count double). The Not detected verdict means no AI risk class applies. Evidence that AI features of the platforms the vendor uses, or AI tools used by its staff, touch Meridian data would require reassessment.</a:t>
            </a:r>
          </a:p>
          <a:p>
            <a:r>
              <a:t>Column U: Obtain a written attestation from the vendor that no AI is used in the service or on Meridian data, including the AI features of the platforms it uses. Add an AI change-notification clause at renewal, requiring notice before AI is introduced into the service. Use contract clause C9 from the Method &amp; Legend sheet. Re-scan the vendor's public AI footprint annually.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A9: V-004 Terrapin. High tier (criticality score 60).</a:t>
            </a:r>
          </a:p>
          <a:p>
            <a:r>
              <a:t>AI usage: Inconclusive; it is roughly even chance that the vendor uses AI in the service; confidence low because the search of legal and trust pages (blocked by bot protection) and product pages and newsroom (blocked by bot protection) was not completed.</a:t>
            </a:r>
          </a:p>
          <a:p>
            <a:r>
              <a:t>AI risk: Medium, provisional; ceiling High if confirmed; ARP 13 of 18 (E 2, K 2, TP 2, TG 3). Flip: Confirmation that the AI services indicated only by DNS records (Anthropic and OpenAI) are used on Meridian data would make the verdict Yes and could raise the class to High.</a:t>
            </a:r>
          </a:p>
          <a:p>
            <a:r>
              <a:t>Evidence Log IDs: V-004-E-0001, V-004-E-0002.</a:t>
            </a:r>
          </a:p>
          <a:p>
            <a:r>
              <a:t>Next action: Issue questionnaire items Q1 to Q4 within 15 business days to establish whether AI is used in the service, which Meridian data it touches, which model providers are involved and what human review applies.</a:t>
            </a:r>
          </a:p>
          <a:p>
            <a:r>
              <a:t>Column P: Indicator — relationship only (DNS TXT record), Terrapin Technologies, dns.google/resolve?name=terrapintech.com&amp;type=TXT (retrieved 03-10-2026; Evidence Log V-004-E-0001): "anthropic-domain-verification-9aq3kr=73tzcSxHSSLJVpJGhNo7EEOXN". Indicator — relationship only (DNS TXT record), Terrapin Technologies, dns.google/resolve?name=terrapintech.com&amp;type=TXT (retrieved 03-10-2026; Evidence Log V-004-E-0002): "openai-domain-verification=dv-PCbu8fARAow5Q9VteO3A6end". Negative finding — an SEC registration not found on EDGAR (Coverage Log V-004-C-02). Negative finding — an applicant tracking system not found on the vendor's website (Coverage Log V-004-C-04). Entries are recorded in the Evidence Log sheet with retrieval dates and SHA-256 hashes.</a:t>
            </a:r>
          </a:p>
          <a:p>
            <a:r>
              <a:t>Column Q: No usage pathway is evidenced in public material. Anthropic and OpenAI domain-verification tokens in the vendor's DNS records are a relationship indicator, not a confirmed sub-processor (V-004-E-0001, V-004-E-0002). The extent of AI use within the service itself, Meridian data reaching AI models, and human review over AI output is undetermined from public material and is carried forward to the vendor questionnaire.</a:t>
            </a:r>
          </a:p>
          <a:p>
            <a:r>
              <a:t>Column R: None named by the vendor — Inconclusive. The vendor's legal and trust pages could not be fully searched (Coverage Log V-004-C-01), so a public sub-processor register is not ruled out. Provider identity, hosting region and retention terms are raised with the vendor through Meridian's questionnaire.</a:t>
            </a:r>
          </a:p>
          <a:p>
            <a:r>
              <a:t>Column T: Risk class: Medium (Provisional). Data involved, per the vendor profile: portfolio holdings, revenue and advisor compensation data for 38,000 wealth clients. Public evidence is limited to AI-provider DNS verification tokens (V-004-E-0001, V-004-E-0002), and none of it confirms AI use in the service. There is a roughly even chance that the vendor uses AI in the service supporting wealth management reporting and advisor compensation. Confidence is low because the search of legal and trust pages (blocked by bot protection) and product pages and newsroom (blocked by bot protection) was not completed. Operational dependency is moderate, and the criticality tier is High. Score: exposure 2/3 (assumed), decision impact 2/3 (assumed), tier 2, transparency gap 3 → 13 of 18 = High. The materiality gate lowers the class to Medium. Provisional; ceiling High if confirmed. Confirmation that the AI services indicated only by DNS records (Anthropic and OpenAI) are used on Meridian data would make the verdict Yes and could raise the class to High.</a:t>
            </a:r>
          </a:p>
          <a:p>
            <a:r>
              <a:t>Column U: Issue questionnaire items Q1 to Q4 within 15 business days to establish whether AI is used in the service, which Meridian data it touches, which model providers are involved and what human review applies. Reclassify the vendor on the response; until then the class stays provisional, with a ceiling of High if AI use is confirmed. Cover training use and retention of Meridian data, hosting region, prompt-injection and data-leakage controls, AI governance and attestations, and AI incident and change notification in the same questionnaire. Use questionnaire items Q1, Q2, Q3, Q4, Q5, Q6, Q7, Q9, Q10, Q11, Q14, Q15 and contract clauses C1, C2, C3, C4, C5, C6, C8, C9, C10 from the Method &amp; Legend sheet. Re-scan the vendor's public AI footprint every six months until the classification is final.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A10: V-005 BNY. Critical tier (criticality score 79).</a:t>
            </a:r>
          </a:p>
          <a:p>
            <a:r>
              <a:t>AI usage: Yes (Probable); it is likely that the vendor uses AI in the service; confidence low because the search of legal and trust pages (still pending), product pages and newsroom (still pending) and job postings (still pending) was not completed.</a:t>
            </a:r>
          </a:p>
          <a:p>
            <a:r>
              <a:t>AI risk: High; ARP 15 of 18 (E 2, K 3, TP 3, TG 2). Flip: Independent confirmation of AI use in the service itself would lift the Probable cap and raise the class to Critical.</a:t>
            </a:r>
          </a:p>
          <a:p>
            <a:r>
              <a:t>Evidence Log IDs: V-005-E-0001, V-005-E-0003, V-005-E-0002. Trap kept in the log, never cited: V-005-E-0046.</a:t>
            </a:r>
          </a:p>
          <a:p>
            <a:r>
              <a:t>Next action: Issue a targeted questionnaire within 15 business days covering which Meridian data the AI touches, model provider identity and AI sub-processors, training use and retention of Meridian data, hosting region, human review and explainability of AI output, permissions and approval gates for AI agents, prompt-injection and data-leakage controls, AI governance and attestations, AI incident and change notification, and validation and monitoring of predictive models.</a:t>
            </a:r>
          </a:p>
          <a:p>
            <a:r>
              <a:t>Column P: Primary source — SEC Form 8-K exhibit, BNY, 16-04-2026, www.sec.gov/Archives/edgar/data/1390777/000139077726000042/ex993_quarterlyupdatepre.htm (retrieved 03-10-2026; Evidence Log V-005-E-0001): "• ~220 enterprise AI solutions in production, and ~140 digital employees • Enhanced security and resilience • Deepening process excellence across: – High-volume workflows – embedding AI to automate at scale, e.g., multi-currency payments processing – Specialized products – applying domain-trained AI to complex financial activities, e.g., anomaly detection in". Supporting source — Trade press, The Asian Banker, 03-10-2026, www.theasianbanker.com/updates-and-articles/bny-strengthens-gp-t-execution-through-embedded-ai-and-infrastructure-scale (retrieved 03-10-2026; Evidence Log V-005-E-0003): "In the payments environment, AI supports anomaly detection and exception management across both cross-border and real-time rails." Entries are recorded in the Evidence Log sheet with retrieval dates and screenshots.</a:t>
            </a:r>
          </a:p>
          <a:p>
            <a:r>
              <a:t>Column Q: One usage pathway is indicated. First, agentic AI and machine learning in the vendor's delivery operations, described as "anomaly detection", "payment validation", and "data analysis", applied to payments, using Eliza, producing advisory output only (V-005-E-0001, V-005-E-0002, V-005-E-0003 and 6 more). Anthropic and OpenAI domain-verification tokens in the vendor's DNS records are a relationship indicator, not a confirmed sub-processor (V-005-E-0005, V-005-E-0006). Named AI relationships (OpenAI, Gemini Enterprise, Google Cloud, and Eliza) are a relationship indicator, not a confirmed sub-processor (V-005-E-0004, V-005-E-0007). The extent of human review over AI output and retention or training use of Meridian data is undetermined from public material and is carried forward to the vendor questionnaire.</a:t>
            </a:r>
          </a:p>
          <a:p>
            <a:r>
              <a:t>Column R: Named by the vendor: OpenAI — named as an AI partner or provider (SEC Form 8-K exhibit; Evidence Log V-005-E-0004, V-005-E-0093); Eliza — agentic AI in delivery operations (SEC Form 8-K exhibit; Evidence Log V-005-E-0009); Eliza 2.0 — agentic AI for internal corporate use (SEC Form 8-K exhibit; Evidence Log V-005-E-0080); AI Hub and Eliza AI platform — generative AI in the service itself (SEC Form 8-K exhibit; Evidence Log V-005-E-0082); Anthropic, Microsoft, NVIDIA, and Google — agentic AI in the service itself (SEC Form 8-K exhibit; Evidence Log V-005-E-0093). The vendor's legal and trust pages could not be fully searched (Coverage Log V-005-C-01), so a public sub-processor register is not ruled out. Hosting region, retention and training terms are not stated publicly and are raised with the vendor through Meridian's questionnaire.</a:t>
            </a:r>
          </a:p>
          <a:p>
            <a:r>
              <a:t>Column T: Risk class: High. Data involved, per the vendor profile: payment instructions, counterparty names and account identifiers. Public evidence shows agentic AI and machine learning in the vendor's delivery operations (V-005-E-0001, V-005-E-0002, V-005-E-0008 and 5 more). One independent source corroborates it (V-005-E-0003). It is likely that the vendor uses AI in the service supporting inbound real-time payments. Confidence is low because the search of legal and trust pages (still pending), product pages and newsroom (still pending) and job postings (still pending) was not completed. Operational dependency is high, and the criticality tier is Critical. Five of six transparency checks are not publicly disclosed; contractual disclosure is unknown. Score: exposure 2/3, decision impact 3/3 (assumed), tier 3, transparency gap 2 → 15 of 18 = Critical. The Probable verdict caps the class at High. Ceiling Critical if confirmed. Independent confirmation of AI use in the service itself would lift the Probable cap and raise the class to Critical.</a:t>
            </a:r>
          </a:p>
          <a:p>
            <a:r>
              <a:t>Column U: Issue a targeted questionnaire within 15 business days covering which Meridian data the AI touches, model provider identity and AI sub-processors, training use and retention of Meridian data, hosting region, human review and explainability of AI output, permissions and approval gates for AI agents, prompt-injection and data-leakage controls, AI governance and attestations, AI incident and change notification, and validation and monitoring of predictive models. Register the vendor on Meridian's AI sub-processor inventory, recording the AI providers it names publicly. Raise AI clauses at the next contract review, addressing training restrictions, sub-processor change notification, human oversight thresholds, and rights to review attestations. Escalate to the Third-Party Risk Committee where confirmation is not received. Use questionnaire items Q2, Q3, Q4, Q5, Q6, Q7, Q8, Q9, Q10, Q11, Q13, Q14, Q15 and contract clauses C1, C2, C3, C4, C5, C6, C7, C8, C9, C10 from the Method &amp; Legend sheet. Re-scan the vendor's public AI footprint every six months.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A11: V-006 TCH. Critical tier (criticality score 94).</a:t>
            </a:r>
          </a:p>
          <a:p>
            <a:r>
              <a:t>AI usage: Yes (Probable); it is likely that the vendor uses AI in the service; confidence moderate because only one independent first-party or legally accountable source supports the finding.</a:t>
            </a:r>
          </a:p>
          <a:p>
            <a:r>
              <a:t>AI risk: High; ARP 15 of 18 (E 2, K 3, TP 3, TG 2). Flip: Independent confirmation of AI use in the service itself would lift the Probable cap and raise the class to Critical.</a:t>
            </a:r>
          </a:p>
          <a:p>
            <a:r>
              <a:t>Evidence Log IDs: V-006-E-0001, V-006-E-0002, V-006-E-0004.</a:t>
            </a:r>
          </a:p>
          <a:p>
            <a:r>
              <a:t>Next action: Issue a targeted questionnaire within 15 business days covering which Meridian data the AI touches, model provider identity and AI sub-processors, training use and retention of Meridian data, hosting region, human review and explainability of AI output, prompt-injection and data-leakage controls, AI governance and attestations, AI incident and change notification, and validation and monitoring of predictive models.</a:t>
            </a:r>
          </a:p>
          <a:p>
            <a:r>
              <a:t>Column P: Primary source — Job posting, The Clearing House, 21-09-2026, theclearinghouse.wd108.myworkdayjobs.com/TheClearingHouse/job/North-Carolina-Office/Manager--NOC-Operations_JR100193-5 (retrieved 03-10-2026; Evidence Log V-006-E-0001): "Utilize AI-powered tools such as Microsoft Copilot, ChatGPT, ServiceNow AI, or similar technologies to enhance documentation, reporting, knowledge management, and incident response." Supporting source — Job posting, The Clearing House, 18-09-2026, theclearinghouse.wd108.myworkdayjobs.com/TheClearingHouse/job/Charlotte-Office/Manager--Business-Development_JR100190 (retrieved 03-10-2026; Evidence Log V-006-E-0002): "This role owns the operating discipline behind the coverage model, including new inquiry decisioning, service provider outreach programs, campaign follow-up, event follow-up, CRM discipline, reporting, account materials, market intelligence and AI-enabled workflows." Negative finding — an AI sub-processor list, an AI policy or AI governance attestation, and AI data-use terms not found on three legal and trust pages, which hold no AI or automated-decision terms (Coverage Log V-006-C-01). Negative finding — an SEC registration not found on EDGAR (Coverage Log V-006-C-02). Entries are recorded in the Evidence Log sheet with retrieval dates and SHA-256 hashes.</a:t>
            </a:r>
          </a:p>
          <a:p>
            <a:r>
              <a:t>Column Q: Two usage pathways are indicated. First, generative AI (large language models) in the vendor's delivery operations, described as "incident response", applied to documentation, using Microsoft Copilot, ChatGPT, and ServiceNow AI (V-006-E-0001, V-006-E-0002, V-006-E-0009). Second, AI in the vendor's software development, applied to documentation and payments (V-006-E-0003, V-006-E-0004, V-006-E-0006 and 2 more). OpenAI domain-verification tokens in the vendor's DNS records are a relationship indicator, not a confirmed sub-processor (V-006-E-0005). The extent of human review over AI output and retention or training use of Meridian data is undetermined from public material and is carried forward to the vendor questionnaire.</a:t>
            </a:r>
          </a:p>
          <a:p>
            <a:r>
              <a:t>Column R: Named by the vendor: Microsoft (Microsoft Copilot), OpenAI (ChatGPT), and ServiceNow AI — generative AI in delivery operations (Job posting; Evidence Log V-006-E-0001). No public sub-processor register found (searched the legal and trust pages of theclearinghouse.org; Coverage Log V-006-C-01). Hosting region, retention and training terms are not stated publicly and are raised with the vendor through Meridian's questionnaire.</a:t>
            </a:r>
          </a:p>
          <a:p>
            <a:r>
              <a:t>Column T: Risk class: High. Data involved, per the vendor profile: payment messages in transit only (annual volume: 14 million messages). Public evidence shows generative AI (large language models) in the vendor's delivery operations (V-006-E-0001, V-006-E-0002, V-006-E-0009). It is likely that the vendor uses AI in the service supporting ACH and RTP clearing and settlement. Confidence is moderate because only one independent first-party or legally accountable source supports the finding. Operational dependency on the vendor for ACH and RTP clearing and settlement is critical, and the criticality tier is Critical. Five of six transparency checks are not publicly disclosed; contractual disclosure is unknown. Score: exposure 2/3, decision impact 3/3 (assumed), tier 3, transparency gap 2 → 15 of 18 = Critical (exposure and decision impact count double). The Probable verdict caps the class at High. Ceiling Critical if confirmed. Independent confirmation of AI use in the service itself would lift the Probable cap and raise the class to Critical.</a:t>
            </a:r>
          </a:p>
          <a:p>
            <a:r>
              <a:t>Column U: Issue a targeted questionnaire within 15 business days covering which Meridian data the AI touches, model provider identity and AI sub-processors, training use and retention of Meridian data, hosting region, human review and explainability of AI output, prompt-injection and data-leakage controls, AI governance and attestations, AI incident and change notification, and validation and monitoring of predictive models. Register the vendor on Meridian's AI sub-processor inventory, recording the AI providers it names publicly. Raise AI clauses at the next contract review, addressing training restrictions, sub-processor change notification, human oversight thresholds, and rights to review attestations. Escalate to the Third-Party Risk Committee where confirmation is not received. Use questionnaire items Q2, Q3, Q4, Q5, Q6, Q7, Q9, Q10, Q11, Q13, Q14, Q15 and contract clauses C1, C2, C3, C4, C5, C6, C8, C9, C10 from the Method &amp; Legend sheet. Re-scan the vendor's public AI footprint every six months.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3" y="0"/>
            <a:ext cx="5147733" cy="0"/>
          </a:xfrm>
        </p:spPr>
        <p:txBody>
          <a:bodyPr/>
          <a:lstStyle/>
          <a:p>
            <a:endParaRPr lang="en-US"/>
          </a:p>
        </p:txBody>
      </p:sp>
      <p:sp>
        <p:nvSpPr>
          <p:cNvPr id="6" name="Slide Number Placeholder 5"/>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4630400" cy="0"/>
          </a:xfrm>
        </p:spPr>
        <p:txBody>
          <a:bodyPr/>
          <a:lstStyle/>
          <a:p>
            <a:r>
              <a:rPr lang="en-US" smtClean="0"/>
              <a:t>Click to edit Master title style</a:t>
            </a:r>
            <a:endParaRPr lang="en-US"/>
          </a:p>
        </p:txBody>
      </p:sp>
      <p:sp>
        <p:nvSpPr>
          <p:cNvPr id="3" name="Content Placeholder 2"/>
          <p:cNvSpPr>
            <a:spLocks noGrp="1"/>
          </p:cNvSpPr>
          <p:nvPr>
            <p:ph idx="1"/>
          </p:nvPr>
        </p:nvSpPr>
        <p:spPr>
          <a:xfrm>
            <a:off x="812800" y="0"/>
            <a:ext cx="14630400" cy="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3" y="0"/>
            <a:ext cx="5147733" cy="0"/>
          </a:xfrm>
        </p:spPr>
        <p:txBody>
          <a:bodyPr/>
          <a:lstStyle/>
          <a:p>
            <a:endParaRPr lang="en-US"/>
          </a:p>
        </p:txBody>
      </p:sp>
      <p:sp>
        <p:nvSpPr>
          <p:cNvPr id="6" name="Slide Number Placeholder 5"/>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3" y="0"/>
            <a:ext cx="5147733" cy="0"/>
          </a:xfrm>
        </p:spPr>
        <p:txBody>
          <a:bodyPr/>
          <a:lstStyle/>
          <a:p>
            <a:endParaRPr lang="en-US"/>
          </a:p>
        </p:txBody>
      </p:sp>
      <p:sp>
        <p:nvSpPr>
          <p:cNvPr id="6" name="Slide Number Placeholder 5"/>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4630400" cy="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4133" y="0"/>
            <a:ext cx="5147733" cy="0"/>
          </a:xfrm>
        </p:spPr>
        <p:txBody>
          <a:bodyPr/>
          <a:lstStyle/>
          <a:p>
            <a:endParaRPr lang="en-US"/>
          </a:p>
        </p:txBody>
      </p:sp>
      <p:sp>
        <p:nvSpPr>
          <p:cNvPr id="7" name="Slide Number Placeholder 6"/>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4630400" cy="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6"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6"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a:xfrm>
            <a:off x="5554133" y="0"/>
            <a:ext cx="5147733" cy="0"/>
          </a:xfrm>
        </p:spPr>
        <p:txBody>
          <a:bodyPr/>
          <a:lstStyle/>
          <a:p>
            <a:endParaRPr lang="en-US"/>
          </a:p>
        </p:txBody>
      </p:sp>
      <p:sp>
        <p:nvSpPr>
          <p:cNvPr id="9" name="Slide Number Placeholder 8"/>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4630400" cy="0"/>
          </a:xfr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a:xfrm>
            <a:off x="5554133" y="0"/>
            <a:ext cx="5147733" cy="0"/>
          </a:xfrm>
        </p:spPr>
        <p:txBody>
          <a:bodyPr/>
          <a:lstStyle/>
          <a:p>
            <a:endParaRPr lang="en-US"/>
          </a:p>
        </p:txBody>
      </p:sp>
      <p:sp>
        <p:nvSpPr>
          <p:cNvPr id="5" name="Slide Number Placeholder 4"/>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a:xfrm>
            <a:off x="5554133" y="0"/>
            <a:ext cx="5147733" cy="0"/>
          </a:xfrm>
        </p:spPr>
        <p:txBody>
          <a:bodyPr/>
          <a:lstStyle/>
          <a:p>
            <a:endParaRPr lang="en-US"/>
          </a:p>
        </p:txBody>
      </p:sp>
      <p:sp>
        <p:nvSpPr>
          <p:cNvPr id="4" name="Slide Number Placeholder 3"/>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4133" y="0"/>
            <a:ext cx="5147733" cy="0"/>
          </a:xfrm>
        </p:spPr>
        <p:txBody>
          <a:bodyPr/>
          <a:lstStyle/>
          <a:p>
            <a:endParaRPr lang="en-US"/>
          </a:p>
        </p:txBody>
      </p:sp>
      <p:sp>
        <p:nvSpPr>
          <p:cNvPr id="7" name="Slide Number Placeholder 6"/>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4133" y="0"/>
            <a:ext cx="5147733" cy="0"/>
          </a:xfrm>
        </p:spPr>
        <p:txBody>
          <a:bodyPr/>
          <a:lstStyle/>
          <a:p>
            <a:endParaRPr lang="en-US"/>
          </a:p>
        </p:txBody>
      </p:sp>
      <p:sp>
        <p:nvSpPr>
          <p:cNvPr id="7" name="Slide Number Placeholder 6"/>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4630400" cy="0"/>
          </a:xfr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812800" y="0"/>
            <a:ext cx="14630400" cy="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3" y="0"/>
            <a:ext cx="5147733" cy="0"/>
          </a:xfrm>
        </p:spPr>
        <p:txBody>
          <a:bodyPr/>
          <a:lstStyle/>
          <a:p>
            <a:endParaRPr lang="en-US"/>
          </a:p>
        </p:txBody>
      </p:sp>
      <p:sp>
        <p:nvSpPr>
          <p:cNvPr id="6" name="Slide Number Placeholder 5"/>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3" y="0"/>
            <a:ext cx="5147733" cy="0"/>
          </a:xfrm>
        </p:spPr>
        <p:txBody>
          <a:bodyPr/>
          <a:lstStyle/>
          <a:p>
            <a:endParaRPr lang="en-US"/>
          </a:p>
        </p:txBody>
      </p:sp>
      <p:sp>
        <p:nvSpPr>
          <p:cNvPr id="6" name="Slide Number Placeholder 5"/>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3000" kern="1200" b="1">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D36"/>
        </a:solidFill>
        <a:effectLst/>
      </p:bgPr>
    </p:bg>
    <p:spTree>
      <p:nvGrpSpPr>
        <p:cNvPr id="1" name=""/>
        <p:cNvGrpSpPr/>
        <p:nvPr/>
      </p:nvGrpSpPr>
      <p:grpSpPr/>
      <p:sp>
        <p:nvSpPr>
          <p:cNvPr id="2" name="Title 1"/>
          <p:cNvSpPr>
            <a:spLocks noGrp="1"/>
          </p:cNvSpPr>
          <p:nvPr>
            <p:ph type="ctrTitle"/>
          </p:nvPr>
        </p:nvSpPr>
        <p:spPr>
          <a:xfrm>
            <a:off x="502920" y="1417320"/>
            <a:ext cx="7315200" cy="1828800"/>
          </a:xfrm>
        </p:spPr>
        <p:txBody>
          <a:bodyPr wrap="square" anchor="b" lIns="0" tIns="0" rIns="0" bIns="0">
            <a:noAutofit/>
          </a:bodyPr>
          <a:lstStyle/>
          <a:p>
            <a:pPr algn="l">
              <a:lnSpc>
                <a:spcPct val="90000"/>
              </a:lnSpc>
            </a:pPr>
            <a:r>
              <a:rPr sz="5400" b="1" i="0">
                <a:solidFill>
                  <a:srgbClr val="FFFFFF"/>
                </a:solidFill>
              </a:rPr>
              <a:t>Reading the public footprint</a:t>
            </a:r>
            <a:endParaRPr sz="1200"/>
          </a:p>
        </p:txBody>
      </p:sp>
      <p:sp>
        <p:nvSpPr>
          <p:cNvPr id="3" name="Subtitle 2"/>
          <p:cNvSpPr>
            <a:spLocks noGrp="1"/>
          </p:cNvSpPr>
          <p:nvPr>
            <p:ph type="subTitle" idx="1"/>
          </p:nvPr>
        </p:nvSpPr>
        <p:spPr>
          <a:xfrm>
            <a:off x="502920" y="3429000"/>
            <a:ext cx="6949440" cy="914400"/>
          </a:xfrm>
        </p:spPr>
        <p:txBody>
          <a:bodyPr wrap="square" anchor="t" lIns="0" tIns="0" rIns="0" bIns="0">
            <a:noAutofit/>
          </a:bodyPr>
          <a:lstStyle/>
          <a:p>
            <a:pPr algn="l"/>
            <a:r>
              <a:rPr sz="2000" b="0" i="0">
                <a:solidFill>
                  <a:srgbClr val="86D4CA"/>
                </a:solidFill>
              </a:rPr>
              <a:t>How Meridian can tell genuine vendor AI use from AI marketing, using public evidence only, and what that use means for its risk.</a:t>
            </a:r>
            <a:endParaRPr sz="1200"/>
          </a:p>
        </p:txBody>
      </p:sp>
      <p:sp>
        <p:nvSpPr>
          <p:cNvPr id="4" name="Logo ring"/>
          <p:cNvSpPr/>
          <p:nvPr/>
        </p:nvSpPr>
        <p:spPr>
          <a:xfrm>
            <a:off x="502920" y="457200"/>
            <a:ext cx="402336" cy="402336"/>
          </a:xfrm>
          <a:prstGeom prst="ellipse">
            <a:avLst/>
          </a:prstGeom>
          <a:noFill/>
          <a:ln w="28575">
            <a:solidFill>
              <a:srgbClr val="86D4C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5" name="Logo eye"/>
          <p:cNvSpPr/>
          <p:nvPr/>
        </p:nvSpPr>
        <p:spPr>
          <a:xfrm>
            <a:off x="612648" y="566928"/>
            <a:ext cx="182880" cy="1828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6" name="Team name"/>
          <p:cNvSpPr txBox="1"/>
          <p:nvPr/>
        </p:nvSpPr>
        <p:spPr>
          <a:xfrm>
            <a:off x="1024128" y="457200"/>
            <a:ext cx="3657600" cy="402336"/>
          </a:xfrm>
          <a:prstGeom prst="rect">
            <a:avLst/>
          </a:prstGeom>
          <a:noFill/>
        </p:spPr>
        <p:txBody>
          <a:bodyPr wrap="square" anchor="ctr" lIns="0" tIns="0" rIns="0" bIns="0">
            <a:noAutofit/>
          </a:bodyPr>
          <a:lstStyle/>
          <a:p>
            <a:pPr algn="l"/>
            <a:r>
              <a:rPr sz="1400" b="1" i="0">
                <a:solidFill>
                  <a:srgbClr val="FFFFFF"/>
                </a:solidFill>
              </a:rPr>
              <a:t>TEAM OSPREY</a:t>
            </a:r>
            <a:endParaRPr sz="1200"/>
          </a:p>
        </p:txBody>
      </p:sp>
      <p:sp>
        <p:nvSpPr>
          <p:cNvPr id="7" name="Date line"/>
          <p:cNvSpPr txBox="1"/>
          <p:nvPr/>
        </p:nvSpPr>
        <p:spPr>
          <a:xfrm>
            <a:off x="502920" y="4462272"/>
            <a:ext cx="6949440" cy="320040"/>
          </a:xfrm>
          <a:prstGeom prst="rect">
            <a:avLst/>
          </a:prstGeom>
          <a:noFill/>
        </p:spPr>
        <p:txBody>
          <a:bodyPr wrap="square" anchor="t" lIns="0" tIns="0" rIns="0" bIns="0">
            <a:noAutofit/>
          </a:bodyPr>
          <a:lstStyle/>
          <a:p>
            <a:pPr algn="l"/>
            <a:r>
              <a:rPr sz="1400" b="0" i="0">
                <a:solidFill>
                  <a:srgbClr val="C9D6DB"/>
                </a:solidFill>
              </a:rPr>
              <a:t>Case study 1 · Vendor AI usage analysis · October 2026</a:t>
            </a:r>
            <a:endParaRPr sz="1200"/>
          </a:p>
        </p:txBody>
      </p:sp>
      <p:sp>
        <p:nvSpPr>
          <p:cNvPr id="8" name="Outcome 01"/>
          <p:cNvSpPr/>
          <p:nvPr/>
        </p:nvSpPr>
        <p:spPr>
          <a:xfrm>
            <a:off x="502920" y="5120640"/>
            <a:ext cx="1719072" cy="329184"/>
          </a:xfrm>
          <a:prstGeom prst="roundRect">
            <a:avLst>
              <a:gd name="adj" fmla="val 50000"/>
            </a:avLst>
          </a:prstGeom>
          <a:solidFill>
            <a:srgbClr val="0C2D36"/>
          </a:solidFill>
          <a:ln w="9525">
            <a:solidFill>
              <a:srgbClr val="86D4C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FFFFFF"/>
                </a:solidFill>
              </a:rPr>
              <a:t>01 Functional design</a:t>
            </a:r>
            <a:endParaRPr sz="1000"/>
          </a:p>
        </p:txBody>
      </p:sp>
      <p:sp>
        <p:nvSpPr>
          <p:cNvPr id="9" name="Outcome 02"/>
          <p:cNvSpPr/>
          <p:nvPr/>
        </p:nvSpPr>
        <p:spPr>
          <a:xfrm>
            <a:off x="2331720" y="5120640"/>
            <a:ext cx="1362456" cy="329184"/>
          </a:xfrm>
          <a:prstGeom prst="roundRect">
            <a:avLst>
              <a:gd name="adj" fmla="val 50000"/>
            </a:avLst>
          </a:prstGeom>
          <a:solidFill>
            <a:srgbClr val="0C2D36"/>
          </a:solidFill>
          <a:ln w="9525">
            <a:solidFill>
              <a:srgbClr val="86D4C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FFFFFF"/>
                </a:solidFill>
              </a:rPr>
              <a:t>02 Architecture</a:t>
            </a:r>
            <a:endParaRPr sz="1000"/>
          </a:p>
        </p:txBody>
      </p:sp>
      <p:sp>
        <p:nvSpPr>
          <p:cNvPr id="10" name="Outcome 03"/>
          <p:cNvSpPr/>
          <p:nvPr/>
        </p:nvSpPr>
        <p:spPr>
          <a:xfrm>
            <a:off x="3803904" y="5120640"/>
            <a:ext cx="1576425" cy="329184"/>
          </a:xfrm>
          <a:prstGeom prst="roundRect">
            <a:avLst>
              <a:gd name="adj" fmla="val 50000"/>
            </a:avLst>
          </a:prstGeom>
          <a:solidFill>
            <a:srgbClr val="0C2D36"/>
          </a:solidFill>
          <a:ln w="9525">
            <a:solidFill>
              <a:srgbClr val="86D4C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FFFFFF"/>
                </a:solidFill>
              </a:rPr>
              <a:t>03 Source strategy</a:t>
            </a:r>
            <a:endParaRPr sz="1000"/>
          </a:p>
        </p:txBody>
      </p:sp>
      <p:sp>
        <p:nvSpPr>
          <p:cNvPr id="11" name="Outcome 04"/>
          <p:cNvSpPr/>
          <p:nvPr/>
        </p:nvSpPr>
        <p:spPr>
          <a:xfrm>
            <a:off x="5490057" y="5120640"/>
            <a:ext cx="1861718" cy="329184"/>
          </a:xfrm>
          <a:prstGeom prst="roundRect">
            <a:avLst>
              <a:gd name="adj" fmla="val 50000"/>
            </a:avLst>
          </a:prstGeom>
          <a:solidFill>
            <a:srgbClr val="0C2D36"/>
          </a:solidFill>
          <a:ln w="9525">
            <a:solidFill>
              <a:srgbClr val="86D4C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FFFFFF"/>
                </a:solidFill>
              </a:rPr>
              <a:t>04 Criticality &amp; depth</a:t>
            </a:r>
            <a:endParaRPr sz="1000"/>
          </a:p>
        </p:txBody>
      </p:sp>
      <p:sp>
        <p:nvSpPr>
          <p:cNvPr id="12" name="Outcome 05"/>
          <p:cNvSpPr/>
          <p:nvPr/>
        </p:nvSpPr>
        <p:spPr>
          <a:xfrm>
            <a:off x="7461504" y="5120640"/>
            <a:ext cx="1362456" cy="329184"/>
          </a:xfrm>
          <a:prstGeom prst="roundRect">
            <a:avLst>
              <a:gd name="adj" fmla="val 50000"/>
            </a:avLst>
          </a:prstGeom>
          <a:solidFill>
            <a:srgbClr val="0C2D36"/>
          </a:solidFill>
          <a:ln w="9525">
            <a:solidFill>
              <a:srgbClr val="86D4C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FFFFFF"/>
                </a:solidFill>
              </a:rPr>
              <a:t>05 Working demo</a:t>
            </a:r>
            <a:endParaRPr sz="1000"/>
          </a:p>
        </p:txBody>
      </p:sp>
      <p:sp>
        <p:nvSpPr>
          <p:cNvPr id="13" name="Radar ring 2.05"/>
          <p:cNvSpPr/>
          <p:nvPr/>
        </p:nvSpPr>
        <p:spPr>
          <a:xfrm>
            <a:off x="7955279" y="1188720"/>
            <a:ext cx="3749039" cy="3749039"/>
          </a:xfrm>
          <a:prstGeom prst="ellipse">
            <a:avLst/>
          </a:prstGeom>
          <a:noFill/>
          <a:ln w="15875">
            <a:solidFill>
              <a:srgbClr val="2452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14" name="Radar ring 1.5"/>
          <p:cNvSpPr/>
          <p:nvPr/>
        </p:nvSpPr>
        <p:spPr>
          <a:xfrm>
            <a:off x="8458200" y="1691640"/>
            <a:ext cx="2743200" cy="2743200"/>
          </a:xfrm>
          <a:prstGeom prst="ellipse">
            <a:avLst/>
          </a:prstGeom>
          <a:noFill/>
          <a:ln w="15875">
            <a:solidFill>
              <a:srgbClr val="2E667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15" name="Radar ring 0.95"/>
          <p:cNvSpPr/>
          <p:nvPr/>
        </p:nvSpPr>
        <p:spPr>
          <a:xfrm>
            <a:off x="8961120" y="2194560"/>
            <a:ext cx="1737360" cy="1737360"/>
          </a:xfrm>
          <a:prstGeom prst="ellipse">
            <a:avLst/>
          </a:prstGeom>
          <a:noFill/>
          <a:ln w="15875">
            <a:solidFill>
              <a:srgbClr val="3F8A8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16" name="Radar ring 0.42"/>
          <p:cNvSpPr/>
          <p:nvPr/>
        </p:nvSpPr>
        <p:spPr>
          <a:xfrm>
            <a:off x="9445752" y="2679192"/>
            <a:ext cx="768096" cy="768096"/>
          </a:xfrm>
          <a:prstGeom prst="ellipse">
            <a:avLst/>
          </a:prstGeom>
          <a:noFill/>
          <a:ln w="15875">
            <a:solidFill>
              <a:srgbClr val="86D4C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cxnSp>
        <p:nvCxnSpPr>
          <p:cNvPr id="17" name="Radar sweep"/>
          <p:cNvCxnSpPr/>
          <p:nvPr/>
        </p:nvCxnSpPr>
        <p:spPr>
          <a:xfrm flipV="1">
            <a:off x="9829800" y="1439858"/>
            <a:ext cx="937260" cy="1623382"/>
          </a:xfrm>
          <a:prstGeom prst="line">
            <a:avLst/>
          </a:prstGeom>
          <a:ln w="19050">
            <a:solidFill>
              <a:srgbClr val="86D4CA"/>
            </a:solidFill>
          </a:ln>
          <a:effectLst/>
        </p:spPr>
        <p:style>
          <a:lnRef idx="2">
            <a:schemeClr val="accent1"/>
          </a:lnRef>
          <a:fillRef idx="0">
            <a:schemeClr val="accent1"/>
          </a:fillRef>
          <a:effectRef idx="1">
            <a:schemeClr val="accent1"/>
          </a:effectRef>
          <a:fontRef idx="minor">
            <a:schemeClr val="tx1"/>
          </a:fontRef>
        </p:style>
      </p:cxnSp>
      <p:sp>
        <p:nvSpPr>
          <p:cNvPr id="18" name="Blip SEC filing"/>
          <p:cNvSpPr/>
          <p:nvPr/>
        </p:nvSpPr>
        <p:spPr>
          <a:xfrm>
            <a:off x="9091200" y="2431711"/>
            <a:ext cx="146304" cy="146304"/>
          </a:xfrm>
          <a:prstGeom prst="ellipse">
            <a:avLst/>
          </a:prstGeom>
          <a:solidFill>
            <a:srgbClr val="86D4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19" name="Blip label SEC filing"/>
          <p:cNvSpPr txBox="1"/>
          <p:nvPr/>
        </p:nvSpPr>
        <p:spPr>
          <a:xfrm>
            <a:off x="9292368" y="2367703"/>
            <a:ext cx="1188720" cy="274320"/>
          </a:xfrm>
          <a:prstGeom prst="rect">
            <a:avLst/>
          </a:prstGeom>
          <a:noFill/>
        </p:spPr>
        <p:txBody>
          <a:bodyPr wrap="square" anchor="ctr" lIns="0" tIns="0" rIns="0" bIns="0">
            <a:noAutofit/>
          </a:bodyPr>
          <a:lstStyle/>
          <a:p>
            <a:pPr algn="l"/>
            <a:r>
              <a:rPr sz="1000" b="0" i="0">
                <a:solidFill>
                  <a:srgbClr val="FFFFFF"/>
                </a:solidFill>
              </a:rPr>
              <a:t>SEC filing</a:t>
            </a:r>
            <a:endParaRPr sz="1200"/>
          </a:p>
        </p:txBody>
      </p:sp>
      <p:sp>
        <p:nvSpPr>
          <p:cNvPr id="20" name="Blip product page"/>
          <p:cNvSpPr/>
          <p:nvPr/>
        </p:nvSpPr>
        <p:spPr>
          <a:xfrm>
            <a:off x="10442448" y="1802247"/>
            <a:ext cx="146304" cy="14630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21" name="Blip label product page"/>
          <p:cNvSpPr txBox="1"/>
          <p:nvPr/>
        </p:nvSpPr>
        <p:spPr>
          <a:xfrm>
            <a:off x="10643616" y="1738239"/>
            <a:ext cx="1188720" cy="274320"/>
          </a:xfrm>
          <a:prstGeom prst="rect">
            <a:avLst/>
          </a:prstGeom>
          <a:noFill/>
        </p:spPr>
        <p:txBody>
          <a:bodyPr wrap="square" anchor="ctr" lIns="0" tIns="0" rIns="0" bIns="0">
            <a:noAutofit/>
          </a:bodyPr>
          <a:lstStyle/>
          <a:p>
            <a:pPr algn="l"/>
            <a:r>
              <a:rPr sz="1000" b="0" i="0">
                <a:solidFill>
                  <a:srgbClr val="FFFFFF"/>
                </a:solidFill>
              </a:rPr>
              <a:t>product page</a:t>
            </a:r>
            <a:endParaRPr sz="1200"/>
          </a:p>
        </p:txBody>
      </p:sp>
      <p:sp>
        <p:nvSpPr>
          <p:cNvPr id="22" name="Blip job posting"/>
          <p:cNvSpPr/>
          <p:nvPr/>
        </p:nvSpPr>
        <p:spPr>
          <a:xfrm>
            <a:off x="9115524" y="4751560"/>
            <a:ext cx="146304" cy="146304"/>
          </a:xfrm>
          <a:prstGeom prst="ellipse">
            <a:avLst/>
          </a:prstGeom>
          <a:solidFill>
            <a:srgbClr val="86D4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23" name="Blip label job posting"/>
          <p:cNvSpPr txBox="1"/>
          <p:nvPr/>
        </p:nvSpPr>
        <p:spPr>
          <a:xfrm>
            <a:off x="9316692" y="4687552"/>
            <a:ext cx="1188720" cy="274320"/>
          </a:xfrm>
          <a:prstGeom prst="rect">
            <a:avLst/>
          </a:prstGeom>
          <a:noFill/>
        </p:spPr>
        <p:txBody>
          <a:bodyPr wrap="square" anchor="ctr" lIns="0" tIns="0" rIns="0" bIns="0">
            <a:noAutofit/>
          </a:bodyPr>
          <a:lstStyle/>
          <a:p>
            <a:pPr algn="l"/>
            <a:r>
              <a:rPr sz="1000" b="0" i="0">
                <a:solidFill>
                  <a:srgbClr val="FFFFFF"/>
                </a:solidFill>
              </a:rPr>
              <a:t>job posting</a:t>
            </a:r>
            <a:endParaRPr sz="1200"/>
          </a:p>
        </p:txBody>
      </p:sp>
      <p:sp>
        <p:nvSpPr>
          <p:cNvPr id="24" name="Blip DNS token"/>
          <p:cNvSpPr/>
          <p:nvPr/>
        </p:nvSpPr>
        <p:spPr>
          <a:xfrm>
            <a:off x="8467765" y="3459202"/>
            <a:ext cx="146304" cy="146304"/>
          </a:xfrm>
          <a:prstGeom prst="ellipse">
            <a:avLst/>
          </a:prstGeom>
          <a:solidFill>
            <a:srgbClr val="86D4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25" name="Blip label DNS token"/>
          <p:cNvSpPr txBox="1"/>
          <p:nvPr/>
        </p:nvSpPr>
        <p:spPr>
          <a:xfrm>
            <a:off x="8668933" y="3395194"/>
            <a:ext cx="1188720" cy="274320"/>
          </a:xfrm>
          <a:prstGeom prst="rect">
            <a:avLst/>
          </a:prstGeom>
          <a:noFill/>
        </p:spPr>
        <p:txBody>
          <a:bodyPr wrap="square" anchor="ctr" lIns="0" tIns="0" rIns="0" bIns="0">
            <a:noAutofit/>
          </a:bodyPr>
          <a:lstStyle/>
          <a:p>
            <a:pPr algn="l"/>
            <a:r>
              <a:rPr sz="1000" b="0" i="0">
                <a:solidFill>
                  <a:srgbClr val="FFFFFF"/>
                </a:solidFill>
              </a:rPr>
              <a:t>DNS token</a:t>
            </a:r>
            <a:endParaRPr sz="1200"/>
          </a:p>
        </p:txBody>
      </p:sp>
      <p:sp>
        <p:nvSpPr>
          <p:cNvPr id="26" name="Blip trade press"/>
          <p:cNvSpPr/>
          <p:nvPr/>
        </p:nvSpPr>
        <p:spPr>
          <a:xfrm>
            <a:off x="9431141" y="1144046"/>
            <a:ext cx="146304" cy="146304"/>
          </a:xfrm>
          <a:prstGeom prst="ellipse">
            <a:avLst/>
          </a:prstGeom>
          <a:solidFill>
            <a:srgbClr val="86D4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27" name="Blip label trade press"/>
          <p:cNvSpPr txBox="1"/>
          <p:nvPr/>
        </p:nvSpPr>
        <p:spPr>
          <a:xfrm>
            <a:off x="9632309" y="1080038"/>
            <a:ext cx="1188720" cy="274320"/>
          </a:xfrm>
          <a:prstGeom prst="rect">
            <a:avLst/>
          </a:prstGeom>
          <a:noFill/>
        </p:spPr>
        <p:txBody>
          <a:bodyPr wrap="square" anchor="ctr" lIns="0" tIns="0" rIns="0" bIns="0">
            <a:noAutofit/>
          </a:bodyPr>
          <a:lstStyle/>
          <a:p>
            <a:pPr algn="l"/>
            <a:r>
              <a:rPr sz="1000" b="0" i="0">
                <a:solidFill>
                  <a:srgbClr val="FFFFFF"/>
                </a:solidFill>
              </a:rPr>
              <a:t>trade press</a:t>
            </a:r>
            <a:endParaRPr sz="1200"/>
          </a:p>
        </p:txBody>
      </p:sp>
      <p:sp>
        <p:nvSpPr>
          <p:cNvPr id="28" name="Confidentiality line"/>
          <p:cNvSpPr txBox="1"/>
          <p:nvPr/>
        </p:nvSpPr>
        <p:spPr>
          <a:xfrm>
            <a:off x="502920" y="5897880"/>
            <a:ext cx="8229600" cy="274320"/>
          </a:xfrm>
          <a:prstGeom prst="rect">
            <a:avLst/>
          </a:prstGeom>
          <a:noFill/>
        </p:spPr>
        <p:txBody>
          <a:bodyPr wrap="square" anchor="t" lIns="0" tIns="0" rIns="0" bIns="0">
            <a:noAutofit/>
          </a:bodyPr>
          <a:lstStyle/>
          <a:p>
            <a:pPr algn="l"/>
            <a:r>
              <a:rPr sz="1000" b="0" i="0">
                <a:solidFill>
                  <a:srgbClr val="9FB3BA"/>
                </a:solidFill>
              </a:rPr>
              <a:t>Confidential: prepared for Meridian's third-party risk team. Not for publication or onward distribution.</a:t>
            </a:r>
            <a:endParaRPr sz="120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10896"/>
            <a:ext cx="9509760" cy="640080"/>
          </a:xfrm>
        </p:spPr>
        <p:txBody>
          <a:bodyPr wrap="square" anchor="b" lIns="0" tIns="0" rIns="0" bIns="0">
            <a:noAutofit/>
          </a:bodyPr>
          <a:lstStyle/>
          <a:p>
            <a:pPr algn="l"/>
            <a:r>
              <a:rPr sz="3000" b="1" i="0">
                <a:solidFill>
                  <a:srgbClr val="0C2D36"/>
                </a:solidFill>
              </a:rPr>
              <a:t>Answer first</a:t>
            </a:r>
            <a:endParaRPr sz="1200"/>
          </a:p>
        </p:txBody>
      </p:sp>
      <p:sp>
        <p:nvSpPr>
          <p:cNvPr id="3" name="Corner tag"/>
          <p:cNvSpPr/>
          <p:nvPr/>
        </p:nvSpPr>
        <p:spPr>
          <a:xfrm>
            <a:off x="10241280" y="457200"/>
            <a:ext cx="1444752" cy="310896"/>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SUMMARY</a:t>
            </a:r>
            <a:endParaRPr sz="1000"/>
          </a:p>
        </p:txBody>
      </p:sp>
      <p:sp>
        <p:nvSpPr>
          <p:cNvPr id="4" name="Kicker"/>
          <p:cNvSpPr txBox="1"/>
          <p:nvPr/>
        </p:nvSpPr>
        <p:spPr>
          <a:xfrm>
            <a:off x="502920" y="987552"/>
            <a:ext cx="11183112" cy="502920"/>
          </a:xfrm>
          <a:prstGeom prst="rect">
            <a:avLst/>
          </a:prstGeom>
          <a:noFill/>
        </p:spPr>
        <p:txBody>
          <a:bodyPr wrap="square" anchor="t" lIns="0" tIns="0" rIns="0" bIns="0">
            <a:noAutofit/>
          </a:bodyPr>
          <a:lstStyle/>
          <a:p>
            <a:pPr algn="l"/>
            <a:r>
              <a:rPr sz="1500" b="0" i="0">
                <a:solidFill>
                  <a:srgbClr val="0A5E5D"/>
                </a:solidFill>
              </a:rPr>
              <a:t>AI runs in service delivery at 3 of 6 vendors (Fiserv, BNY and TCH). None reaches Critical AI risk on public evidence; AutomWorx's ceiling is Critical if confirmed, and Fiserv, BNY and TCH would become Critical on a single confirming answer.</a:t>
            </a:r>
            <a:endParaRPr sz="1200"/>
          </a:p>
        </p:txBody>
      </p:sp>
      <p:sp>
        <p:nvSpPr>
          <p:cNvPr id="5"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66757F"/>
                </a:solidFill>
              </a:rPr>
              <a:t>Team Osprey · Vendor AI footprint · Confidential case-study material, not for distribution</a:t>
            </a:r>
            <a:endParaRPr sz="1200"/>
          </a:p>
        </p:txBody>
      </p:sp>
      <p:sp>
        <p:nvSpPr>
          <p:cNvPr id="6" name="Slide number"/>
          <p:cNvSpPr txBox="1"/>
          <p:nvPr/>
        </p:nvSpPr>
        <p:spPr>
          <a:xfrm>
            <a:off x="10954512" y="6437376"/>
            <a:ext cx="731520" cy="256032"/>
          </a:xfrm>
          <a:prstGeom prst="rect">
            <a:avLst/>
          </a:prstGeom>
          <a:noFill/>
        </p:spPr>
        <p:txBody>
          <a:bodyPr wrap="square" anchor="ctr" lIns="0" tIns="0" rIns="0" bIns="0">
            <a:noAutofit/>
          </a:bodyPr>
          <a:lstStyle/>
          <a:p>
            <a:pPr algn="r"/>
            <a:fld id="{15047002-4DB5-5674-91D4-16E9A30BA6D6}" type="slidenum">
              <a:rPr lang="en-GB" sz="1000" dirty="0">
                <a:solidFill>
                  <a:srgbClr val="66757F"/>
                </a:solidFill>
              </a:rPr>
              <a:t>2</a:t>
            </a:fld>
            <a:endParaRPr sz="1200"/>
          </a:p>
        </p:txBody>
      </p:sp>
      <p:graphicFrame>
        <p:nvGraphicFramePr>
          <p:cNvPr id="7" name="Answer-first table"/>
          <p:cNvGraphicFramePr>
            <a:graphicFrameLocks noGrp="1"/>
          </p:cNvGraphicFramePr>
          <p:nvPr/>
        </p:nvGraphicFramePr>
        <p:xfrm>
          <a:off x="502920" y="1664208"/>
          <a:ext cx="11183112" cy="3931920"/>
        </p:xfrm>
        <a:graphic>
          <a:graphicData uri="http://schemas.openxmlformats.org/drawingml/2006/table">
            <a:tbl>
              <a:tblPr firstRow="1">
                <a:tableStyleId>{2D5ABB26-0587-4C30-8999-92F81FD0307C}</a:tableStyleId>
              </a:tblPr>
              <a:tblGrid>
                <a:gridCol w="1463040"/>
                <a:gridCol w="1143000"/>
                <a:gridCol w="1600200"/>
                <a:gridCol w="1691640"/>
                <a:gridCol w="2651760"/>
                <a:gridCol w="2633472"/>
              </a:tblGrid>
              <a:tr h="310896">
                <a:tc>
                  <a:txBody>
                    <a:bodyPr wrap="square" anchor="t" lIns="64008" tIns="32004" rIns="64008" bIns="32004">
                      <a:noAutofit/>
                    </a:bodyPr>
                    <a:lstStyle/>
                    <a:p>
                      <a:pPr algn="l"/>
                      <a:r>
                        <a:rPr sz="1000" b="1" i="0">
                          <a:solidFill>
                            <a:srgbClr val="FFFFFF"/>
                          </a:solidFill>
                        </a:rPr>
                        <a:t>Vendor</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Criticality</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AI usage (column O)</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AI risk (column S)</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What would change it</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Next action for Meridian</a:t>
                      </a:r>
                      <a:endParaRPr sz="1000"/>
                    </a:p>
                  </a:txBody>
                  <a:tcPr marL="64008" marR="64008" marT="32004" marB="32004" anchor="ctr">
                    <a:solidFill>
                      <a:srgbClr val="0C2D36"/>
                    </a:solidFill>
                  </a:tcPr>
                </a:tc>
              </a:tr>
              <a:tr h="603504">
                <a:tc>
                  <a:txBody>
                    <a:bodyPr wrap="square" anchor="t" lIns="64008" tIns="32004" rIns="64008" bIns="32004">
                      <a:noAutofit/>
                    </a:bodyPr>
                    <a:lstStyle/>
                    <a:p>
                      <a:pPr algn="l"/>
                      <a:r>
                        <a:rPr sz="1100" b="1" i="0">
                          <a:solidFill>
                            <a:srgbClr val="0C2D36"/>
                          </a:solidFill>
                        </a:rPr>
                        <a:t>AutomWorx</a:t>
                      </a:r>
                      <a:endParaRPr sz="1000"/>
                    </a:p>
                    <a:p>
                      <a:pPr algn="l"/>
                      <a:r>
                        <a:rPr sz="1000" b="0" i="0">
                          <a:solidFill>
                            <a:srgbClr val="66757F"/>
                          </a:solidFill>
                        </a:rPr>
                        <a:t>V-001</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100" b="1" i="0">
                          <a:solidFill>
                            <a:srgbClr val="8A3A0E"/>
                          </a:solidFill>
                        </a:rPr>
                        <a:t>High</a:t>
                      </a:r>
                      <a:endParaRPr sz="1000"/>
                    </a:p>
                    <a:p>
                      <a:pPr algn="l"/>
                      <a:r>
                        <a:rPr sz="1000" b="0" i="0">
                          <a:solidFill>
                            <a:srgbClr val="43535F"/>
                          </a:solidFill>
                        </a:rPr>
                        <a:t>score 57</a:t>
                      </a:r>
                      <a:endParaRPr sz="1000"/>
                    </a:p>
                  </a:txBody>
                  <a:tcPr marL="64008" marR="64008" marT="32004" marB="32004" anchor="ctr">
                    <a:lnB w="9525" cap="flat" cmpd="sng" algn="ctr">
                      <a:solidFill>
                        <a:srgbClr val="C8D3D9"/>
                      </a:solidFill>
                      <a:prstDash val="solid"/>
                    </a:lnB>
                    <a:solidFill>
                      <a:srgbClr val="FCEBDF"/>
                    </a:solidFill>
                  </a:tcPr>
                </a:tc>
                <a:tc>
                  <a:txBody>
                    <a:bodyPr wrap="square" anchor="t" lIns="64008" tIns="32004" rIns="64008" bIns="32004">
                      <a:noAutofit/>
                    </a:bodyPr>
                    <a:lstStyle/>
                    <a:p>
                      <a:pPr algn="l"/>
                      <a:r>
                        <a:rPr sz="1100" b="1" i="0">
                          <a:solidFill>
                            <a:srgbClr val="0C2D36"/>
                          </a:solidFill>
                        </a:rPr>
                        <a:t>Inconclusive</a:t>
                      </a:r>
                      <a:endParaRPr sz="1000"/>
                    </a:p>
                    <a:p>
                      <a:pPr algn="l"/>
                      <a:r>
                        <a:rPr sz="1000" b="0" i="0">
                          <a:solidFill>
                            <a:srgbClr val="43535F"/>
                          </a:solidFill>
                        </a:rPr>
                        <a:t>roughly even chance; confidence moderate</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100" b="1" i="0">
                          <a:solidFill>
                            <a:srgbClr val="6B5000"/>
                          </a:solidFill>
                        </a:rPr>
                        <a:t>Medium</a:t>
                      </a:r>
                      <a:endParaRPr sz="1000"/>
                    </a:p>
                    <a:p>
                      <a:pPr algn="l"/>
                      <a:r>
                        <a:rPr sz="1000" b="0" i="0">
                          <a:solidFill>
                            <a:srgbClr val="43535F"/>
                          </a:solidFill>
                        </a:rPr>
                        <a:t>Provisional; ceiling Critical if confirmed</a:t>
                      </a:r>
                      <a:endParaRPr sz="1000"/>
                    </a:p>
                  </a:txBody>
                  <a:tcPr marL="64008" marR="64008" marT="32004" marB="32004" anchor="ctr">
                    <a:lnB w="9525" cap="flat" cmpd="sng" algn="ctr">
                      <a:solidFill>
                        <a:srgbClr val="C8D3D9"/>
                      </a:solidFill>
                      <a:prstDash val="solid"/>
                    </a:lnB>
                    <a:solidFill>
                      <a:srgbClr val="FFF4D1"/>
                    </a:solidFill>
                  </a:tcPr>
                </a:tc>
                <a:tc>
                  <a:txBody>
                    <a:bodyPr wrap="square" anchor="t" lIns="64008" tIns="32004" rIns="64008" bIns="32004">
                      <a:noAutofit/>
                    </a:bodyPr>
                    <a:lstStyle/>
                    <a:p>
                      <a:pPr algn="l"/>
                      <a:r>
                        <a:rPr sz="1000" b="0" i="0">
                          <a:solidFill>
                            <a:srgbClr val="43535F"/>
                          </a:solidFill>
                        </a:rPr>
                        <a:t>Confirmation that the AI platform of the inferred affiliate Labarum AI delivers Meridian work would make the verdict Yes and could raise the class…</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Issue questionnaire items Q1 to Q4 within 15 business days to establish whether AI is used in the service, which Meridian data it touches, which…</a:t>
                      </a:r>
                      <a:endParaRPr sz="1000"/>
                    </a:p>
                  </a:txBody>
                  <a:tcPr marL="64008" marR="64008" marT="32004" marB="32004" anchor="ctr">
                    <a:lnB w="9525" cap="flat" cmpd="sng" algn="ctr">
                      <a:solidFill>
                        <a:srgbClr val="C8D3D9"/>
                      </a:solidFill>
                      <a:prstDash val="solid"/>
                    </a:lnB>
                    <a:solidFill>
                      <a:srgbClr val="FFFFFF"/>
                    </a:solidFill>
                  </a:tcPr>
                </a:tc>
              </a:tr>
              <a:tr h="603504">
                <a:tc>
                  <a:txBody>
                    <a:bodyPr wrap="square" anchor="t" lIns="64008" tIns="32004" rIns="64008" bIns="32004">
                      <a:noAutofit/>
                    </a:bodyPr>
                    <a:lstStyle/>
                    <a:p>
                      <a:pPr algn="l"/>
                      <a:r>
                        <a:rPr sz="1100" b="1" i="0">
                          <a:solidFill>
                            <a:srgbClr val="0C2D36"/>
                          </a:solidFill>
                        </a:rPr>
                        <a:t>Fiserv</a:t>
                      </a:r>
                      <a:endParaRPr sz="1000"/>
                    </a:p>
                    <a:p>
                      <a:pPr algn="l"/>
                      <a:r>
                        <a:rPr sz="1000" b="0" i="0">
                          <a:solidFill>
                            <a:srgbClr val="66757F"/>
                          </a:solidFill>
                        </a:rPr>
                        <a:t>V-002</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100" b="1" i="0">
                          <a:solidFill>
                            <a:srgbClr val="861818"/>
                          </a:solidFill>
                        </a:rPr>
                        <a:t>Critical</a:t>
                      </a:r>
                      <a:endParaRPr sz="1000"/>
                    </a:p>
                    <a:p>
                      <a:pPr algn="l"/>
                      <a:r>
                        <a:rPr sz="1000" b="0" i="0">
                          <a:solidFill>
                            <a:srgbClr val="43535F"/>
                          </a:solidFill>
                        </a:rPr>
                        <a:t>score 100</a:t>
                      </a:r>
                      <a:endParaRPr sz="1000"/>
                    </a:p>
                  </a:txBody>
                  <a:tcPr marL="64008" marR="64008" marT="32004" marB="32004" anchor="ctr">
                    <a:lnB w="9525" cap="flat" cmpd="sng" algn="ctr">
                      <a:solidFill>
                        <a:srgbClr val="C8D3D9"/>
                      </a:solidFill>
                      <a:prstDash val="solid"/>
                    </a:lnB>
                    <a:solidFill>
                      <a:srgbClr val="FBE4E4"/>
                    </a:solidFill>
                  </a:tcPr>
                </a:tc>
                <a:tc>
                  <a:txBody>
                    <a:bodyPr wrap="square" anchor="t" lIns="64008" tIns="32004" rIns="64008" bIns="32004">
                      <a:noAutofit/>
                    </a:bodyPr>
                    <a:lstStyle/>
                    <a:p>
                      <a:pPr algn="l"/>
                      <a:r>
                        <a:rPr sz="1100" b="1" i="0">
                          <a:solidFill>
                            <a:srgbClr val="0C2D36"/>
                          </a:solidFill>
                        </a:rPr>
                        <a:t>Yes · Probable</a:t>
                      </a:r>
                      <a:endParaRPr sz="1000"/>
                    </a:p>
                    <a:p>
                      <a:pPr algn="l"/>
                      <a:r>
                        <a:rPr sz="1000" b="0" i="0">
                          <a:solidFill>
                            <a:srgbClr val="43535F"/>
                          </a:solidFill>
                        </a:rPr>
                        <a:t>likely; confidence low</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100" b="1" i="0">
                          <a:solidFill>
                            <a:srgbClr val="8A3A0E"/>
                          </a:solidFill>
                        </a:rPr>
                        <a:t>High</a:t>
                      </a:r>
                      <a:endParaRPr sz="1000"/>
                    </a:p>
                    <a:p>
                      <a:pPr algn="l"/>
                      <a:r>
                        <a:rPr sz="1000" b="0" i="0">
                          <a:solidFill>
                            <a:srgbClr val="43535F"/>
                          </a:solidFill>
                        </a:rPr>
                        <a:t>score 15 of 18</a:t>
                      </a:r>
                      <a:endParaRPr sz="1000"/>
                    </a:p>
                  </a:txBody>
                  <a:tcPr marL="64008" marR="64008" marT="32004" marB="32004" anchor="ctr">
                    <a:lnB w="9525" cap="flat" cmpd="sng" algn="ctr">
                      <a:solidFill>
                        <a:srgbClr val="C8D3D9"/>
                      </a:solidFill>
                      <a:prstDash val="solid"/>
                    </a:lnB>
                    <a:solidFill>
                      <a:srgbClr val="FCEBDF"/>
                    </a:solidFill>
                  </a:tcPr>
                </a:tc>
                <a:tc>
                  <a:txBody>
                    <a:bodyPr wrap="square" anchor="t" lIns="64008" tIns="32004" rIns="64008" bIns="32004">
                      <a:noAutofit/>
                    </a:bodyPr>
                    <a:lstStyle/>
                    <a:p>
                      <a:pPr algn="l"/>
                      <a:r>
                        <a:rPr sz="1000" b="0" i="0">
                          <a:solidFill>
                            <a:srgbClr val="43535F"/>
                          </a:solidFill>
                        </a:rPr>
                        <a:t>Independent confirmation of AI use in the service itself would lift the Probable cap and raise the class to Critical.</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Issue a targeted questionnaire within 15 business days covering which Meridian data the AI touches, model provider identity and AI sub-processors…</a:t>
                      </a:r>
                      <a:endParaRPr sz="1000"/>
                    </a:p>
                  </a:txBody>
                  <a:tcPr marL="64008" marR="64008" marT="32004" marB="32004" anchor="ctr">
                    <a:lnB w="9525" cap="flat" cmpd="sng" algn="ctr">
                      <a:solidFill>
                        <a:srgbClr val="C8D3D9"/>
                      </a:solidFill>
                      <a:prstDash val="solid"/>
                    </a:lnB>
                    <a:solidFill>
                      <a:srgbClr val="FFFFFF"/>
                    </a:solidFill>
                  </a:tcPr>
                </a:tc>
              </a:tr>
              <a:tr h="603504">
                <a:tc>
                  <a:txBody>
                    <a:bodyPr wrap="square" anchor="t" lIns="64008" tIns="32004" rIns="64008" bIns="32004">
                      <a:noAutofit/>
                    </a:bodyPr>
                    <a:lstStyle/>
                    <a:p>
                      <a:pPr algn="l"/>
                      <a:r>
                        <a:rPr sz="1100" b="1" i="0">
                          <a:solidFill>
                            <a:srgbClr val="0C2D36"/>
                          </a:solidFill>
                        </a:rPr>
                        <a:t>FSSI</a:t>
                      </a:r>
                      <a:endParaRPr sz="1000"/>
                    </a:p>
                    <a:p>
                      <a:pPr algn="l"/>
                      <a:r>
                        <a:rPr sz="1000" b="0" i="0">
                          <a:solidFill>
                            <a:srgbClr val="66757F"/>
                          </a:solidFill>
                        </a:rPr>
                        <a:t>V-003</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100" b="1" i="0">
                          <a:solidFill>
                            <a:srgbClr val="8A3A0E"/>
                          </a:solidFill>
                        </a:rPr>
                        <a:t>High</a:t>
                      </a:r>
                      <a:endParaRPr sz="1000"/>
                    </a:p>
                    <a:p>
                      <a:pPr algn="l"/>
                      <a:r>
                        <a:rPr sz="1000" b="0" i="0">
                          <a:solidFill>
                            <a:srgbClr val="43535F"/>
                          </a:solidFill>
                        </a:rPr>
                        <a:t>score 71</a:t>
                      </a:r>
                      <a:endParaRPr sz="1000"/>
                    </a:p>
                  </a:txBody>
                  <a:tcPr marL="64008" marR="64008" marT="32004" marB="32004" anchor="ctr">
                    <a:lnB w="9525" cap="flat" cmpd="sng" algn="ctr">
                      <a:solidFill>
                        <a:srgbClr val="C8D3D9"/>
                      </a:solidFill>
                      <a:prstDash val="solid"/>
                    </a:lnB>
                    <a:solidFill>
                      <a:srgbClr val="FCEBDF"/>
                    </a:solidFill>
                  </a:tcPr>
                </a:tc>
                <a:tc>
                  <a:txBody>
                    <a:bodyPr wrap="square" anchor="t" lIns="64008" tIns="32004" rIns="64008" bIns="32004">
                      <a:noAutofit/>
                    </a:bodyPr>
                    <a:lstStyle/>
                    <a:p>
                      <a:pPr algn="l"/>
                      <a:r>
                        <a:rPr sz="1100" b="1" i="0">
                          <a:solidFill>
                            <a:srgbClr val="0C2D36"/>
                          </a:solidFill>
                        </a:rPr>
                        <a:t>No · Not detected</a:t>
                      </a:r>
                      <a:endParaRPr sz="1000"/>
                    </a:p>
                    <a:p>
                      <a:pPr algn="l"/>
                      <a:r>
                        <a:rPr sz="1000" b="0" i="0">
                          <a:solidFill>
                            <a:srgbClr val="43535F"/>
                          </a:solidFill>
                        </a:rPr>
                        <a:t>unlikely; confidence moderate</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100" b="1" i="0">
                          <a:solidFill>
                            <a:srgbClr val="3F4D57"/>
                          </a:solidFill>
                        </a:rPr>
                        <a:t>None identified</a:t>
                      </a:r>
                      <a:endParaRPr sz="1000"/>
                    </a:p>
                    <a:p>
                      <a:pPr algn="l"/>
                      <a:r>
                        <a:rPr sz="1000" b="0" i="0">
                          <a:solidFill>
                            <a:srgbClr val="43535F"/>
                          </a:solidFill>
                        </a:rPr>
                        <a:t>score 5 of 18</a:t>
                      </a:r>
                      <a:endParaRPr sz="1000"/>
                    </a:p>
                  </a:txBody>
                  <a:tcPr marL="64008" marR="64008" marT="32004" marB="32004" anchor="ctr">
                    <a:lnB w="9525" cap="flat" cmpd="sng" algn="ctr">
                      <a:solidFill>
                        <a:srgbClr val="C8D3D9"/>
                      </a:solidFill>
                      <a:prstDash val="solid"/>
                    </a:lnB>
                    <a:solidFill>
                      <a:srgbClr val="EDF1F4"/>
                    </a:solidFill>
                  </a:tcPr>
                </a:tc>
                <a:tc>
                  <a:txBody>
                    <a:bodyPr wrap="square" anchor="t" lIns="64008" tIns="32004" rIns="64008" bIns="32004">
                      <a:noAutofit/>
                    </a:bodyPr>
                    <a:lstStyle/>
                    <a:p>
                      <a:pPr algn="l"/>
                      <a:r>
                        <a:rPr sz="1000" b="0" i="0">
                          <a:solidFill>
                            <a:srgbClr val="43535F"/>
                          </a:solidFill>
                        </a:rPr>
                        <a:t>Evidence that AI features of the platforms the vendor uses, or AI tools used by its staff, touch Meridian data would require reassessment.</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Obtain a written attestation from the vendor that no AI is used in the service or on Meridian data, including the AI features of the platforms it…</a:t>
                      </a:r>
                      <a:endParaRPr sz="1000"/>
                    </a:p>
                  </a:txBody>
                  <a:tcPr marL="64008" marR="64008" marT="32004" marB="32004" anchor="ctr">
                    <a:lnB w="9525" cap="flat" cmpd="sng" algn="ctr">
                      <a:solidFill>
                        <a:srgbClr val="C8D3D9"/>
                      </a:solidFill>
                      <a:prstDash val="solid"/>
                    </a:lnB>
                    <a:solidFill>
                      <a:srgbClr val="FFFFFF"/>
                    </a:solidFill>
                  </a:tcPr>
                </a:tc>
              </a:tr>
              <a:tr h="603504">
                <a:tc>
                  <a:txBody>
                    <a:bodyPr wrap="square" anchor="t" lIns="64008" tIns="32004" rIns="64008" bIns="32004">
                      <a:noAutofit/>
                    </a:bodyPr>
                    <a:lstStyle/>
                    <a:p>
                      <a:pPr algn="l"/>
                      <a:r>
                        <a:rPr sz="1100" b="1" i="0">
                          <a:solidFill>
                            <a:srgbClr val="0C2D36"/>
                          </a:solidFill>
                        </a:rPr>
                        <a:t>Terrapin</a:t>
                      </a:r>
                      <a:endParaRPr sz="1000"/>
                    </a:p>
                    <a:p>
                      <a:pPr algn="l"/>
                      <a:r>
                        <a:rPr sz="1000" b="0" i="0">
                          <a:solidFill>
                            <a:srgbClr val="66757F"/>
                          </a:solidFill>
                        </a:rPr>
                        <a:t>V-004</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100" b="1" i="0">
                          <a:solidFill>
                            <a:srgbClr val="8A3A0E"/>
                          </a:solidFill>
                        </a:rPr>
                        <a:t>High</a:t>
                      </a:r>
                      <a:endParaRPr sz="1000"/>
                    </a:p>
                    <a:p>
                      <a:pPr algn="l"/>
                      <a:r>
                        <a:rPr sz="1000" b="0" i="0">
                          <a:solidFill>
                            <a:srgbClr val="43535F"/>
                          </a:solidFill>
                        </a:rPr>
                        <a:t>score 60</a:t>
                      </a:r>
                      <a:endParaRPr sz="1000"/>
                    </a:p>
                  </a:txBody>
                  <a:tcPr marL="64008" marR="64008" marT="32004" marB="32004" anchor="ctr">
                    <a:lnB w="9525" cap="flat" cmpd="sng" algn="ctr">
                      <a:solidFill>
                        <a:srgbClr val="C8D3D9"/>
                      </a:solidFill>
                      <a:prstDash val="solid"/>
                    </a:lnB>
                    <a:solidFill>
                      <a:srgbClr val="FCEBDF"/>
                    </a:solidFill>
                  </a:tcPr>
                </a:tc>
                <a:tc>
                  <a:txBody>
                    <a:bodyPr wrap="square" anchor="t" lIns="64008" tIns="32004" rIns="64008" bIns="32004">
                      <a:noAutofit/>
                    </a:bodyPr>
                    <a:lstStyle/>
                    <a:p>
                      <a:pPr algn="l"/>
                      <a:r>
                        <a:rPr sz="1100" b="1" i="0">
                          <a:solidFill>
                            <a:srgbClr val="0C2D36"/>
                          </a:solidFill>
                        </a:rPr>
                        <a:t>Inconclusive</a:t>
                      </a:r>
                      <a:endParaRPr sz="1000"/>
                    </a:p>
                    <a:p>
                      <a:pPr algn="l"/>
                      <a:r>
                        <a:rPr sz="1000" b="0" i="0">
                          <a:solidFill>
                            <a:srgbClr val="43535F"/>
                          </a:solidFill>
                        </a:rPr>
                        <a:t>roughly even chance; confidence low</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100" b="1" i="0">
                          <a:solidFill>
                            <a:srgbClr val="6B5000"/>
                          </a:solidFill>
                        </a:rPr>
                        <a:t>Medium</a:t>
                      </a:r>
                      <a:endParaRPr sz="1000"/>
                    </a:p>
                    <a:p>
                      <a:pPr algn="l"/>
                      <a:r>
                        <a:rPr sz="1000" b="0" i="0">
                          <a:solidFill>
                            <a:srgbClr val="43535F"/>
                          </a:solidFill>
                        </a:rPr>
                        <a:t>Provisional; ceiling High if confirmed</a:t>
                      </a:r>
                      <a:endParaRPr sz="1000"/>
                    </a:p>
                  </a:txBody>
                  <a:tcPr marL="64008" marR="64008" marT="32004" marB="32004" anchor="ctr">
                    <a:lnB w="9525" cap="flat" cmpd="sng" algn="ctr">
                      <a:solidFill>
                        <a:srgbClr val="C8D3D9"/>
                      </a:solidFill>
                      <a:prstDash val="solid"/>
                    </a:lnB>
                    <a:solidFill>
                      <a:srgbClr val="FFF4D1"/>
                    </a:solidFill>
                  </a:tcPr>
                </a:tc>
                <a:tc>
                  <a:txBody>
                    <a:bodyPr wrap="square" anchor="t" lIns="64008" tIns="32004" rIns="64008" bIns="32004">
                      <a:noAutofit/>
                    </a:bodyPr>
                    <a:lstStyle/>
                    <a:p>
                      <a:pPr algn="l"/>
                      <a:r>
                        <a:rPr sz="1000" b="0" i="0">
                          <a:solidFill>
                            <a:srgbClr val="43535F"/>
                          </a:solidFill>
                        </a:rPr>
                        <a:t>Confirmation that the AI services indicated only by DNS records (Anthropic and OpenAI) are used on Meridian data would make the verdict Yes and…</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Issue questionnaire items Q1 to Q4 within 15 business days to establish whether AI is used in the service, which Meridian data it touches, which…</a:t>
                      </a:r>
                      <a:endParaRPr sz="1000"/>
                    </a:p>
                  </a:txBody>
                  <a:tcPr marL="64008" marR="64008" marT="32004" marB="32004" anchor="ctr">
                    <a:lnB w="9525" cap="flat" cmpd="sng" algn="ctr">
                      <a:solidFill>
                        <a:srgbClr val="C8D3D9"/>
                      </a:solidFill>
                      <a:prstDash val="solid"/>
                    </a:lnB>
                    <a:solidFill>
                      <a:srgbClr val="FFFFFF"/>
                    </a:solidFill>
                  </a:tcPr>
                </a:tc>
              </a:tr>
              <a:tr h="603504">
                <a:tc>
                  <a:txBody>
                    <a:bodyPr wrap="square" anchor="t" lIns="64008" tIns="32004" rIns="64008" bIns="32004">
                      <a:noAutofit/>
                    </a:bodyPr>
                    <a:lstStyle/>
                    <a:p>
                      <a:pPr algn="l"/>
                      <a:r>
                        <a:rPr sz="1100" b="1" i="0">
                          <a:solidFill>
                            <a:srgbClr val="0C2D36"/>
                          </a:solidFill>
                        </a:rPr>
                        <a:t>BNY</a:t>
                      </a:r>
                      <a:endParaRPr sz="1000"/>
                    </a:p>
                    <a:p>
                      <a:pPr algn="l"/>
                      <a:r>
                        <a:rPr sz="1000" b="0" i="0">
                          <a:solidFill>
                            <a:srgbClr val="66757F"/>
                          </a:solidFill>
                        </a:rPr>
                        <a:t>V-005</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100" b="1" i="0">
                          <a:solidFill>
                            <a:srgbClr val="861818"/>
                          </a:solidFill>
                        </a:rPr>
                        <a:t>Critical</a:t>
                      </a:r>
                      <a:endParaRPr sz="1000"/>
                    </a:p>
                    <a:p>
                      <a:pPr algn="l"/>
                      <a:r>
                        <a:rPr sz="1000" b="0" i="0">
                          <a:solidFill>
                            <a:srgbClr val="43535F"/>
                          </a:solidFill>
                        </a:rPr>
                        <a:t>score 79</a:t>
                      </a:r>
                      <a:endParaRPr sz="1000"/>
                    </a:p>
                  </a:txBody>
                  <a:tcPr marL="64008" marR="64008" marT="32004" marB="32004" anchor="ctr">
                    <a:lnB w="9525" cap="flat" cmpd="sng" algn="ctr">
                      <a:solidFill>
                        <a:srgbClr val="C8D3D9"/>
                      </a:solidFill>
                      <a:prstDash val="solid"/>
                    </a:lnB>
                    <a:solidFill>
                      <a:srgbClr val="FBE4E4"/>
                    </a:solidFill>
                  </a:tcPr>
                </a:tc>
                <a:tc>
                  <a:txBody>
                    <a:bodyPr wrap="square" anchor="t" lIns="64008" tIns="32004" rIns="64008" bIns="32004">
                      <a:noAutofit/>
                    </a:bodyPr>
                    <a:lstStyle/>
                    <a:p>
                      <a:pPr algn="l"/>
                      <a:r>
                        <a:rPr sz="1100" b="1" i="0">
                          <a:solidFill>
                            <a:srgbClr val="0C2D36"/>
                          </a:solidFill>
                        </a:rPr>
                        <a:t>Yes · Probable</a:t>
                      </a:r>
                      <a:endParaRPr sz="1000"/>
                    </a:p>
                    <a:p>
                      <a:pPr algn="l"/>
                      <a:r>
                        <a:rPr sz="1000" b="0" i="0">
                          <a:solidFill>
                            <a:srgbClr val="43535F"/>
                          </a:solidFill>
                        </a:rPr>
                        <a:t>likely; confidence low</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100" b="1" i="0">
                          <a:solidFill>
                            <a:srgbClr val="8A3A0E"/>
                          </a:solidFill>
                        </a:rPr>
                        <a:t>High</a:t>
                      </a:r>
                      <a:endParaRPr sz="1000"/>
                    </a:p>
                    <a:p>
                      <a:pPr algn="l"/>
                      <a:r>
                        <a:rPr sz="1000" b="0" i="0">
                          <a:solidFill>
                            <a:srgbClr val="43535F"/>
                          </a:solidFill>
                        </a:rPr>
                        <a:t>score 15 of 18</a:t>
                      </a:r>
                      <a:endParaRPr sz="1000"/>
                    </a:p>
                  </a:txBody>
                  <a:tcPr marL="64008" marR="64008" marT="32004" marB="32004" anchor="ctr">
                    <a:lnB w="9525" cap="flat" cmpd="sng" algn="ctr">
                      <a:solidFill>
                        <a:srgbClr val="C8D3D9"/>
                      </a:solidFill>
                      <a:prstDash val="solid"/>
                    </a:lnB>
                    <a:solidFill>
                      <a:srgbClr val="FCEBDF"/>
                    </a:solidFill>
                  </a:tcPr>
                </a:tc>
                <a:tc>
                  <a:txBody>
                    <a:bodyPr wrap="square" anchor="t" lIns="64008" tIns="32004" rIns="64008" bIns="32004">
                      <a:noAutofit/>
                    </a:bodyPr>
                    <a:lstStyle/>
                    <a:p>
                      <a:pPr algn="l"/>
                      <a:r>
                        <a:rPr sz="1000" b="0" i="0">
                          <a:solidFill>
                            <a:srgbClr val="43535F"/>
                          </a:solidFill>
                        </a:rPr>
                        <a:t>Independent confirmation of AI use in the service itself would lift the Probable cap and raise the class to Critical.</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Issue a targeted questionnaire within 15 business days covering which Meridian data the AI touches, model provider identity and AI sub-processors…</a:t>
                      </a:r>
                      <a:endParaRPr sz="1000"/>
                    </a:p>
                  </a:txBody>
                  <a:tcPr marL="64008" marR="64008" marT="32004" marB="32004" anchor="ctr">
                    <a:lnB w="9525" cap="flat" cmpd="sng" algn="ctr">
                      <a:solidFill>
                        <a:srgbClr val="C8D3D9"/>
                      </a:solidFill>
                      <a:prstDash val="solid"/>
                    </a:lnB>
                    <a:solidFill>
                      <a:srgbClr val="FFFFFF"/>
                    </a:solidFill>
                  </a:tcPr>
                </a:tc>
              </a:tr>
              <a:tr h="603504">
                <a:tc>
                  <a:txBody>
                    <a:bodyPr wrap="square" anchor="t" lIns="64008" tIns="32004" rIns="64008" bIns="32004">
                      <a:noAutofit/>
                    </a:bodyPr>
                    <a:lstStyle/>
                    <a:p>
                      <a:pPr algn="l"/>
                      <a:r>
                        <a:rPr sz="1100" b="1" i="0">
                          <a:solidFill>
                            <a:srgbClr val="0C2D36"/>
                          </a:solidFill>
                        </a:rPr>
                        <a:t>TCH</a:t>
                      </a:r>
                      <a:endParaRPr sz="1000"/>
                    </a:p>
                    <a:p>
                      <a:pPr algn="l"/>
                      <a:r>
                        <a:rPr sz="1000" b="0" i="0">
                          <a:solidFill>
                            <a:srgbClr val="66757F"/>
                          </a:solidFill>
                        </a:rPr>
                        <a:t>V-006</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100" b="1" i="0">
                          <a:solidFill>
                            <a:srgbClr val="861818"/>
                          </a:solidFill>
                        </a:rPr>
                        <a:t>Critical</a:t>
                      </a:r>
                      <a:endParaRPr sz="1000"/>
                    </a:p>
                    <a:p>
                      <a:pPr algn="l"/>
                      <a:r>
                        <a:rPr sz="1000" b="0" i="0">
                          <a:solidFill>
                            <a:srgbClr val="43535F"/>
                          </a:solidFill>
                        </a:rPr>
                        <a:t>score 94</a:t>
                      </a:r>
                      <a:endParaRPr sz="1000"/>
                    </a:p>
                  </a:txBody>
                  <a:tcPr marL="64008" marR="64008" marT="32004" marB="32004" anchor="ctr">
                    <a:lnB w="9525" cap="flat" cmpd="sng" algn="ctr">
                      <a:solidFill>
                        <a:srgbClr val="C8D3D9"/>
                      </a:solidFill>
                      <a:prstDash val="solid"/>
                    </a:lnB>
                    <a:solidFill>
                      <a:srgbClr val="FBE4E4"/>
                    </a:solidFill>
                  </a:tcPr>
                </a:tc>
                <a:tc>
                  <a:txBody>
                    <a:bodyPr wrap="square" anchor="t" lIns="64008" tIns="32004" rIns="64008" bIns="32004">
                      <a:noAutofit/>
                    </a:bodyPr>
                    <a:lstStyle/>
                    <a:p>
                      <a:pPr algn="l"/>
                      <a:r>
                        <a:rPr sz="1100" b="1" i="0">
                          <a:solidFill>
                            <a:srgbClr val="0C2D36"/>
                          </a:solidFill>
                        </a:rPr>
                        <a:t>Yes · Probable</a:t>
                      </a:r>
                      <a:endParaRPr sz="1000"/>
                    </a:p>
                    <a:p>
                      <a:pPr algn="l"/>
                      <a:r>
                        <a:rPr sz="1000" b="0" i="0">
                          <a:solidFill>
                            <a:srgbClr val="43535F"/>
                          </a:solidFill>
                        </a:rPr>
                        <a:t>likely; confidence moderate</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100" b="1" i="0">
                          <a:solidFill>
                            <a:srgbClr val="8A3A0E"/>
                          </a:solidFill>
                        </a:rPr>
                        <a:t>High</a:t>
                      </a:r>
                      <a:endParaRPr sz="1000"/>
                    </a:p>
                    <a:p>
                      <a:pPr algn="l"/>
                      <a:r>
                        <a:rPr sz="1000" b="0" i="0">
                          <a:solidFill>
                            <a:srgbClr val="43535F"/>
                          </a:solidFill>
                        </a:rPr>
                        <a:t>score 15 of 18</a:t>
                      </a:r>
                      <a:endParaRPr sz="1000"/>
                    </a:p>
                  </a:txBody>
                  <a:tcPr marL="64008" marR="64008" marT="32004" marB="32004" anchor="ctr">
                    <a:lnB w="9525" cap="flat" cmpd="sng" algn="ctr">
                      <a:solidFill>
                        <a:srgbClr val="C8D3D9"/>
                      </a:solidFill>
                      <a:prstDash val="solid"/>
                    </a:lnB>
                    <a:solidFill>
                      <a:srgbClr val="FCEBDF"/>
                    </a:solidFill>
                  </a:tcPr>
                </a:tc>
                <a:tc>
                  <a:txBody>
                    <a:bodyPr wrap="square" anchor="t" lIns="64008" tIns="32004" rIns="64008" bIns="32004">
                      <a:noAutofit/>
                    </a:bodyPr>
                    <a:lstStyle/>
                    <a:p>
                      <a:pPr algn="l"/>
                      <a:r>
                        <a:rPr sz="1000" b="0" i="0">
                          <a:solidFill>
                            <a:srgbClr val="43535F"/>
                          </a:solidFill>
                        </a:rPr>
                        <a:t>Independent confirmation of AI use in the service itself would lift the Probable cap and raise the class to Critical.</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Issue a targeted questionnaire within 15 business days covering which Meridian data the AI touches, model provider identity and AI sub-processors…</a:t>
                      </a:r>
                      <a:endParaRPr sz="1000"/>
                    </a:p>
                  </a:txBody>
                  <a:tcPr marL="64008" marR="64008" marT="32004" marB="32004" anchor="ctr">
                    <a:lnB w="9525" cap="flat" cmpd="sng" algn="ctr">
                      <a:solidFill>
                        <a:srgbClr val="C8D3D9"/>
                      </a:solidFill>
                      <a:prstDash val="solid"/>
                    </a:lnB>
                    <a:solidFill>
                      <a:srgbClr val="FFFFFF"/>
                    </a:solidFill>
                  </a:tcPr>
                </a:tc>
              </a:tr>
            </a:tbl>
          </a:graphicData>
        </a:graphic>
      </p:graphicFrame>
      <p:sp>
        <p:nvSpPr>
          <p:cNvPr id="8" name="Source note"/>
          <p:cNvSpPr txBox="1"/>
          <p:nvPr/>
        </p:nvSpPr>
        <p:spPr>
          <a:xfrm>
            <a:off x="502920" y="6016752"/>
            <a:ext cx="11183112" cy="365760"/>
          </a:xfrm>
          <a:prstGeom prst="rect">
            <a:avLst/>
          </a:prstGeom>
          <a:noFill/>
        </p:spPr>
        <p:txBody>
          <a:bodyPr wrap="square" anchor="t" lIns="0" tIns="0" rIns="0" bIns="0">
            <a:noAutofit/>
          </a:bodyPr>
          <a:lstStyle/>
          <a:p>
            <a:pPr algn="l"/>
            <a:r>
              <a:rPr sz="1000" b="0" i="0">
                <a:solidFill>
                  <a:srgbClr val="66757F"/>
                </a:solidFill>
              </a:rPr>
              <a:t>Source: run A-20261003-46a58030 (live_ai), evidence as of 2026-10-03. Evidence Log IDs for every vendor claim are in the speaker notes; the workbook's cells L–V hold the full wording.</a:t>
            </a:r>
            <a:endParaRPr sz="12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10896"/>
            <a:ext cx="9509760" cy="640080"/>
          </a:xfrm>
        </p:spPr>
        <p:txBody>
          <a:bodyPr wrap="square" anchor="b" lIns="0" tIns="0" rIns="0" bIns="0">
            <a:noAutofit/>
          </a:bodyPr>
          <a:lstStyle/>
          <a:p>
            <a:pPr algn="l"/>
            <a:r>
              <a:rPr sz="3000" b="1" i="0">
                <a:solidFill>
                  <a:srgbClr val="0C2D36"/>
                </a:solidFill>
              </a:rPr>
              <a:t>Approach: AI proposes, code verifies, analyst approves</a:t>
            </a:r>
            <a:endParaRPr sz="1200"/>
          </a:p>
        </p:txBody>
      </p:sp>
      <p:sp>
        <p:nvSpPr>
          <p:cNvPr id="3" name="Corner tag"/>
          <p:cNvSpPr/>
          <p:nvPr/>
        </p:nvSpPr>
        <p:spPr>
          <a:xfrm>
            <a:off x="10241280" y="457200"/>
            <a:ext cx="1444752" cy="310896"/>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APPROACH</a:t>
            </a:r>
            <a:endParaRPr sz="1000"/>
          </a:p>
        </p:txBody>
      </p:sp>
      <p:sp>
        <p:nvSpPr>
          <p:cNvPr id="4" name="Kicker"/>
          <p:cNvSpPr txBox="1"/>
          <p:nvPr/>
        </p:nvSpPr>
        <p:spPr>
          <a:xfrm>
            <a:off x="502920" y="987552"/>
            <a:ext cx="11183112" cy="502920"/>
          </a:xfrm>
          <a:prstGeom prst="rect">
            <a:avLst/>
          </a:prstGeom>
          <a:noFill/>
        </p:spPr>
        <p:txBody>
          <a:bodyPr wrap="square" anchor="t" lIns="0" tIns="0" rIns="0" bIns="0">
            <a:noAutofit/>
          </a:bodyPr>
          <a:lstStyle/>
          <a:p>
            <a:pPr algn="l"/>
            <a:r>
              <a:rPr sz="1500" b="0" i="0">
                <a:solidFill>
                  <a:srgbClr val="0A5E5D"/>
                </a:solidFill>
              </a:rPr>
              <a:t>The brief's five roles map onto ten components and two human checkpoints; every conclusion traces to a hashed source.</a:t>
            </a:r>
            <a:endParaRPr sz="1200"/>
          </a:p>
        </p:txBody>
      </p:sp>
      <p:sp>
        <p:nvSpPr>
          <p:cNvPr id="5"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66757F"/>
                </a:solidFill>
              </a:rPr>
              <a:t>Team Osprey · Vendor AI footprint · Confidential case-study material, not for distribution</a:t>
            </a:r>
            <a:endParaRPr sz="1200"/>
          </a:p>
        </p:txBody>
      </p:sp>
      <p:sp>
        <p:nvSpPr>
          <p:cNvPr id="6" name="Slide number"/>
          <p:cNvSpPr txBox="1"/>
          <p:nvPr/>
        </p:nvSpPr>
        <p:spPr>
          <a:xfrm>
            <a:off x="10954512" y="6437376"/>
            <a:ext cx="731520" cy="256032"/>
          </a:xfrm>
          <a:prstGeom prst="rect">
            <a:avLst/>
          </a:prstGeom>
          <a:noFill/>
        </p:spPr>
        <p:txBody>
          <a:bodyPr wrap="square" anchor="ctr" lIns="0" tIns="0" rIns="0" bIns="0">
            <a:noAutofit/>
          </a:bodyPr>
          <a:lstStyle/>
          <a:p>
            <a:pPr algn="r"/>
            <a:fld id="{333CE011-8E8A-5FF7-AA09-0499F12FCC95}" type="slidenum">
              <a:rPr lang="en-GB" sz="1000" dirty="0">
                <a:solidFill>
                  <a:srgbClr val="66757F"/>
                </a:solidFill>
              </a:rPr>
              <a:t>3</a:t>
            </a:fld>
            <a:endParaRPr sz="1200"/>
          </a:p>
        </p:txBody>
      </p:sp>
      <p:sp>
        <p:nvSpPr>
          <p:cNvPr id="7" name="Principle AI proposes"/>
          <p:cNvSpPr/>
          <p:nvPr/>
        </p:nvSpPr>
        <p:spPr>
          <a:xfrm>
            <a:off x="502920" y="1645920"/>
            <a:ext cx="3788664" cy="512064"/>
          </a:xfrm>
          <a:prstGeom prst="homePlat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tIns="0" rIns="274320" bIns="0">
            <a:noAutofit/>
          </a:bodyPr>
          <a:lstStyle/>
          <a:p>
            <a:pPr algn="ctr"/>
            <a:r>
              <a:rPr sz="1500" b="1" i="0">
                <a:solidFill>
                  <a:srgbClr val="FFFFFF"/>
                </a:solidFill>
              </a:rPr>
              <a:t>AI proposes</a:t>
            </a:r>
            <a:endParaRPr sz="1200"/>
          </a:p>
        </p:txBody>
      </p:sp>
      <p:sp>
        <p:nvSpPr>
          <p:cNvPr id="8" name="Principle text AI proposes"/>
          <p:cNvSpPr txBox="1"/>
          <p:nvPr/>
        </p:nvSpPr>
        <p:spPr>
          <a:xfrm>
            <a:off x="612648" y="2231136"/>
            <a:ext cx="3377184" cy="566928"/>
          </a:xfrm>
          <a:prstGeom prst="rect">
            <a:avLst/>
          </a:prstGeom>
          <a:noFill/>
        </p:spPr>
        <p:txBody>
          <a:bodyPr wrap="square" anchor="t" lIns="0" tIns="0" rIns="0" bIns="0">
            <a:noAutofit/>
          </a:bodyPr>
          <a:lstStyle/>
          <a:p>
            <a:pPr algn="l"/>
            <a:r>
              <a:rPr sz="1050" b="0" i="0">
                <a:solidFill>
                  <a:srgbClr val="43535F"/>
                </a:solidFill>
              </a:rPr>
              <a:t>Gemini expands names, triages pages by ID and extracts candidate claims. It never supplies URLs or final labels.</a:t>
            </a:r>
            <a:endParaRPr sz="1200"/>
          </a:p>
        </p:txBody>
      </p:sp>
      <p:sp>
        <p:nvSpPr>
          <p:cNvPr id="9" name="Principle Code verifies"/>
          <p:cNvSpPr/>
          <p:nvPr/>
        </p:nvSpPr>
        <p:spPr>
          <a:xfrm>
            <a:off x="4200144" y="1645920"/>
            <a:ext cx="3788664" cy="512064"/>
          </a:xfrm>
          <a:prstGeom prst="chevron">
            <a:avLst/>
          </a:prstGeom>
          <a:solidFill>
            <a:srgbClr val="0C2D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tIns="0" rIns="274320" bIns="0">
            <a:noAutofit/>
          </a:bodyPr>
          <a:lstStyle/>
          <a:p>
            <a:pPr algn="ctr"/>
            <a:r>
              <a:rPr sz="1500" b="1" i="0">
                <a:solidFill>
                  <a:srgbClr val="FFFFFF"/>
                </a:solidFill>
              </a:rPr>
              <a:t>Code verifies</a:t>
            </a:r>
            <a:endParaRPr sz="1200"/>
          </a:p>
        </p:txBody>
      </p:sp>
      <p:sp>
        <p:nvSpPr>
          <p:cNvPr id="10" name="Principle text Code verifies"/>
          <p:cNvSpPr txBox="1"/>
          <p:nvPr/>
        </p:nvSpPr>
        <p:spPr>
          <a:xfrm>
            <a:off x="4309872" y="2231136"/>
            <a:ext cx="3377184" cy="566928"/>
          </a:xfrm>
          <a:prstGeom prst="rect">
            <a:avLst/>
          </a:prstGeom>
          <a:noFill/>
        </p:spPr>
        <p:txBody>
          <a:bodyPr wrap="square" anchor="t" lIns="0" tIns="0" rIns="0" bIns="0">
            <a:noAutofit/>
          </a:bodyPr>
          <a:lstStyle/>
          <a:p>
            <a:pPr algn="l"/>
            <a:r>
              <a:rPr sz="1050" b="0" i="0">
                <a:solidFill>
                  <a:srgbClr val="43535F"/>
                </a:solidFill>
              </a:rPr>
              <a:t>Every quote must be an exact slice of a captured, hashed source (V1–V9); rules assign tags, verdicts and risk.</a:t>
            </a:r>
            <a:endParaRPr sz="1200"/>
          </a:p>
        </p:txBody>
      </p:sp>
      <p:sp>
        <p:nvSpPr>
          <p:cNvPr id="11" name="Principle Analyst approves"/>
          <p:cNvSpPr/>
          <p:nvPr/>
        </p:nvSpPr>
        <p:spPr>
          <a:xfrm>
            <a:off x="7897368" y="1645920"/>
            <a:ext cx="3788664" cy="512064"/>
          </a:xfrm>
          <a:prstGeom prst="chevron">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tIns="0" rIns="274320" bIns="0">
            <a:noAutofit/>
          </a:bodyPr>
          <a:lstStyle/>
          <a:p>
            <a:pPr algn="ctr"/>
            <a:r>
              <a:rPr sz="1500" b="1" i="0">
                <a:solidFill>
                  <a:srgbClr val="0C2D36"/>
                </a:solidFill>
              </a:rPr>
              <a:t>Analyst approves</a:t>
            </a:r>
            <a:endParaRPr sz="1200"/>
          </a:p>
        </p:txBody>
      </p:sp>
      <p:sp>
        <p:nvSpPr>
          <p:cNvPr id="12" name="Principle text Analyst approves"/>
          <p:cNvSpPr txBox="1"/>
          <p:nvPr/>
        </p:nvSpPr>
        <p:spPr>
          <a:xfrm>
            <a:off x="8007096" y="2231136"/>
            <a:ext cx="3377184" cy="566928"/>
          </a:xfrm>
          <a:prstGeom prst="rect">
            <a:avLst/>
          </a:prstGeom>
          <a:noFill/>
        </p:spPr>
        <p:txBody>
          <a:bodyPr wrap="square" anchor="t" lIns="0" tIns="0" rIns="0" bIns="0">
            <a:noAutofit/>
          </a:bodyPr>
          <a:lstStyle/>
          <a:p>
            <a:pPr algn="l"/>
            <a:r>
              <a:rPr sz="1050" b="0" i="0">
                <a:solidFill>
                  <a:srgbClr val="43535F"/>
                </a:solidFill>
              </a:rPr>
              <a:t>HC1 confirms the tier; HC2 accepts or rejects each cited excerpt with a reason.</a:t>
            </a:r>
            <a:endParaRPr sz="1200"/>
          </a:p>
        </p:txBody>
      </p:sp>
      <p:sp>
        <p:nvSpPr>
          <p:cNvPr id="13" name="Role 01"/>
          <p:cNvSpPr/>
          <p:nvPr/>
        </p:nvSpPr>
        <p:spPr>
          <a:xfrm>
            <a:off x="502920" y="2907792"/>
            <a:ext cx="2103120" cy="2743200"/>
          </a:xfrm>
          <a:prstGeom prst="roundRect">
            <a:avLst>
              <a:gd name="adj" fmla="val 5217"/>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14" name="Role badge 01"/>
          <p:cNvSpPr/>
          <p:nvPr/>
        </p:nvSpPr>
        <p:spPr>
          <a:xfrm>
            <a:off x="621792" y="3026664"/>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i="0">
                <a:solidFill>
                  <a:srgbClr val="FFFFFF"/>
                </a:solidFill>
              </a:rPr>
              <a:t>01</a:t>
            </a:r>
            <a:endParaRPr sz="1200"/>
          </a:p>
        </p:txBody>
      </p:sp>
      <p:sp>
        <p:nvSpPr>
          <p:cNvPr id="15" name="Role title 01"/>
          <p:cNvSpPr txBox="1"/>
          <p:nvPr/>
        </p:nvSpPr>
        <p:spPr>
          <a:xfrm>
            <a:off x="1143000" y="3035808"/>
            <a:ext cx="1371599" cy="457200"/>
          </a:xfrm>
          <a:prstGeom prst="rect">
            <a:avLst/>
          </a:prstGeom>
          <a:noFill/>
        </p:spPr>
        <p:txBody>
          <a:bodyPr wrap="square" anchor="ctr" lIns="0" tIns="0" rIns="0" bIns="0">
            <a:noAutofit/>
          </a:bodyPr>
          <a:lstStyle/>
          <a:p>
            <a:pPr algn="l"/>
            <a:r>
              <a:rPr sz="1300" b="1" i="0">
                <a:solidFill>
                  <a:srgbClr val="0C2D36"/>
                </a:solidFill>
              </a:rPr>
              <a:t>Determine criticality</a:t>
            </a:r>
            <a:endParaRPr sz="1200"/>
          </a:p>
        </p:txBody>
      </p:sp>
      <p:sp>
        <p:nvSpPr>
          <p:cNvPr id="16" name="Role 01 component C1 Intake"/>
          <p:cNvSpPr/>
          <p:nvPr/>
        </p:nvSpPr>
        <p:spPr>
          <a:xfrm>
            <a:off x="649224" y="3593592"/>
            <a:ext cx="1810511" cy="246888"/>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C1 Intake</a:t>
            </a:r>
            <a:endParaRPr sz="1000"/>
          </a:p>
        </p:txBody>
      </p:sp>
      <p:sp>
        <p:nvSpPr>
          <p:cNvPr id="17" name="Role 01 component C2 Criticality"/>
          <p:cNvSpPr/>
          <p:nvPr/>
        </p:nvSpPr>
        <p:spPr>
          <a:xfrm>
            <a:off x="649224" y="3895344"/>
            <a:ext cx="1810511" cy="246888"/>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C2 Criticality</a:t>
            </a:r>
            <a:endParaRPr sz="1000"/>
          </a:p>
        </p:txBody>
      </p:sp>
      <p:sp>
        <p:nvSpPr>
          <p:cNvPr id="18" name="Role 01 how"/>
          <p:cNvSpPr txBox="1"/>
          <p:nvPr/>
        </p:nvSpPr>
        <p:spPr>
          <a:xfrm>
            <a:off x="649224" y="4572000"/>
            <a:ext cx="1828799" cy="786384"/>
          </a:xfrm>
          <a:prstGeom prst="rect">
            <a:avLst/>
          </a:prstGeom>
          <a:noFill/>
        </p:spPr>
        <p:txBody>
          <a:bodyPr wrap="square" anchor="t" lIns="0" tIns="0" rIns="0" bIns="0">
            <a:noAutofit/>
          </a:bodyPr>
          <a:lstStyle/>
          <a:p>
            <a:pPr algn="l"/>
            <a:r>
              <a:rPr sz="1000" b="0" i="0">
                <a:solidFill>
                  <a:srgbClr val="43535F"/>
                </a:solidFill>
              </a:rPr>
              <a:t>A deterministic rubric on profile columns B–K: score 0–100, floors F1–F6, a sensitivity check. OSINT never changes the tier.</a:t>
            </a:r>
            <a:endParaRPr sz="1200"/>
          </a:p>
        </p:txBody>
      </p:sp>
      <p:sp>
        <p:nvSpPr>
          <p:cNvPr id="19" name="Role 01 checkpoint"/>
          <p:cNvSpPr/>
          <p:nvPr/>
        </p:nvSpPr>
        <p:spPr>
          <a:xfrm>
            <a:off x="649224" y="5285231"/>
            <a:ext cx="1810511" cy="256032"/>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C2D36"/>
                </a:solidFill>
              </a:rPr>
              <a:t>HC1 tier confirmed</a:t>
            </a:r>
            <a:endParaRPr sz="1000"/>
          </a:p>
        </p:txBody>
      </p:sp>
      <p:sp>
        <p:nvSpPr>
          <p:cNvPr id="20" name="Role 02"/>
          <p:cNvSpPr/>
          <p:nvPr/>
        </p:nvSpPr>
        <p:spPr>
          <a:xfrm>
            <a:off x="2772918" y="2907792"/>
            <a:ext cx="2103120" cy="2743200"/>
          </a:xfrm>
          <a:prstGeom prst="roundRect">
            <a:avLst>
              <a:gd name="adj" fmla="val 5217"/>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21" name="Role badge 02"/>
          <p:cNvSpPr/>
          <p:nvPr/>
        </p:nvSpPr>
        <p:spPr>
          <a:xfrm>
            <a:off x="2891789" y="3026664"/>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i="0">
                <a:solidFill>
                  <a:srgbClr val="FFFFFF"/>
                </a:solidFill>
              </a:rPr>
              <a:t>02</a:t>
            </a:r>
            <a:endParaRPr sz="1200"/>
          </a:p>
        </p:txBody>
      </p:sp>
      <p:sp>
        <p:nvSpPr>
          <p:cNvPr id="22" name="Role title 02"/>
          <p:cNvSpPr txBox="1"/>
          <p:nvPr/>
        </p:nvSpPr>
        <p:spPr>
          <a:xfrm>
            <a:off x="3412998" y="3035808"/>
            <a:ext cx="1371599" cy="457200"/>
          </a:xfrm>
          <a:prstGeom prst="rect">
            <a:avLst/>
          </a:prstGeom>
          <a:noFill/>
        </p:spPr>
        <p:txBody>
          <a:bodyPr wrap="square" anchor="ctr" lIns="0" tIns="0" rIns="0" bIns="0">
            <a:noAutofit/>
          </a:bodyPr>
          <a:lstStyle/>
          <a:p>
            <a:pPr algn="l"/>
            <a:r>
              <a:rPr sz="1300" b="1" i="0">
                <a:solidFill>
                  <a:srgbClr val="0C2D36"/>
                </a:solidFill>
              </a:rPr>
              <a:t>Set the depth</a:t>
            </a:r>
            <a:endParaRPr sz="1200"/>
          </a:p>
        </p:txBody>
      </p:sp>
      <p:sp>
        <p:nvSpPr>
          <p:cNvPr id="23" name="Role 02 component C3 Depth planner"/>
          <p:cNvSpPr/>
          <p:nvPr/>
        </p:nvSpPr>
        <p:spPr>
          <a:xfrm>
            <a:off x="2919222" y="3593592"/>
            <a:ext cx="1810511" cy="246888"/>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C3 Depth planner</a:t>
            </a:r>
            <a:endParaRPr sz="1000"/>
          </a:p>
        </p:txBody>
      </p:sp>
      <p:sp>
        <p:nvSpPr>
          <p:cNvPr id="24" name="Role 02 how"/>
          <p:cNvSpPr txBox="1"/>
          <p:nvPr/>
        </p:nvSpPr>
        <p:spPr>
          <a:xfrm>
            <a:off x="2919222" y="4572000"/>
            <a:ext cx="1828799" cy="786384"/>
          </a:xfrm>
          <a:prstGeom prst="rect">
            <a:avLst/>
          </a:prstGeom>
          <a:noFill/>
        </p:spPr>
        <p:txBody>
          <a:bodyPr wrap="square" anchor="t" lIns="0" tIns="0" rIns="0" bIns="0">
            <a:noAutofit/>
          </a:bodyPr>
          <a:lstStyle/>
          <a:p>
            <a:pPr algn="l"/>
            <a:r>
              <a:rPr sz="1000" b="0" i="0">
                <a:solidFill>
                  <a:srgbClr val="43535F"/>
                </a:solidFill>
              </a:rPr>
              <a:t>The tier and three modifiers set the mandatory source families, request caps, Gemini budget and stop rules. Every family ends with a Coverage Log status.</a:t>
            </a:r>
            <a:endParaRPr sz="1200"/>
          </a:p>
        </p:txBody>
      </p:sp>
      <p:sp>
        <p:nvSpPr>
          <p:cNvPr id="25" name="Role 03"/>
          <p:cNvSpPr/>
          <p:nvPr/>
        </p:nvSpPr>
        <p:spPr>
          <a:xfrm>
            <a:off x="5042916" y="2907792"/>
            <a:ext cx="2103120" cy="2743200"/>
          </a:xfrm>
          <a:prstGeom prst="roundRect">
            <a:avLst>
              <a:gd name="adj" fmla="val 5217"/>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26" name="Role badge 03"/>
          <p:cNvSpPr/>
          <p:nvPr/>
        </p:nvSpPr>
        <p:spPr>
          <a:xfrm>
            <a:off x="5161788" y="3026664"/>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i="0">
                <a:solidFill>
                  <a:srgbClr val="FFFFFF"/>
                </a:solidFill>
              </a:rPr>
              <a:t>03</a:t>
            </a:r>
            <a:endParaRPr sz="1200"/>
          </a:p>
        </p:txBody>
      </p:sp>
      <p:sp>
        <p:nvSpPr>
          <p:cNvPr id="27" name="Role title 03"/>
          <p:cNvSpPr txBox="1"/>
          <p:nvPr/>
        </p:nvSpPr>
        <p:spPr>
          <a:xfrm>
            <a:off x="5682996" y="3035808"/>
            <a:ext cx="1371599" cy="457200"/>
          </a:xfrm>
          <a:prstGeom prst="rect">
            <a:avLst/>
          </a:prstGeom>
          <a:noFill/>
        </p:spPr>
        <p:txBody>
          <a:bodyPr wrap="square" anchor="ctr" lIns="0" tIns="0" rIns="0" bIns="0">
            <a:noAutofit/>
          </a:bodyPr>
          <a:lstStyle/>
          <a:p>
            <a:pPr algn="l"/>
            <a:r>
              <a:rPr sz="1300" b="1" i="0">
                <a:solidFill>
                  <a:srgbClr val="0C2D36"/>
                </a:solidFill>
              </a:rPr>
              <a:t>Identify the sources</a:t>
            </a:r>
            <a:endParaRPr sz="1200"/>
          </a:p>
        </p:txBody>
      </p:sp>
      <p:sp>
        <p:nvSpPr>
          <p:cNvPr id="28" name="Role 03 component C4 Discovery"/>
          <p:cNvSpPr/>
          <p:nvPr/>
        </p:nvSpPr>
        <p:spPr>
          <a:xfrm>
            <a:off x="5189220" y="3593592"/>
            <a:ext cx="1810511" cy="246888"/>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C4 Discovery</a:t>
            </a:r>
            <a:endParaRPr sz="1000"/>
          </a:p>
        </p:txBody>
      </p:sp>
      <p:sp>
        <p:nvSpPr>
          <p:cNvPr id="29" name="Role 03 component C5 Capture"/>
          <p:cNvSpPr/>
          <p:nvPr/>
        </p:nvSpPr>
        <p:spPr>
          <a:xfrm>
            <a:off x="5189220" y="3895344"/>
            <a:ext cx="1810511" cy="246888"/>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C5 Capture</a:t>
            </a:r>
            <a:endParaRPr sz="1000"/>
          </a:p>
        </p:txBody>
      </p:sp>
      <p:sp>
        <p:nvSpPr>
          <p:cNvPr id="30" name="Role 03 how"/>
          <p:cNvSpPr txBox="1"/>
          <p:nvPr/>
        </p:nvSpPr>
        <p:spPr>
          <a:xfrm>
            <a:off x="5189220" y="4572000"/>
            <a:ext cx="1828799" cy="786384"/>
          </a:xfrm>
          <a:prstGeom prst="rect">
            <a:avLst/>
          </a:prstGeom>
          <a:noFill/>
        </p:spPr>
        <p:txBody>
          <a:bodyPr wrap="square" anchor="t" lIns="0" tIns="0" rIns="0" bIns="0">
            <a:noAutofit/>
          </a:bodyPr>
          <a:lstStyle/>
          <a:p>
            <a:pPr algn="l"/>
            <a:r>
              <a:rPr sz="1000" b="0" i="0">
                <a:solidFill>
                  <a:srgbClr val="43535F"/>
                </a:solidFill>
              </a:rPr>
              <a:t>Our own discovery, no search-engine scraping: SEC, DNS, job APIs, sitemaps, WordPress REST, Wayback. Terms, robots and rate limits before every GET.</a:t>
            </a:r>
            <a:endParaRPr sz="1200"/>
          </a:p>
        </p:txBody>
      </p:sp>
      <p:sp>
        <p:nvSpPr>
          <p:cNvPr id="31" name="Role 04"/>
          <p:cNvSpPr/>
          <p:nvPr/>
        </p:nvSpPr>
        <p:spPr>
          <a:xfrm>
            <a:off x="7312914" y="2907792"/>
            <a:ext cx="2103120" cy="2743200"/>
          </a:xfrm>
          <a:prstGeom prst="roundRect">
            <a:avLst>
              <a:gd name="adj" fmla="val 5217"/>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32" name="Role badge 04"/>
          <p:cNvSpPr/>
          <p:nvPr/>
        </p:nvSpPr>
        <p:spPr>
          <a:xfrm>
            <a:off x="7431786" y="3026664"/>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i="0">
                <a:solidFill>
                  <a:srgbClr val="FFFFFF"/>
                </a:solidFill>
              </a:rPr>
              <a:t>04</a:t>
            </a:r>
            <a:endParaRPr sz="1200"/>
          </a:p>
        </p:txBody>
      </p:sp>
      <p:sp>
        <p:nvSpPr>
          <p:cNvPr id="33" name="Role title 04"/>
          <p:cNvSpPr txBox="1"/>
          <p:nvPr/>
        </p:nvSpPr>
        <p:spPr>
          <a:xfrm>
            <a:off x="7952994" y="3035808"/>
            <a:ext cx="1371599" cy="457200"/>
          </a:xfrm>
          <a:prstGeom prst="rect">
            <a:avLst/>
          </a:prstGeom>
          <a:noFill/>
        </p:spPr>
        <p:txBody>
          <a:bodyPr wrap="square" anchor="ctr" lIns="0" tIns="0" rIns="0" bIns="0">
            <a:noAutofit/>
          </a:bodyPr>
          <a:lstStyle/>
          <a:p>
            <a:pPr algn="l"/>
            <a:r>
              <a:rPr sz="1300" b="1" i="0">
                <a:solidFill>
                  <a:srgbClr val="0C2D36"/>
                </a:solidFill>
              </a:rPr>
              <a:t>Build the capability</a:t>
            </a:r>
            <a:endParaRPr sz="1200"/>
          </a:p>
        </p:txBody>
      </p:sp>
      <p:sp>
        <p:nvSpPr>
          <p:cNvPr id="34" name="Role 04 component C6 Extraction"/>
          <p:cNvSpPr/>
          <p:nvPr/>
        </p:nvSpPr>
        <p:spPr>
          <a:xfrm>
            <a:off x="7459217" y="3593592"/>
            <a:ext cx="1810511" cy="246888"/>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C6 Extraction</a:t>
            </a:r>
            <a:endParaRPr sz="1000"/>
          </a:p>
        </p:txBody>
      </p:sp>
      <p:sp>
        <p:nvSpPr>
          <p:cNvPr id="35" name="Role 04 component C7 Signals"/>
          <p:cNvSpPr/>
          <p:nvPr/>
        </p:nvSpPr>
        <p:spPr>
          <a:xfrm>
            <a:off x="7459217" y="3895344"/>
            <a:ext cx="1810511" cy="246888"/>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C7 Signals</a:t>
            </a:r>
            <a:endParaRPr sz="1000"/>
          </a:p>
        </p:txBody>
      </p:sp>
      <p:sp>
        <p:nvSpPr>
          <p:cNvPr id="36" name="Role 04 component C8 Verdict"/>
          <p:cNvSpPr/>
          <p:nvPr/>
        </p:nvSpPr>
        <p:spPr>
          <a:xfrm>
            <a:off x="7459217" y="4197096"/>
            <a:ext cx="1810511" cy="246888"/>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C8 Verdict</a:t>
            </a:r>
            <a:endParaRPr sz="1000"/>
          </a:p>
        </p:txBody>
      </p:sp>
      <p:sp>
        <p:nvSpPr>
          <p:cNvPr id="37" name="Role 04 how"/>
          <p:cNvSpPr txBox="1"/>
          <p:nvPr/>
        </p:nvSpPr>
        <p:spPr>
          <a:xfrm>
            <a:off x="7459217" y="4572000"/>
            <a:ext cx="1828799" cy="786384"/>
          </a:xfrm>
          <a:prstGeom prst="rect">
            <a:avLst/>
          </a:prstGeom>
          <a:noFill/>
        </p:spPr>
        <p:txBody>
          <a:bodyPr wrap="square" anchor="t" lIns="0" tIns="0" rIns="0" bIns="0">
            <a:noAutofit/>
          </a:bodyPr>
          <a:lstStyle/>
          <a:p>
            <a:pPr algn="l"/>
            <a:r>
              <a:rPr sz="1000" b="0" i="0">
                <a:solidFill>
                  <a:srgbClr val="43535F"/>
                </a:solidFill>
              </a:rPr>
              <a:t>Rules and Gemini propose claims; code verifies exact quotes (V1–V9), assigns transparent tags and applies verdict rules a–f.</a:t>
            </a:r>
            <a:endParaRPr sz="1200"/>
          </a:p>
        </p:txBody>
      </p:sp>
      <p:sp>
        <p:nvSpPr>
          <p:cNvPr id="38" name="Role 04 checkpoint"/>
          <p:cNvSpPr/>
          <p:nvPr/>
        </p:nvSpPr>
        <p:spPr>
          <a:xfrm>
            <a:off x="7459217" y="5285231"/>
            <a:ext cx="1810511" cy="256032"/>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C2D36"/>
                </a:solidFill>
              </a:rPr>
              <a:t>HC2 evidence reviewed</a:t>
            </a:r>
            <a:endParaRPr sz="1000"/>
          </a:p>
        </p:txBody>
      </p:sp>
      <p:sp>
        <p:nvSpPr>
          <p:cNvPr id="39" name="Role 05"/>
          <p:cNvSpPr/>
          <p:nvPr/>
        </p:nvSpPr>
        <p:spPr>
          <a:xfrm>
            <a:off x="9582912" y="2907792"/>
            <a:ext cx="2103120" cy="2743200"/>
          </a:xfrm>
          <a:prstGeom prst="roundRect">
            <a:avLst>
              <a:gd name="adj" fmla="val 5217"/>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40" name="Role badge 05"/>
          <p:cNvSpPr/>
          <p:nvPr/>
        </p:nvSpPr>
        <p:spPr>
          <a:xfrm>
            <a:off x="9701784" y="3026664"/>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i="0">
                <a:solidFill>
                  <a:srgbClr val="FFFFFF"/>
                </a:solidFill>
              </a:rPr>
              <a:t>05</a:t>
            </a:r>
            <a:endParaRPr sz="1200"/>
          </a:p>
        </p:txBody>
      </p:sp>
      <p:sp>
        <p:nvSpPr>
          <p:cNvPr id="41" name="Role title 05"/>
          <p:cNvSpPr txBox="1"/>
          <p:nvPr/>
        </p:nvSpPr>
        <p:spPr>
          <a:xfrm>
            <a:off x="10222992" y="3035808"/>
            <a:ext cx="1371599" cy="457200"/>
          </a:xfrm>
          <a:prstGeom prst="rect">
            <a:avLst/>
          </a:prstGeom>
          <a:noFill/>
        </p:spPr>
        <p:txBody>
          <a:bodyPr wrap="square" anchor="ctr" lIns="0" tIns="0" rIns="0" bIns="0">
            <a:noAutofit/>
          </a:bodyPr>
          <a:lstStyle/>
          <a:p>
            <a:pPr algn="l"/>
            <a:r>
              <a:rPr sz="1300" b="1" i="0">
                <a:solidFill>
                  <a:srgbClr val="0C2D36"/>
                </a:solidFill>
              </a:rPr>
              <a:t>Surface the risk</a:t>
            </a:r>
            <a:endParaRPr sz="1200"/>
          </a:p>
        </p:txBody>
      </p:sp>
      <p:sp>
        <p:nvSpPr>
          <p:cNvPr id="42" name="Role 05 component C9 Risk"/>
          <p:cNvSpPr/>
          <p:nvPr/>
        </p:nvSpPr>
        <p:spPr>
          <a:xfrm>
            <a:off x="9729216" y="3593592"/>
            <a:ext cx="1810511" cy="246888"/>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C9 Risk</a:t>
            </a:r>
            <a:endParaRPr sz="1000"/>
          </a:p>
        </p:txBody>
      </p:sp>
      <p:sp>
        <p:nvSpPr>
          <p:cNvPr id="43" name="Role 05 component C10 Compose"/>
          <p:cNvSpPr/>
          <p:nvPr/>
        </p:nvSpPr>
        <p:spPr>
          <a:xfrm>
            <a:off x="9729216" y="3895344"/>
            <a:ext cx="1810511" cy="246888"/>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C10 Compose</a:t>
            </a:r>
            <a:endParaRPr sz="1000"/>
          </a:p>
        </p:txBody>
      </p:sp>
      <p:sp>
        <p:nvSpPr>
          <p:cNvPr id="44" name="Role 05 how"/>
          <p:cNvSpPr txBox="1"/>
          <p:nvPr/>
        </p:nvSpPr>
        <p:spPr>
          <a:xfrm>
            <a:off x="9729216" y="4572000"/>
            <a:ext cx="1828799" cy="786384"/>
          </a:xfrm>
          <a:prstGeom prst="rect">
            <a:avLst/>
          </a:prstGeom>
          <a:noFill/>
        </p:spPr>
        <p:txBody>
          <a:bodyPr wrap="square" anchor="t" lIns="0" tIns="0" rIns="0" bIns="0">
            <a:noAutofit/>
          </a:bodyPr>
          <a:lstStyle/>
          <a:p>
            <a:pPr algn="l"/>
            <a:r>
              <a:rPr sz="1000" b="0" i="0">
                <a:solidFill>
                  <a:srgbClr val="43535F"/>
                </a:solidFill>
              </a:rPr>
              <a:t>ARP = 2E + 2K + TP + TG with a materiality gate, escalators and a verdict cap, then playbook actions and the L–V cells.</a:t>
            </a:r>
            <a:endParaRPr sz="1200"/>
          </a:p>
        </p:txBody>
      </p:sp>
      <p:sp>
        <p:nvSpPr>
          <p:cNvPr id="45" name="Outcome map"/>
          <p:cNvSpPr txBox="1"/>
          <p:nvPr/>
        </p:nvSpPr>
        <p:spPr>
          <a:xfrm>
            <a:off x="502920" y="5852160"/>
            <a:ext cx="11183112" cy="365760"/>
          </a:xfrm>
          <a:prstGeom prst="rect">
            <a:avLst/>
          </a:prstGeom>
          <a:noFill/>
        </p:spPr>
        <p:txBody>
          <a:bodyPr wrap="square" anchor="t" lIns="0" tIns="0" rIns="0" bIns="0">
            <a:noAutofit/>
          </a:bodyPr>
          <a:lstStyle/>
          <a:p>
            <a:pPr algn="l"/>
            <a:r>
              <a:rPr sz="1100" b="1" i="0">
                <a:solidFill>
                  <a:srgbClr val="0C2D36"/>
                </a:solidFill>
              </a:rPr>
              <a:t>Where each outcome is covered:  </a:t>
            </a:r>
            <a:r>
              <a:rPr sz="1100" b="0" i="0">
                <a:solidFill>
                  <a:srgbClr val="43535F"/>
                </a:solidFill>
              </a:rPr>
              <a:t>O1 functional design, slide 4 · O2 architecture, 5 · O3 sources and weight, 6–8 · O4 criticality and depth, 9–10 · O5 working demo, 12</a:t>
            </a:r>
            <a:endParaRPr sz="120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10896"/>
            <a:ext cx="9509760" cy="640080"/>
          </a:xfrm>
        </p:spPr>
        <p:txBody>
          <a:bodyPr wrap="square" anchor="b" lIns="0" tIns="0" rIns="0" bIns="0">
            <a:noAutofit/>
          </a:bodyPr>
          <a:lstStyle/>
          <a:p>
            <a:pPr algn="l"/>
            <a:r>
              <a:rPr sz="3000" b="1" i="0">
                <a:solidFill>
                  <a:srgbClr val="0C2D36"/>
                </a:solidFill>
              </a:rPr>
              <a:t>Functional design: from OSINT collection to risk output</a:t>
            </a:r>
            <a:endParaRPr sz="1200"/>
          </a:p>
        </p:txBody>
      </p:sp>
      <p:sp>
        <p:nvSpPr>
          <p:cNvPr id="3" name="Corner tag"/>
          <p:cNvSpPr/>
          <p:nvPr/>
        </p:nvSpPr>
        <p:spPr>
          <a:xfrm>
            <a:off x="10241280" y="457200"/>
            <a:ext cx="1444752" cy="310896"/>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OUTCOME 01</a:t>
            </a:r>
            <a:endParaRPr sz="1000"/>
          </a:p>
        </p:txBody>
      </p:sp>
      <p:sp>
        <p:nvSpPr>
          <p:cNvPr id="4" name="Kicker"/>
          <p:cNvSpPr txBox="1"/>
          <p:nvPr/>
        </p:nvSpPr>
        <p:spPr>
          <a:xfrm>
            <a:off x="502920" y="987552"/>
            <a:ext cx="11183112" cy="502920"/>
          </a:xfrm>
          <a:prstGeom prst="rect">
            <a:avLst/>
          </a:prstGeom>
          <a:noFill/>
        </p:spPr>
        <p:txBody>
          <a:bodyPr wrap="square" anchor="t" lIns="0" tIns="0" rIns="0" bIns="0">
            <a:noAutofit/>
          </a:bodyPr>
          <a:lstStyle/>
          <a:p>
            <a:pPr algn="l"/>
            <a:r>
              <a:rPr sz="1500" b="0" i="0">
                <a:solidFill>
                  <a:srgbClr val="0A5E5D"/>
                </a:solidFill>
              </a:rPr>
              <a:t>Ten components run once per vendor. Gemini sits behind a payload guard; analysts gate the tier (HC1) and the evidence (HC2).</a:t>
            </a:r>
            <a:endParaRPr sz="1200"/>
          </a:p>
        </p:txBody>
      </p:sp>
      <p:sp>
        <p:nvSpPr>
          <p:cNvPr id="5"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66757F"/>
                </a:solidFill>
              </a:rPr>
              <a:t>Team Osprey · Vendor AI footprint · Confidential case-study material, not for distribution</a:t>
            </a:r>
            <a:endParaRPr sz="1200"/>
          </a:p>
        </p:txBody>
      </p:sp>
      <p:sp>
        <p:nvSpPr>
          <p:cNvPr id="6" name="Slide number"/>
          <p:cNvSpPr txBox="1"/>
          <p:nvPr/>
        </p:nvSpPr>
        <p:spPr>
          <a:xfrm>
            <a:off x="10954512" y="6437376"/>
            <a:ext cx="731520" cy="256032"/>
          </a:xfrm>
          <a:prstGeom prst="rect">
            <a:avLst/>
          </a:prstGeom>
          <a:noFill/>
        </p:spPr>
        <p:txBody>
          <a:bodyPr wrap="square" anchor="ctr" lIns="0" tIns="0" rIns="0" bIns="0">
            <a:noAutofit/>
          </a:bodyPr>
          <a:lstStyle/>
          <a:p>
            <a:pPr algn="r"/>
            <a:fld id="{26DECEB7-2E46-5929-9DF5-FBD893D88A63}" type="slidenum">
              <a:rPr lang="en-GB" sz="1000" dirty="0">
                <a:solidFill>
                  <a:srgbClr val="66757F"/>
                </a:solidFill>
              </a:rPr>
              <a:t>4</a:t>
            </a:fld>
            <a:endParaRPr sz="1200"/>
          </a:p>
        </p:txBody>
      </p:sp>
      <p:sp>
        <p:nvSpPr>
          <p:cNvPr id="7" name="Input workbook"/>
          <p:cNvSpPr/>
          <p:nvPr/>
        </p:nvSpPr>
        <p:spPr>
          <a:xfrm>
            <a:off x="502920" y="1664208"/>
            <a:ext cx="1143000" cy="960120"/>
          </a:xfrm>
          <a:prstGeom prst="flowChartDocument">
            <a:avLst/>
          </a:prstGeom>
          <a:solidFill>
            <a:srgbClr val="F1F5F7"/>
          </a:solidFill>
          <a:ln w="12700">
            <a:solidFill>
              <a:srgbClr val="4F5F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54864" bIns="128016">
            <a:noAutofit/>
          </a:bodyPr>
          <a:lstStyle/>
          <a:p>
            <a:pPr algn="l"/>
            <a:r>
              <a:rPr sz="1100" b="1" i="0">
                <a:solidFill>
                  <a:srgbClr val="0C2D36"/>
                </a:solidFill>
              </a:rPr>
              <a:t>Vendor workbook</a:t>
            </a:r>
            <a:endParaRPr sz="1200"/>
          </a:p>
          <a:p>
            <a:pPr algn="l"/>
            <a:r>
              <a:rPr sz="1000" b="0" i="0">
                <a:solidFill>
                  <a:srgbClr val="43535F"/>
                </a:solidFill>
              </a:rPr>
              <a:t>.xlsx upload, profiles B–K</a:t>
            </a:r>
            <a:endParaRPr sz="1200"/>
          </a:p>
        </p:txBody>
      </p:sp>
      <p:sp>
        <p:nvSpPr>
          <p:cNvPr id="8" name="C1 Intake &amp; validate"/>
          <p:cNvSpPr/>
          <p:nvPr/>
        </p:nvSpPr>
        <p:spPr>
          <a:xfrm>
            <a:off x="1970532" y="1664208"/>
            <a:ext cx="1463040" cy="960120"/>
          </a:xfrm>
          <a:prstGeom prst="roundRect">
            <a:avLst>
              <a:gd name="adj" fmla="val 7619"/>
            </a:avLst>
          </a:prstGeom>
          <a:solidFill>
            <a:srgbClr val="E3F2F0"/>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54864">
            <a:noAutofit/>
          </a:bodyPr>
          <a:lstStyle/>
          <a:p>
            <a:pPr algn="l"/>
            <a:r>
              <a:rPr sz="1000" b="1" i="0">
                <a:solidFill>
                  <a:srgbClr val="0A5E5D"/>
                </a:solidFill>
              </a:rPr>
              <a:t>C1</a:t>
            </a:r>
            <a:endParaRPr sz="1200"/>
          </a:p>
          <a:p>
            <a:pPr algn="l"/>
            <a:r>
              <a:rPr sz="1200" b="1" i="0">
                <a:solidFill>
                  <a:srgbClr val="0C2D36"/>
                </a:solidFill>
              </a:rPr>
              <a:t>Intake &amp; validate</a:t>
            </a:r>
            <a:endParaRPr sz="1200"/>
          </a:p>
          <a:p>
            <a:pPr algn="l">
              <a:spcBef>
                <a:spcPts val="200"/>
              </a:spcBef>
            </a:pPr>
            <a:r>
              <a:rPr sz="1000" b="0" i="0">
                <a:solidFill>
                  <a:srgbClr val="43535F"/>
                </a:solidFill>
              </a:rPr>
              <a:t>header aliases, cream-cell map, skip V-000</a:t>
            </a:r>
            <a:endParaRPr sz="1200"/>
          </a:p>
        </p:txBody>
      </p:sp>
      <p:sp>
        <p:nvSpPr>
          <p:cNvPr id="9" name="C2 Criticality"/>
          <p:cNvSpPr/>
          <p:nvPr/>
        </p:nvSpPr>
        <p:spPr>
          <a:xfrm>
            <a:off x="3758184" y="1664208"/>
            <a:ext cx="1463040" cy="960120"/>
          </a:xfrm>
          <a:prstGeom prst="roundRect">
            <a:avLst>
              <a:gd name="adj" fmla="val 7619"/>
            </a:avLst>
          </a:prstGeom>
          <a:solidFill>
            <a:srgbClr val="E3F2F0"/>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54864">
            <a:noAutofit/>
          </a:bodyPr>
          <a:lstStyle/>
          <a:p>
            <a:pPr algn="l"/>
            <a:r>
              <a:rPr sz="1000" b="1" i="0">
                <a:solidFill>
                  <a:srgbClr val="0A5E5D"/>
                </a:solidFill>
              </a:rPr>
              <a:t>C2</a:t>
            </a:r>
            <a:endParaRPr sz="1200"/>
          </a:p>
          <a:p>
            <a:pPr algn="l"/>
            <a:r>
              <a:rPr sz="1200" b="1" i="0">
                <a:solidFill>
                  <a:srgbClr val="0C2D36"/>
                </a:solidFill>
              </a:rPr>
              <a:t>Criticality</a:t>
            </a:r>
            <a:endParaRPr sz="1200"/>
          </a:p>
          <a:p>
            <a:pPr algn="l">
              <a:spcBef>
                <a:spcPts val="200"/>
              </a:spcBef>
            </a:pPr>
            <a:r>
              <a:rPr sz="1000" b="0" i="0">
                <a:solidFill>
                  <a:srgbClr val="43535F"/>
                </a:solidFill>
              </a:rPr>
              <a:t>rubric on columns B–K, floors, sensitivity</a:t>
            </a:r>
            <a:endParaRPr sz="1200"/>
          </a:p>
        </p:txBody>
      </p:sp>
      <p:sp>
        <p:nvSpPr>
          <p:cNvPr id="10" name="HC1 checkpoint"/>
          <p:cNvSpPr/>
          <p:nvPr/>
        </p:nvSpPr>
        <p:spPr>
          <a:xfrm>
            <a:off x="5545836" y="1755648"/>
            <a:ext cx="777240" cy="777240"/>
          </a:xfrm>
          <a:prstGeom prst="diamond">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100" b="1" i="0">
                <a:solidFill>
                  <a:srgbClr val="0C2D36"/>
                </a:solidFill>
              </a:rPr>
              <a:t>HC1</a:t>
            </a:r>
            <a:endParaRPr sz="1200"/>
          </a:p>
        </p:txBody>
      </p:sp>
      <p:sp>
        <p:nvSpPr>
          <p:cNvPr id="11" name="C3 Depth planner"/>
          <p:cNvSpPr/>
          <p:nvPr/>
        </p:nvSpPr>
        <p:spPr>
          <a:xfrm>
            <a:off x="6647688" y="1664208"/>
            <a:ext cx="1463040" cy="960120"/>
          </a:xfrm>
          <a:prstGeom prst="roundRect">
            <a:avLst>
              <a:gd name="adj" fmla="val 7619"/>
            </a:avLst>
          </a:prstGeom>
          <a:solidFill>
            <a:srgbClr val="E3F2F0"/>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54864">
            <a:noAutofit/>
          </a:bodyPr>
          <a:lstStyle/>
          <a:p>
            <a:pPr algn="l"/>
            <a:r>
              <a:rPr sz="1000" b="1" i="0">
                <a:solidFill>
                  <a:srgbClr val="0A5E5D"/>
                </a:solidFill>
              </a:rPr>
              <a:t>C3</a:t>
            </a:r>
            <a:endParaRPr sz="1200"/>
          </a:p>
          <a:p>
            <a:pPr algn="l"/>
            <a:r>
              <a:rPr sz="1200" b="1" i="0">
                <a:solidFill>
                  <a:srgbClr val="0C2D36"/>
                </a:solidFill>
              </a:rPr>
              <a:t>Depth planner</a:t>
            </a:r>
            <a:endParaRPr sz="1200"/>
          </a:p>
          <a:p>
            <a:pPr algn="l">
              <a:spcBef>
                <a:spcPts val="200"/>
              </a:spcBef>
            </a:pPr>
            <a:r>
              <a:rPr sz="1000" b="0" i="0">
                <a:solidFill>
                  <a:srgbClr val="43535F"/>
                </a:solidFill>
              </a:rPr>
              <a:t>families, caps, budgets, stop rules</a:t>
            </a:r>
            <a:endParaRPr sz="1200"/>
          </a:p>
        </p:txBody>
      </p:sp>
      <p:sp>
        <p:nvSpPr>
          <p:cNvPr id="12" name="C4 Discovery"/>
          <p:cNvSpPr/>
          <p:nvPr/>
        </p:nvSpPr>
        <p:spPr>
          <a:xfrm>
            <a:off x="8435340" y="1664208"/>
            <a:ext cx="1463040" cy="960120"/>
          </a:xfrm>
          <a:prstGeom prst="roundRect">
            <a:avLst>
              <a:gd name="adj" fmla="val 7619"/>
            </a:avLst>
          </a:prstGeom>
          <a:solidFill>
            <a:srgbClr val="E3F2F0"/>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54864">
            <a:noAutofit/>
          </a:bodyPr>
          <a:lstStyle/>
          <a:p>
            <a:pPr algn="l"/>
            <a:r>
              <a:rPr sz="1000" b="1" i="0">
                <a:solidFill>
                  <a:srgbClr val="0A5E5D"/>
                </a:solidFill>
              </a:rPr>
              <a:t>C4</a:t>
            </a:r>
            <a:endParaRPr sz="1200"/>
          </a:p>
          <a:p>
            <a:pPr algn="l"/>
            <a:r>
              <a:rPr sz="1200" b="1" i="0">
                <a:solidFill>
                  <a:srgbClr val="0C2D36"/>
                </a:solidFill>
              </a:rPr>
              <a:t>Discovery</a:t>
            </a:r>
            <a:endParaRPr sz="1200"/>
          </a:p>
          <a:p>
            <a:pPr algn="l">
              <a:spcBef>
                <a:spcPts val="200"/>
              </a:spcBef>
            </a:pPr>
            <a:r>
              <a:rPr sz="1000" b="0" i="0">
                <a:solidFill>
                  <a:srgbClr val="43535F"/>
                </a:solidFill>
              </a:rPr>
              <a:t>seeds, DNS, sitemaps, SEC, ATS, Wayback</a:t>
            </a:r>
            <a:endParaRPr sz="1200"/>
          </a:p>
        </p:txBody>
      </p:sp>
      <p:sp>
        <p:nvSpPr>
          <p:cNvPr id="13" name="C5 Compliant capture"/>
          <p:cNvSpPr/>
          <p:nvPr/>
        </p:nvSpPr>
        <p:spPr>
          <a:xfrm>
            <a:off x="10222992" y="1664208"/>
            <a:ext cx="1463040" cy="960120"/>
          </a:xfrm>
          <a:prstGeom prst="roundRect">
            <a:avLst>
              <a:gd name="adj" fmla="val 7619"/>
            </a:avLst>
          </a:prstGeom>
          <a:solidFill>
            <a:srgbClr val="E3F2F0"/>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54864">
            <a:noAutofit/>
          </a:bodyPr>
          <a:lstStyle/>
          <a:p>
            <a:pPr algn="l"/>
            <a:r>
              <a:rPr sz="1000" b="1" i="0">
                <a:solidFill>
                  <a:srgbClr val="0A5E5D"/>
                </a:solidFill>
              </a:rPr>
              <a:t>C5</a:t>
            </a:r>
            <a:endParaRPr sz="1200"/>
          </a:p>
          <a:p>
            <a:pPr algn="l"/>
            <a:r>
              <a:rPr sz="1200" b="1" i="0">
                <a:solidFill>
                  <a:srgbClr val="0C2D36"/>
                </a:solidFill>
              </a:rPr>
              <a:t>Compliant capture</a:t>
            </a:r>
            <a:endParaRPr sz="1200"/>
          </a:p>
          <a:p>
            <a:pPr algn="l">
              <a:spcBef>
                <a:spcPts val="200"/>
              </a:spcBef>
            </a:pPr>
            <a:r>
              <a:rPr sz="1000" b="0" i="0">
                <a:solidFill>
                  <a:srgbClr val="43535F"/>
                </a:solidFill>
              </a:rPr>
              <a:t>ToS → robots → rate limit → GET</a:t>
            </a:r>
            <a:endParaRPr sz="1200"/>
          </a:p>
        </p:txBody>
      </p:sp>
      <p:sp>
        <p:nvSpPr>
          <p:cNvPr id="14" name="Output workbook"/>
          <p:cNvSpPr/>
          <p:nvPr/>
        </p:nvSpPr>
        <p:spPr>
          <a:xfrm>
            <a:off x="502920" y="3922776"/>
            <a:ext cx="1143000" cy="960120"/>
          </a:xfrm>
          <a:prstGeom prst="flowChartDocument">
            <a:avLst/>
          </a:prstGeom>
          <a:solidFill>
            <a:srgbClr val="F1F5F7"/>
          </a:solidFill>
          <a:ln w="12700">
            <a:solidFill>
              <a:srgbClr val="4F5F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36576" rIns="54864" bIns="128016">
            <a:noAutofit/>
          </a:bodyPr>
          <a:lstStyle/>
          <a:p>
            <a:pPr algn="l"/>
            <a:r>
              <a:rPr sz="1100" b="1" i="0">
                <a:solidFill>
                  <a:srgbClr val="0C2D36"/>
                </a:solidFill>
              </a:rPr>
              <a:t>Completed workbook</a:t>
            </a:r>
            <a:endParaRPr sz="1200"/>
          </a:p>
          <a:p>
            <a:pPr algn="l"/>
            <a:r>
              <a:rPr sz="1000" b="0" i="0">
                <a:solidFill>
                  <a:srgbClr val="43535F"/>
                </a:solidFill>
              </a:rPr>
              <a:t>L–V + Evidence &amp; Coverage Log</a:t>
            </a:r>
            <a:endParaRPr sz="1200"/>
          </a:p>
        </p:txBody>
      </p:sp>
      <p:sp>
        <p:nvSpPr>
          <p:cNvPr id="15" name="C10 Compose &amp; export"/>
          <p:cNvSpPr/>
          <p:nvPr/>
        </p:nvSpPr>
        <p:spPr>
          <a:xfrm>
            <a:off x="1970532" y="3922776"/>
            <a:ext cx="1463040" cy="960120"/>
          </a:xfrm>
          <a:prstGeom prst="roundRect">
            <a:avLst>
              <a:gd name="adj" fmla="val 7619"/>
            </a:avLst>
          </a:prstGeom>
          <a:solidFill>
            <a:srgbClr val="E3F2F0"/>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54864">
            <a:noAutofit/>
          </a:bodyPr>
          <a:lstStyle/>
          <a:p>
            <a:pPr algn="l"/>
            <a:r>
              <a:rPr sz="1000" b="1" i="0">
                <a:solidFill>
                  <a:srgbClr val="0A5E5D"/>
                </a:solidFill>
              </a:rPr>
              <a:t>C10</a:t>
            </a:r>
            <a:endParaRPr sz="1200"/>
          </a:p>
          <a:p>
            <a:pPr algn="l"/>
            <a:r>
              <a:rPr sz="1200" b="1" i="0">
                <a:solidFill>
                  <a:srgbClr val="0C2D36"/>
                </a:solidFill>
              </a:rPr>
              <a:t>Compose &amp; export</a:t>
            </a:r>
            <a:endParaRPr sz="1200"/>
          </a:p>
          <a:p>
            <a:pPr algn="l">
              <a:spcBef>
                <a:spcPts val="200"/>
              </a:spcBef>
            </a:pPr>
            <a:r>
              <a:rPr sz="1000" b="0" i="0">
                <a:solidFill>
                  <a:srgbClr val="43535F"/>
                </a:solidFill>
              </a:rPr>
              <a:t>L–V cells, Evidence &amp; Coverage Log</a:t>
            </a:r>
            <a:endParaRPr sz="1200"/>
          </a:p>
        </p:txBody>
      </p:sp>
      <p:sp>
        <p:nvSpPr>
          <p:cNvPr id="16" name="C9 Risk engine"/>
          <p:cNvSpPr/>
          <p:nvPr/>
        </p:nvSpPr>
        <p:spPr>
          <a:xfrm>
            <a:off x="3758184" y="3922776"/>
            <a:ext cx="1463040" cy="960120"/>
          </a:xfrm>
          <a:prstGeom prst="roundRect">
            <a:avLst>
              <a:gd name="adj" fmla="val 7619"/>
            </a:avLst>
          </a:prstGeom>
          <a:solidFill>
            <a:srgbClr val="E3F2F0"/>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54864">
            <a:noAutofit/>
          </a:bodyPr>
          <a:lstStyle/>
          <a:p>
            <a:pPr algn="l"/>
            <a:r>
              <a:rPr sz="1000" b="1" i="0">
                <a:solidFill>
                  <a:srgbClr val="0A5E5D"/>
                </a:solidFill>
              </a:rPr>
              <a:t>C9</a:t>
            </a:r>
            <a:endParaRPr sz="1200"/>
          </a:p>
          <a:p>
            <a:pPr algn="l"/>
            <a:r>
              <a:rPr sz="1200" b="1" i="0">
                <a:solidFill>
                  <a:srgbClr val="0C2D36"/>
                </a:solidFill>
              </a:rPr>
              <a:t>Risk engine</a:t>
            </a:r>
            <a:endParaRPr sz="1200"/>
          </a:p>
          <a:p>
            <a:pPr algn="l">
              <a:spcBef>
                <a:spcPts val="200"/>
              </a:spcBef>
            </a:pPr>
            <a:r>
              <a:rPr sz="1000" b="0" i="0">
                <a:solidFill>
                  <a:srgbClr val="43535F"/>
                </a:solidFill>
              </a:rPr>
              <a:t>E·K·TP·TG → ARP, gate, cap; actions</a:t>
            </a:r>
            <a:endParaRPr sz="1200"/>
          </a:p>
        </p:txBody>
      </p:sp>
      <p:sp>
        <p:nvSpPr>
          <p:cNvPr id="17" name="C8 AI-usage verdict"/>
          <p:cNvSpPr/>
          <p:nvPr/>
        </p:nvSpPr>
        <p:spPr>
          <a:xfrm>
            <a:off x="5545836" y="3922776"/>
            <a:ext cx="1463040" cy="960120"/>
          </a:xfrm>
          <a:prstGeom prst="roundRect">
            <a:avLst>
              <a:gd name="adj" fmla="val 7619"/>
            </a:avLst>
          </a:prstGeom>
          <a:solidFill>
            <a:srgbClr val="E3F2F0"/>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54864">
            <a:noAutofit/>
          </a:bodyPr>
          <a:lstStyle/>
          <a:p>
            <a:pPr algn="l"/>
            <a:r>
              <a:rPr sz="1000" b="1" i="0">
                <a:solidFill>
                  <a:srgbClr val="0A5E5D"/>
                </a:solidFill>
              </a:rPr>
              <a:t>C8</a:t>
            </a:r>
            <a:endParaRPr sz="1200"/>
          </a:p>
          <a:p>
            <a:pPr algn="l"/>
            <a:r>
              <a:rPr sz="1200" b="1" i="0">
                <a:solidFill>
                  <a:srgbClr val="0C2D36"/>
                </a:solidFill>
              </a:rPr>
              <a:t>AI-usage verdict</a:t>
            </a:r>
            <a:endParaRPr sz="1200"/>
          </a:p>
          <a:p>
            <a:pPr algn="l">
              <a:spcBef>
                <a:spcPts val="200"/>
              </a:spcBef>
            </a:pPr>
            <a:r>
              <a:rPr sz="1000" b="0" i="0">
                <a:solidFill>
                  <a:srgbClr val="43535F"/>
                </a:solidFill>
              </a:rPr>
              <a:t>rules a–f, ICD 203 wording</a:t>
            </a:r>
            <a:endParaRPr sz="1200"/>
          </a:p>
        </p:txBody>
      </p:sp>
      <p:sp>
        <p:nvSpPr>
          <p:cNvPr id="18" name="HC2 checkpoint"/>
          <p:cNvSpPr/>
          <p:nvPr/>
        </p:nvSpPr>
        <p:spPr>
          <a:xfrm>
            <a:off x="7333488" y="4014215"/>
            <a:ext cx="777240" cy="777240"/>
          </a:xfrm>
          <a:prstGeom prst="diamond">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100" b="1" i="0">
                <a:solidFill>
                  <a:srgbClr val="0C2D36"/>
                </a:solidFill>
              </a:rPr>
              <a:t>HC2</a:t>
            </a:r>
            <a:endParaRPr sz="1200"/>
          </a:p>
        </p:txBody>
      </p:sp>
      <p:sp>
        <p:nvSpPr>
          <p:cNvPr id="19" name="C7 Signal analysis"/>
          <p:cNvSpPr/>
          <p:nvPr/>
        </p:nvSpPr>
        <p:spPr>
          <a:xfrm>
            <a:off x="8435340" y="3922776"/>
            <a:ext cx="1463040" cy="960120"/>
          </a:xfrm>
          <a:prstGeom prst="roundRect">
            <a:avLst>
              <a:gd name="adj" fmla="val 7619"/>
            </a:avLst>
          </a:prstGeom>
          <a:solidFill>
            <a:srgbClr val="E3F2F0"/>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54864">
            <a:noAutofit/>
          </a:bodyPr>
          <a:lstStyle/>
          <a:p>
            <a:pPr algn="l"/>
            <a:r>
              <a:rPr sz="1000" b="1" i="0">
                <a:solidFill>
                  <a:srgbClr val="0A5E5D"/>
                </a:solidFill>
              </a:rPr>
              <a:t>C7</a:t>
            </a:r>
            <a:endParaRPr sz="1200"/>
          </a:p>
          <a:p>
            <a:pPr algn="l"/>
            <a:r>
              <a:rPr sz="1200" b="1" i="0">
                <a:solidFill>
                  <a:srgbClr val="0C2D36"/>
                </a:solidFill>
              </a:rPr>
              <a:t>Signal analysis</a:t>
            </a:r>
            <a:endParaRPr sz="1200"/>
          </a:p>
          <a:p>
            <a:pPr algn="l">
              <a:spcBef>
                <a:spcPts val="200"/>
              </a:spcBef>
            </a:pPr>
            <a:r>
              <a:rPr sz="1000" b="0" i="0">
                <a:solidFill>
                  <a:srgbClr val="43535F"/>
                </a:solidFill>
              </a:rPr>
              <a:t>rules ∥ Gemini claims → V1–V9 → tags</a:t>
            </a:r>
            <a:endParaRPr sz="1200"/>
          </a:p>
        </p:txBody>
      </p:sp>
      <p:sp>
        <p:nvSpPr>
          <p:cNvPr id="20" name="C6 Extraction"/>
          <p:cNvSpPr/>
          <p:nvPr/>
        </p:nvSpPr>
        <p:spPr>
          <a:xfrm>
            <a:off x="10222992" y="3922776"/>
            <a:ext cx="1463040" cy="960120"/>
          </a:xfrm>
          <a:prstGeom prst="roundRect">
            <a:avLst>
              <a:gd name="adj" fmla="val 7619"/>
            </a:avLst>
          </a:prstGeom>
          <a:solidFill>
            <a:srgbClr val="E3F2F0"/>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54864">
            <a:noAutofit/>
          </a:bodyPr>
          <a:lstStyle/>
          <a:p>
            <a:pPr algn="l"/>
            <a:r>
              <a:rPr sz="1000" b="1" i="0">
                <a:solidFill>
                  <a:srgbClr val="0A5E5D"/>
                </a:solidFill>
              </a:rPr>
              <a:t>C6</a:t>
            </a:r>
            <a:endParaRPr sz="1200"/>
          </a:p>
          <a:p>
            <a:pPr algn="l"/>
            <a:r>
              <a:rPr sz="1200" b="1" i="0">
                <a:solidFill>
                  <a:srgbClr val="0C2D36"/>
                </a:solidFill>
              </a:rPr>
              <a:t>Extraction</a:t>
            </a:r>
            <a:endParaRPr sz="1200"/>
          </a:p>
          <a:p>
            <a:pPr algn="l">
              <a:spcBef>
                <a:spcPts val="200"/>
              </a:spcBef>
            </a:pPr>
            <a:r>
              <a:rPr sz="1000" b="0" i="0">
                <a:solidFill>
                  <a:srgbClr val="43535F"/>
                </a:solidFill>
              </a:rPr>
              <a:t>dated text, sentences, lexicon passages</a:t>
            </a:r>
            <a:endParaRPr sz="1200"/>
          </a:p>
        </p:txBody>
      </p:sp>
      <p:cxnSp>
        <p:nvCxnSpPr>
          <p:cNvPr id="21" name="flow upload to C1"/>
          <p:cNvCxnSpPr>
            <a:stCxn id="7" idx="3"/>
            <a:endCxn id="8" idx="1"/>
          </p:cNvCxnSpPr>
          <p:nvPr/>
        </p:nvCxnSpPr>
        <p:spPr>
          <a:xfrm flipV="1">
            <a:off x="1645920" y="2144268"/>
            <a:ext cx="324612" cy="0"/>
          </a:xfrm>
          <a:prstGeom prst="line">
            <a:avLst/>
          </a:prstGeom>
          <a:ln w="15875">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2" name="flow C1 to C2"/>
          <p:cNvCxnSpPr>
            <a:stCxn id="8" idx="3"/>
            <a:endCxn id="9" idx="1"/>
          </p:cNvCxnSpPr>
          <p:nvPr/>
        </p:nvCxnSpPr>
        <p:spPr>
          <a:xfrm flipV="1">
            <a:off x="3433572" y="2144268"/>
            <a:ext cx="324612" cy="0"/>
          </a:xfrm>
          <a:prstGeom prst="line">
            <a:avLst/>
          </a:prstGeom>
          <a:ln w="15875">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3" name="flow C2 to HC1"/>
          <p:cNvCxnSpPr>
            <a:stCxn id="9" idx="3"/>
            <a:endCxn id="10" idx="1"/>
          </p:cNvCxnSpPr>
          <p:nvPr/>
        </p:nvCxnSpPr>
        <p:spPr>
          <a:xfrm flipV="1">
            <a:off x="5221224" y="2144268"/>
            <a:ext cx="324612" cy="0"/>
          </a:xfrm>
          <a:prstGeom prst="line">
            <a:avLst/>
          </a:prstGeom>
          <a:ln w="15875">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4" name="flow HC1 to C3"/>
          <p:cNvCxnSpPr>
            <a:stCxn id="10" idx="3"/>
            <a:endCxn id="11" idx="1"/>
          </p:cNvCxnSpPr>
          <p:nvPr/>
        </p:nvCxnSpPr>
        <p:spPr>
          <a:xfrm flipV="1">
            <a:off x="6323076" y="2144268"/>
            <a:ext cx="324612" cy="0"/>
          </a:xfrm>
          <a:prstGeom prst="line">
            <a:avLst/>
          </a:prstGeom>
          <a:ln w="15875">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 name="flow C3 to C4"/>
          <p:cNvCxnSpPr>
            <a:stCxn id="11" idx="3"/>
            <a:endCxn id="12" idx="1"/>
          </p:cNvCxnSpPr>
          <p:nvPr/>
        </p:nvCxnSpPr>
        <p:spPr>
          <a:xfrm flipV="1">
            <a:off x="8110728" y="2144268"/>
            <a:ext cx="324612" cy="0"/>
          </a:xfrm>
          <a:prstGeom prst="line">
            <a:avLst/>
          </a:prstGeom>
          <a:ln w="15875">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6" name="flow C4 to C5"/>
          <p:cNvCxnSpPr>
            <a:stCxn id="12" idx="3"/>
            <a:endCxn id="13" idx="1"/>
          </p:cNvCxnSpPr>
          <p:nvPr/>
        </p:nvCxnSpPr>
        <p:spPr>
          <a:xfrm flipV="1">
            <a:off x="9898380" y="2144268"/>
            <a:ext cx="324612" cy="0"/>
          </a:xfrm>
          <a:prstGeom prst="line">
            <a:avLst/>
          </a:prstGeom>
          <a:ln w="15875">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flow C6 to C7"/>
          <p:cNvCxnSpPr>
            <a:stCxn id="20" idx="1"/>
            <a:endCxn id="19" idx="3"/>
          </p:cNvCxnSpPr>
          <p:nvPr/>
        </p:nvCxnSpPr>
        <p:spPr>
          <a:xfrm flipH="1" flipV="1">
            <a:off x="9898380" y="4402836"/>
            <a:ext cx="324612" cy="0"/>
          </a:xfrm>
          <a:prstGeom prst="line">
            <a:avLst/>
          </a:prstGeom>
          <a:ln w="15875">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flow C7 to HC2"/>
          <p:cNvCxnSpPr>
            <a:stCxn id="19" idx="1"/>
            <a:endCxn id="18" idx="3"/>
          </p:cNvCxnSpPr>
          <p:nvPr/>
        </p:nvCxnSpPr>
        <p:spPr>
          <a:xfrm flipH="1" flipV="1">
            <a:off x="8110728" y="4402835"/>
            <a:ext cx="324612" cy="1"/>
          </a:xfrm>
          <a:prstGeom prst="line">
            <a:avLst/>
          </a:prstGeom>
          <a:ln w="15875">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flow HC2 to C8"/>
          <p:cNvCxnSpPr>
            <a:stCxn id="18" idx="1"/>
            <a:endCxn id="17" idx="3"/>
          </p:cNvCxnSpPr>
          <p:nvPr/>
        </p:nvCxnSpPr>
        <p:spPr>
          <a:xfrm flipH="1">
            <a:off x="7008876" y="4402835"/>
            <a:ext cx="324612" cy="1"/>
          </a:xfrm>
          <a:prstGeom prst="line">
            <a:avLst/>
          </a:prstGeom>
          <a:ln w="15875">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flow C8 to C9"/>
          <p:cNvCxnSpPr>
            <a:stCxn id="17" idx="1"/>
            <a:endCxn id="16" idx="3"/>
          </p:cNvCxnSpPr>
          <p:nvPr/>
        </p:nvCxnSpPr>
        <p:spPr>
          <a:xfrm flipH="1" flipV="1">
            <a:off x="5221224" y="4402836"/>
            <a:ext cx="324612" cy="0"/>
          </a:xfrm>
          <a:prstGeom prst="line">
            <a:avLst/>
          </a:prstGeom>
          <a:ln w="15875">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flow C9 to C10"/>
          <p:cNvCxnSpPr>
            <a:stCxn id="16" idx="1"/>
            <a:endCxn id="15" idx="3"/>
          </p:cNvCxnSpPr>
          <p:nvPr/>
        </p:nvCxnSpPr>
        <p:spPr>
          <a:xfrm flipH="1" flipV="1">
            <a:off x="3433572" y="4402836"/>
            <a:ext cx="324612" cy="0"/>
          </a:xfrm>
          <a:prstGeom prst="line">
            <a:avLst/>
          </a:prstGeom>
          <a:ln w="15875">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flow C10 to output"/>
          <p:cNvCxnSpPr>
            <a:stCxn id="15" idx="1"/>
            <a:endCxn id="14" idx="3"/>
          </p:cNvCxnSpPr>
          <p:nvPr/>
        </p:nvCxnSpPr>
        <p:spPr>
          <a:xfrm flipH="1" flipV="1">
            <a:off x="1645920" y="4402836"/>
            <a:ext cx="324612" cy="0"/>
          </a:xfrm>
          <a:prstGeom prst="line">
            <a:avLst/>
          </a:prstGeom>
          <a:ln w="15875">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Evidence store"/>
          <p:cNvSpPr/>
          <p:nvPr/>
        </p:nvSpPr>
        <p:spPr>
          <a:xfrm>
            <a:off x="10291572" y="2871216"/>
            <a:ext cx="1325880" cy="868680"/>
          </a:xfrm>
          <a:prstGeom prst="can">
            <a:avLst/>
          </a:prstGeom>
          <a:solidFill>
            <a:srgbClr val="F1F5F7"/>
          </a:solidFill>
          <a:ln w="12700">
            <a:solidFill>
              <a:srgbClr val="4F5F6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0" rIns="36576" bIns="27432">
            <a:noAutofit/>
          </a:bodyPr>
          <a:lstStyle/>
          <a:p>
            <a:pPr algn="ctr"/>
            <a:r>
              <a:rPr sz="1100" b="1" i="0">
                <a:solidFill>
                  <a:srgbClr val="0C2D36"/>
                </a:solidFill>
              </a:rPr>
              <a:t>Evidence store</a:t>
            </a:r>
            <a:endParaRPr sz="1200"/>
          </a:p>
          <a:p>
            <a:pPr algn="ctr"/>
            <a:r>
              <a:rPr sz="1000" b="0" i="0">
                <a:solidFill>
                  <a:srgbClr val="43535F"/>
                </a:solidFill>
              </a:rPr>
              <a:t>raw bytes + SHA-256</a:t>
            </a:r>
            <a:endParaRPr sz="1200"/>
          </a:p>
          <a:p>
            <a:pPr algn="ctr"/>
            <a:r>
              <a:rPr sz="1000" b="0" i="0">
                <a:solidFill>
                  <a:srgbClr val="43535F"/>
                </a:solidFill>
              </a:rPr>
              <a:t>UTC time, headers</a:t>
            </a:r>
            <a:endParaRPr sz="1200"/>
          </a:p>
        </p:txBody>
      </p:sp>
      <p:cxnSp>
        <p:nvCxnSpPr>
          <p:cNvPr id="34" name="capture to store"/>
          <p:cNvCxnSpPr>
            <a:stCxn id="13" idx="2"/>
            <a:endCxn id="33" idx="0"/>
          </p:cNvCxnSpPr>
          <p:nvPr/>
        </p:nvCxnSpPr>
        <p:spPr>
          <a:xfrm flipH="1">
            <a:off x="10954512" y="2624328"/>
            <a:ext cx="0" cy="246888"/>
          </a:xfrm>
          <a:prstGeom prst="line">
            <a:avLst/>
          </a:prstGeom>
          <a:ln w="15875">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store to extraction"/>
          <p:cNvCxnSpPr>
            <a:stCxn id="33" idx="2"/>
            <a:endCxn id="20" idx="0"/>
          </p:cNvCxnSpPr>
          <p:nvPr/>
        </p:nvCxnSpPr>
        <p:spPr>
          <a:xfrm flipH="1">
            <a:off x="10954512" y="3739896"/>
            <a:ext cx="0" cy="182880"/>
          </a:xfrm>
          <a:prstGeom prst="line">
            <a:avLst/>
          </a:prstGeom>
          <a:ln w="15875">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Gemini (AI proposes)"/>
          <p:cNvSpPr/>
          <p:nvPr/>
        </p:nvSpPr>
        <p:spPr>
          <a:xfrm>
            <a:off x="8435340" y="2898648"/>
            <a:ext cx="1691640" cy="804672"/>
          </a:xfrm>
          <a:prstGeom prst="roundRect">
            <a:avLst>
              <a:gd name="adj" fmla="val 9090"/>
            </a:avLst>
          </a:prstGeom>
          <a:solidFill>
            <a:srgbClr val="FFFFFF"/>
          </a:solidFill>
          <a:ln w="15875">
            <a:solidFill>
              <a:srgbClr val="0E7C7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tIns="27432" rIns="36576" bIns="27432">
            <a:noAutofit/>
          </a:bodyPr>
          <a:lstStyle/>
          <a:p>
            <a:pPr algn="ctr"/>
            <a:r>
              <a:rPr sz="1100" b="1" i="0">
                <a:solidFill>
                  <a:srgbClr val="0C2D36"/>
                </a:solidFill>
              </a:rPr>
              <a:t>Gemini</a:t>
            </a:r>
            <a:endParaRPr sz="1200"/>
          </a:p>
          <a:p>
            <a:pPr algn="ctr"/>
            <a:r>
              <a:rPr sz="1000" b="0" i="0">
                <a:solidFill>
                  <a:srgbClr val="43535F"/>
                </a:solidFill>
              </a:rPr>
              <a:t>expand · triage · extract</a:t>
            </a:r>
            <a:endParaRPr sz="1200"/>
          </a:p>
          <a:p>
            <a:pPr algn="ctr"/>
            <a:r>
              <a:rPr sz="1000" b="0" i="0">
                <a:solidFill>
                  <a:srgbClr val="43535F"/>
                </a:solidFill>
              </a:rPr>
              <a:t>public text, payload guard</a:t>
            </a:r>
            <a:endParaRPr sz="1200"/>
          </a:p>
        </p:txBody>
      </p:sp>
      <p:cxnSp>
        <p:nvCxnSpPr>
          <p:cNvPr id="37" name="C4 and Gemini"/>
          <p:cNvCxnSpPr/>
          <p:nvPr/>
        </p:nvCxnSpPr>
        <p:spPr>
          <a:xfrm>
            <a:off x="9166860" y="2624328"/>
            <a:ext cx="0" cy="274320"/>
          </a:xfrm>
          <a:prstGeom prst="line">
            <a:avLst/>
          </a:prstGeom>
          <a:ln w="15875">
            <a:solidFill>
              <a:srgbClr val="0E7C7B"/>
            </a:solidFill>
            <a:prstDash val="dash"/>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Gemini and C7"/>
          <p:cNvCxnSpPr/>
          <p:nvPr/>
        </p:nvCxnSpPr>
        <p:spPr>
          <a:xfrm>
            <a:off x="9166860" y="3703320"/>
            <a:ext cx="0" cy="219456"/>
          </a:xfrm>
          <a:prstGeom prst="line">
            <a:avLst/>
          </a:prstGeom>
          <a:ln w="15875">
            <a:solidFill>
              <a:srgbClr val="0E7C7B"/>
            </a:solidFill>
            <a:prstDash val="dash"/>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39" name="stop-rule loop"/>
          <p:cNvSpPr/>
          <p:nvPr/>
        </p:nvSpPr>
        <p:spPr>
          <a:xfrm>
            <a:off x="8273034" y="2423160"/>
            <a:ext cx="162306" cy="1700784"/>
          </a:xfrm>
          <a:custGeom>
            <a:avLst/>
            <a:gdLst/>
            <a:ahLst/>
            <a:cxnLst/>
            <a:rect l="l" t="t" r="r" b="b"/>
            <a:pathLst>
              <a:path w="162306" h="1700784">
                <a:moveTo>
                  <a:pt x="162306" y="1700784"/>
                </a:moveTo>
                <a:lnTo>
                  <a:pt x="0" y="1700784"/>
                </a:lnTo>
                <a:lnTo>
                  <a:pt x="0" y="0"/>
                </a:lnTo>
                <a:lnTo>
                  <a:pt x="162306" y="0"/>
                </a:lnTo>
              </a:path>
            </a:pathLst>
          </a:custGeom>
          <a:noFill/>
          <a:ln w="19050">
            <a:solidFill>
              <a:srgbClr val="0A5E5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top-rule loop label"/>
          <p:cNvSpPr txBox="1"/>
          <p:nvPr/>
        </p:nvSpPr>
        <p:spPr>
          <a:xfrm>
            <a:off x="6809994" y="3081528"/>
            <a:ext cx="1371600" cy="603504"/>
          </a:xfrm>
          <a:prstGeom prst="rect">
            <a:avLst/>
          </a:prstGeom>
          <a:noFill/>
        </p:spPr>
        <p:txBody>
          <a:bodyPr wrap="square" anchor="t" lIns="0" tIns="0" rIns="0" bIns="0">
            <a:noAutofit/>
          </a:bodyPr>
          <a:lstStyle/>
          <a:p>
            <a:pPr algn="r"/>
            <a:r>
              <a:rPr sz="1000" b="1" i="0">
                <a:solidFill>
                  <a:srgbClr val="0A5E5D"/>
                </a:solidFill>
              </a:rPr>
              <a:t>Stop-rule loop</a:t>
            </a:r>
            <a:endParaRPr sz="1200"/>
          </a:p>
          <a:p>
            <a:pPr algn="r"/>
            <a:r>
              <a:rPr sz="1000" b="0" i="0">
                <a:solidFill>
                  <a:srgbClr val="43535F"/>
                </a:solidFill>
              </a:rPr>
              <a:t>until U/S/D answered, saturated or out of budget</a:t>
            </a:r>
            <a:endParaRPr sz="1200"/>
          </a:p>
        </p:txBody>
      </p:sp>
      <p:sp>
        <p:nvSpPr>
          <p:cNvPr id="41" name="HC1 caption"/>
          <p:cNvSpPr txBox="1"/>
          <p:nvPr/>
        </p:nvSpPr>
        <p:spPr>
          <a:xfrm>
            <a:off x="5088636" y="2679192"/>
            <a:ext cx="1691640" cy="457200"/>
          </a:xfrm>
          <a:prstGeom prst="rect">
            <a:avLst/>
          </a:prstGeom>
          <a:noFill/>
        </p:spPr>
        <p:txBody>
          <a:bodyPr wrap="square" anchor="t" lIns="0" tIns="0" rIns="0" bIns="0">
            <a:noAutofit/>
          </a:bodyPr>
          <a:lstStyle/>
          <a:p>
            <a:pPr algn="ctr"/>
            <a:r>
              <a:rPr sz="1000" b="1" i="0">
                <a:solidFill>
                  <a:srgbClr val="0C2D36"/>
                </a:solidFill>
              </a:rPr>
              <a:t>HC1 </a:t>
            </a:r>
            <a:r>
              <a:rPr sz="1000" b="0" i="0">
                <a:solidFill>
                  <a:srgbClr val="43535F"/>
                </a:solidFill>
              </a:rPr>
              <a:t>analyst confirms the tier; an override needs a reason</a:t>
            </a:r>
            <a:endParaRPr sz="1200"/>
          </a:p>
        </p:txBody>
      </p:sp>
      <p:sp>
        <p:nvSpPr>
          <p:cNvPr id="42" name="HC2 caption"/>
          <p:cNvSpPr txBox="1"/>
          <p:nvPr/>
        </p:nvSpPr>
        <p:spPr>
          <a:xfrm>
            <a:off x="6766559" y="4946904"/>
            <a:ext cx="1911095" cy="457200"/>
          </a:xfrm>
          <a:prstGeom prst="rect">
            <a:avLst/>
          </a:prstGeom>
          <a:noFill/>
        </p:spPr>
        <p:txBody>
          <a:bodyPr wrap="square" anchor="t" lIns="0" tIns="0" rIns="0" bIns="0">
            <a:noAutofit/>
          </a:bodyPr>
          <a:lstStyle/>
          <a:p>
            <a:pPr algn="ctr"/>
            <a:r>
              <a:rPr sz="1000" b="1" i="0">
                <a:solidFill>
                  <a:srgbClr val="0C2D36"/>
                </a:solidFill>
              </a:rPr>
              <a:t>HC2 </a:t>
            </a:r>
            <a:r>
              <a:rPr sz="1000" b="0" i="0">
                <a:solidFill>
                  <a:srgbClr val="43535F"/>
                </a:solidFill>
              </a:rPr>
              <a:t>analyst accepts or rejects each cited excerpt, with a reason</a:t>
            </a:r>
            <a:endParaRPr sz="1200"/>
          </a:p>
        </p:txBody>
      </p:sp>
      <p:sp>
        <p:nvSpPr>
          <p:cNvPr id="43" name="release order label"/>
          <p:cNvSpPr txBox="1"/>
          <p:nvPr/>
        </p:nvSpPr>
        <p:spPr>
          <a:xfrm>
            <a:off x="502920" y="5212080"/>
            <a:ext cx="7296912" cy="237744"/>
          </a:xfrm>
          <a:prstGeom prst="rect">
            <a:avLst/>
          </a:prstGeom>
          <a:noFill/>
        </p:spPr>
        <p:txBody>
          <a:bodyPr wrap="square" anchor="t" lIns="0" tIns="0" rIns="0" bIns="0">
            <a:noAutofit/>
          </a:bodyPr>
          <a:lstStyle/>
          <a:p>
            <a:pPr algn="l"/>
            <a:r>
              <a:rPr sz="1000" b="1" i="0">
                <a:solidFill>
                  <a:srgbClr val="0A5E5D"/>
                </a:solidFill>
              </a:rPr>
              <a:t>C10 release order  </a:t>
            </a:r>
            <a:r>
              <a:rPr sz="1000" b="0" i="0">
                <a:solidFill>
                  <a:srgbClr val="43535F"/>
                </a:solidFill>
              </a:rPr>
              <a:t>(evidence is frozen before cells are rendered; a failed LLM audit stops the export)</a:t>
            </a:r>
            <a:endParaRPr sz="1200"/>
          </a:p>
        </p:txBody>
      </p:sp>
      <p:sp>
        <p:nvSpPr>
          <p:cNvPr id="44" name="release 1: Freeze evidence pack"/>
          <p:cNvSpPr/>
          <p:nvPr/>
        </p:nvSpPr>
        <p:spPr>
          <a:xfrm>
            <a:off x="502920" y="5486400"/>
            <a:ext cx="1298448" cy="402336"/>
          </a:xfrm>
          <a:prstGeom prst="roundRect">
            <a:avLst>
              <a:gd name="adj" fmla="val 50000"/>
            </a:avLst>
          </a:prstGeom>
          <a:solidFill>
            <a:srgbClr val="F1F5F7"/>
          </a:solidFill>
          <a:ln w="9525">
            <a:solidFill>
              <a:srgbClr val="C8D3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0" i="0">
                <a:solidFill>
                  <a:srgbClr val="0C2D36"/>
                </a:solidFill>
              </a:rPr>
              <a:t>Freeze evidence pack</a:t>
            </a:r>
            <a:endParaRPr sz="1200"/>
          </a:p>
        </p:txBody>
      </p:sp>
      <p:sp>
        <p:nvSpPr>
          <p:cNvPr id="45" name="release 2: Render L–V cells"/>
          <p:cNvSpPr/>
          <p:nvPr/>
        </p:nvSpPr>
        <p:spPr>
          <a:xfrm>
            <a:off x="2002536" y="5486400"/>
            <a:ext cx="1298448" cy="402336"/>
          </a:xfrm>
          <a:prstGeom prst="roundRect">
            <a:avLst>
              <a:gd name="adj" fmla="val 50000"/>
            </a:avLst>
          </a:prstGeom>
          <a:solidFill>
            <a:srgbClr val="F1F5F7"/>
          </a:solidFill>
          <a:ln w="9525">
            <a:solidFill>
              <a:srgbClr val="C8D3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0" i="0">
                <a:solidFill>
                  <a:srgbClr val="0C2D36"/>
                </a:solidFill>
              </a:rPr>
              <a:t>Render L–V cells</a:t>
            </a:r>
            <a:endParaRPr sz="1200"/>
          </a:p>
        </p:txBody>
      </p:sp>
      <p:cxnSp>
        <p:nvCxnSpPr>
          <p:cNvPr id="46" name="release step 1"/>
          <p:cNvCxnSpPr>
            <a:stCxn id="44" idx="3"/>
            <a:endCxn id="45" idx="1"/>
          </p:cNvCxnSpPr>
          <p:nvPr/>
        </p:nvCxnSpPr>
        <p:spPr>
          <a:xfrm flipV="1">
            <a:off x="1801368" y="5687568"/>
            <a:ext cx="201168" cy="0"/>
          </a:xfrm>
          <a:prstGeom prst="line">
            <a:avLst/>
          </a:prstGeom>
          <a:ln w="12700">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7" name="release 3: LLM audit gate"/>
          <p:cNvSpPr/>
          <p:nvPr/>
        </p:nvSpPr>
        <p:spPr>
          <a:xfrm>
            <a:off x="3502152" y="5486400"/>
            <a:ext cx="1298448" cy="402336"/>
          </a:xfrm>
          <a:prstGeom prst="roundRect">
            <a:avLst>
              <a:gd name="adj" fmla="val 50000"/>
            </a:avLst>
          </a:prstGeom>
          <a:solidFill>
            <a:srgbClr val="E3F2F0"/>
          </a:solidFill>
          <a:ln w="9525">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LLM audit gate</a:t>
            </a:r>
            <a:endParaRPr sz="1200"/>
          </a:p>
        </p:txBody>
      </p:sp>
      <p:cxnSp>
        <p:nvCxnSpPr>
          <p:cNvPr id="48" name="release step 2"/>
          <p:cNvCxnSpPr>
            <a:stCxn id="45" idx="3"/>
            <a:endCxn id="47" idx="1"/>
          </p:cNvCxnSpPr>
          <p:nvPr/>
        </p:nvCxnSpPr>
        <p:spPr>
          <a:xfrm flipV="1">
            <a:off x="3300984" y="5687568"/>
            <a:ext cx="201168" cy="0"/>
          </a:xfrm>
          <a:prstGeom prst="line">
            <a:avLst/>
          </a:prstGeom>
          <a:ln w="12700">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9" name="release 4: Export workbook"/>
          <p:cNvSpPr/>
          <p:nvPr/>
        </p:nvSpPr>
        <p:spPr>
          <a:xfrm>
            <a:off x="5001768" y="5486400"/>
            <a:ext cx="1298448" cy="402336"/>
          </a:xfrm>
          <a:prstGeom prst="roundRect">
            <a:avLst>
              <a:gd name="adj" fmla="val 50000"/>
            </a:avLst>
          </a:prstGeom>
          <a:solidFill>
            <a:srgbClr val="F1F5F7"/>
          </a:solidFill>
          <a:ln w="9525">
            <a:solidFill>
              <a:srgbClr val="C8D3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0" i="0">
                <a:solidFill>
                  <a:srgbClr val="0C2D36"/>
                </a:solidFill>
              </a:rPr>
              <a:t>Export workbook</a:t>
            </a:r>
            <a:endParaRPr sz="1200"/>
          </a:p>
        </p:txBody>
      </p:sp>
      <p:cxnSp>
        <p:nvCxnSpPr>
          <p:cNvPr id="50" name="release step 3"/>
          <p:cNvCxnSpPr>
            <a:stCxn id="47" idx="3"/>
            <a:endCxn id="49" idx="1"/>
          </p:cNvCxnSpPr>
          <p:nvPr/>
        </p:nvCxnSpPr>
        <p:spPr>
          <a:xfrm flipV="1">
            <a:off x="4800600" y="5687568"/>
            <a:ext cx="201168" cy="0"/>
          </a:xfrm>
          <a:prstGeom prst="line">
            <a:avLst/>
          </a:prstGeom>
          <a:ln w="12700">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1" name="release 5: Verify by replay"/>
          <p:cNvSpPr/>
          <p:nvPr/>
        </p:nvSpPr>
        <p:spPr>
          <a:xfrm>
            <a:off x="6501383" y="5486400"/>
            <a:ext cx="1298448" cy="402336"/>
          </a:xfrm>
          <a:prstGeom prst="roundRect">
            <a:avLst>
              <a:gd name="adj" fmla="val 50000"/>
            </a:avLst>
          </a:prstGeom>
          <a:solidFill>
            <a:srgbClr val="F1F5F7"/>
          </a:solidFill>
          <a:ln w="9525">
            <a:solidFill>
              <a:srgbClr val="C8D3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0" i="0">
                <a:solidFill>
                  <a:srgbClr val="0C2D36"/>
                </a:solidFill>
              </a:rPr>
              <a:t>Verify by replay</a:t>
            </a:r>
            <a:endParaRPr sz="1200"/>
          </a:p>
        </p:txBody>
      </p:sp>
      <p:cxnSp>
        <p:nvCxnSpPr>
          <p:cNvPr id="52" name="release step 4"/>
          <p:cNvCxnSpPr>
            <a:stCxn id="49" idx="3"/>
            <a:endCxn id="51" idx="1"/>
          </p:cNvCxnSpPr>
          <p:nvPr/>
        </p:nvCxnSpPr>
        <p:spPr>
          <a:xfrm flipV="1">
            <a:off x="6300216" y="5687568"/>
            <a:ext cx="201167" cy="0"/>
          </a:xfrm>
          <a:prstGeom prst="line">
            <a:avLst/>
          </a:prstGeom>
          <a:ln w="12700">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3" name="legend symbol 1"/>
          <p:cNvSpPr/>
          <p:nvPr/>
        </p:nvSpPr>
        <p:spPr>
          <a:xfrm>
            <a:off x="9171432" y="5184648"/>
            <a:ext cx="292608" cy="219456"/>
          </a:xfrm>
          <a:prstGeom prst="roundRect">
            <a:avLst>
              <a:gd name="adj" fmla="val 20833"/>
            </a:avLst>
          </a:prstGeom>
          <a:solidFill>
            <a:srgbClr val="E3F2F0"/>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54" name="legend text 1"/>
          <p:cNvSpPr txBox="1"/>
          <p:nvPr/>
        </p:nvSpPr>
        <p:spPr>
          <a:xfrm>
            <a:off x="9555480" y="5157216"/>
            <a:ext cx="2103120" cy="274320"/>
          </a:xfrm>
          <a:prstGeom prst="rect">
            <a:avLst/>
          </a:prstGeom>
          <a:noFill/>
        </p:spPr>
        <p:txBody>
          <a:bodyPr wrap="square" anchor="ctr" lIns="0" tIns="0" rIns="0" bIns="0">
            <a:noAutofit/>
          </a:bodyPr>
          <a:lstStyle/>
          <a:p>
            <a:pPr algn="l"/>
            <a:r>
              <a:rPr sz="1000" b="0" i="0">
                <a:solidFill>
                  <a:srgbClr val="43535F"/>
                </a:solidFill>
              </a:rPr>
              <a:t>component C1–C10</a:t>
            </a:r>
            <a:endParaRPr sz="1200"/>
          </a:p>
        </p:txBody>
      </p:sp>
      <p:sp>
        <p:nvSpPr>
          <p:cNvPr id="55" name="legend symbol 2"/>
          <p:cNvSpPr/>
          <p:nvPr/>
        </p:nvSpPr>
        <p:spPr>
          <a:xfrm>
            <a:off x="9171432" y="5468112"/>
            <a:ext cx="292608" cy="219456"/>
          </a:xfrm>
          <a:prstGeom prst="diamond">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56" name="legend text 2"/>
          <p:cNvSpPr txBox="1"/>
          <p:nvPr/>
        </p:nvSpPr>
        <p:spPr>
          <a:xfrm>
            <a:off x="9555480" y="5440679"/>
            <a:ext cx="2103120" cy="274320"/>
          </a:xfrm>
          <a:prstGeom prst="rect">
            <a:avLst/>
          </a:prstGeom>
          <a:noFill/>
        </p:spPr>
        <p:txBody>
          <a:bodyPr wrap="square" anchor="ctr" lIns="0" tIns="0" rIns="0" bIns="0">
            <a:noAutofit/>
          </a:bodyPr>
          <a:lstStyle/>
          <a:p>
            <a:pPr algn="l"/>
            <a:r>
              <a:rPr sz="1000" b="0" i="0">
                <a:solidFill>
                  <a:srgbClr val="43535F"/>
                </a:solidFill>
              </a:rPr>
              <a:t>human checkpoint</a:t>
            </a:r>
            <a:endParaRPr sz="1200"/>
          </a:p>
        </p:txBody>
      </p:sp>
      <p:sp>
        <p:nvSpPr>
          <p:cNvPr id="57" name="legend symbol 3"/>
          <p:cNvSpPr/>
          <p:nvPr/>
        </p:nvSpPr>
        <p:spPr>
          <a:xfrm>
            <a:off x="9171432" y="5751576"/>
            <a:ext cx="292608" cy="219456"/>
          </a:xfrm>
          <a:prstGeom prst="roundRect">
            <a:avLst>
              <a:gd name="adj" fmla="val 20833"/>
            </a:avLst>
          </a:prstGeom>
          <a:solidFill>
            <a:srgbClr val="FFFFFF"/>
          </a:solidFill>
          <a:ln w="12700">
            <a:solidFill>
              <a:srgbClr val="0E7C7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58" name="legend text 3"/>
          <p:cNvSpPr txBox="1"/>
          <p:nvPr/>
        </p:nvSpPr>
        <p:spPr>
          <a:xfrm>
            <a:off x="9555480" y="5724144"/>
            <a:ext cx="2103120" cy="274320"/>
          </a:xfrm>
          <a:prstGeom prst="rect">
            <a:avLst/>
          </a:prstGeom>
          <a:noFill/>
        </p:spPr>
        <p:txBody>
          <a:bodyPr wrap="square" anchor="ctr" lIns="0" tIns="0" rIns="0" bIns="0">
            <a:noAutofit/>
          </a:bodyPr>
          <a:lstStyle/>
          <a:p>
            <a:pPr algn="l"/>
            <a:r>
              <a:rPr sz="1000" b="0" i="0">
                <a:solidFill>
                  <a:srgbClr val="43535F"/>
                </a:solidFill>
              </a:rPr>
              <a:t>AI service (proposes only)</a:t>
            </a:r>
            <a:endParaRPr sz="1200"/>
          </a:p>
        </p:txBody>
      </p:sp>
      <p:sp>
        <p:nvSpPr>
          <p:cNvPr id="59" name="legend symbol 4"/>
          <p:cNvSpPr/>
          <p:nvPr/>
        </p:nvSpPr>
        <p:spPr>
          <a:xfrm>
            <a:off x="9171432" y="6035040"/>
            <a:ext cx="292608" cy="219456"/>
          </a:xfrm>
          <a:prstGeom prst="can">
            <a:avLst/>
          </a:prstGeom>
          <a:solidFill>
            <a:srgbClr val="F1F5F7"/>
          </a:solidFill>
          <a:ln w="12700">
            <a:solidFill>
              <a:srgbClr val="4F5F6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60" name="legend text 4"/>
          <p:cNvSpPr txBox="1"/>
          <p:nvPr/>
        </p:nvSpPr>
        <p:spPr>
          <a:xfrm>
            <a:off x="9555480" y="6007607"/>
            <a:ext cx="2103120" cy="274320"/>
          </a:xfrm>
          <a:prstGeom prst="rect">
            <a:avLst/>
          </a:prstGeom>
          <a:noFill/>
        </p:spPr>
        <p:txBody>
          <a:bodyPr wrap="square" anchor="ctr" lIns="0" tIns="0" rIns="0" bIns="0">
            <a:noAutofit/>
          </a:bodyPr>
          <a:lstStyle/>
          <a:p>
            <a:pPr algn="l"/>
            <a:r>
              <a:rPr sz="1000" b="0" i="0">
                <a:solidFill>
                  <a:srgbClr val="43535F"/>
                </a:solidFill>
              </a:rPr>
              <a:t>content-addressed store</a:t>
            </a:r>
            <a:endParaRPr sz="120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10896"/>
            <a:ext cx="9509760" cy="640080"/>
          </a:xfrm>
        </p:spPr>
        <p:txBody>
          <a:bodyPr wrap="square" anchor="b" lIns="0" tIns="0" rIns="0" bIns="0">
            <a:noAutofit/>
          </a:bodyPr>
          <a:lstStyle/>
          <a:p>
            <a:pPr algn="l"/>
            <a:r>
              <a:rPr sz="3000" b="1" i="0">
                <a:solidFill>
                  <a:srgbClr val="0C2D36"/>
                </a:solidFill>
              </a:rPr>
              <a:t>Architecture: layers, stores and the trust boundary</a:t>
            </a:r>
            <a:endParaRPr sz="1200"/>
          </a:p>
        </p:txBody>
      </p:sp>
      <p:sp>
        <p:nvSpPr>
          <p:cNvPr id="3" name="Corner tag"/>
          <p:cNvSpPr/>
          <p:nvPr/>
        </p:nvSpPr>
        <p:spPr>
          <a:xfrm>
            <a:off x="10241280" y="457200"/>
            <a:ext cx="1444752" cy="310896"/>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OUTCOME 02</a:t>
            </a:r>
            <a:endParaRPr sz="1000"/>
          </a:p>
        </p:txBody>
      </p:sp>
      <p:sp>
        <p:nvSpPr>
          <p:cNvPr id="4" name="Kicker"/>
          <p:cNvSpPr txBox="1"/>
          <p:nvPr/>
        </p:nvSpPr>
        <p:spPr>
          <a:xfrm>
            <a:off x="502920" y="987552"/>
            <a:ext cx="11183112" cy="502920"/>
          </a:xfrm>
          <a:prstGeom prst="rect">
            <a:avLst/>
          </a:prstGeom>
          <a:noFill/>
        </p:spPr>
        <p:txBody>
          <a:bodyPr wrap="square" anchor="t" lIns="0" tIns="0" rIns="0" bIns="0">
            <a:noAutofit/>
          </a:bodyPr>
          <a:lstStyle/>
          <a:p>
            <a:pPr algn="l"/>
            <a:r>
              <a:rPr sz="1500" b="0" i="0">
                <a:solidFill>
                  <a:srgbClr val="0A5E5D"/>
                </a:solidFill>
              </a:rPr>
              <a:t>One engine behind three interfaces; every request passes the terms, robots and rate-limit gate, and only guarded public text crosses to Gemini.</a:t>
            </a:r>
            <a:endParaRPr sz="1200"/>
          </a:p>
        </p:txBody>
      </p:sp>
      <p:sp>
        <p:nvSpPr>
          <p:cNvPr id="5"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66757F"/>
                </a:solidFill>
              </a:rPr>
              <a:t>Team Osprey · Vendor AI footprint · Confidential case-study material, not for distribution</a:t>
            </a:r>
            <a:endParaRPr sz="1200"/>
          </a:p>
        </p:txBody>
      </p:sp>
      <p:sp>
        <p:nvSpPr>
          <p:cNvPr id="6" name="Slide number"/>
          <p:cNvSpPr txBox="1"/>
          <p:nvPr/>
        </p:nvSpPr>
        <p:spPr>
          <a:xfrm>
            <a:off x="10954512" y="6437376"/>
            <a:ext cx="731520" cy="256032"/>
          </a:xfrm>
          <a:prstGeom prst="rect">
            <a:avLst/>
          </a:prstGeom>
          <a:noFill/>
        </p:spPr>
        <p:txBody>
          <a:bodyPr wrap="square" anchor="ctr" lIns="0" tIns="0" rIns="0" bIns="0">
            <a:noAutofit/>
          </a:bodyPr>
          <a:lstStyle/>
          <a:p>
            <a:pPr algn="r"/>
            <a:fld id="{43E64C64-055A-52BF-8C52-EC23F4012BD5}" type="slidenum">
              <a:rPr lang="en-GB" sz="1000" dirty="0">
                <a:solidFill>
                  <a:srgbClr val="66757F"/>
                </a:solidFill>
              </a:rPr>
              <a:t>5</a:t>
            </a:fld>
            <a:endParaRPr sz="1200"/>
          </a:p>
        </p:txBody>
      </p:sp>
      <p:sp>
        <p:nvSpPr>
          <p:cNvPr id="7" name="external header"/>
          <p:cNvSpPr txBox="1"/>
          <p:nvPr/>
        </p:nvSpPr>
        <p:spPr>
          <a:xfrm>
            <a:off x="502920" y="1627632"/>
            <a:ext cx="2286000" cy="274320"/>
          </a:xfrm>
          <a:prstGeom prst="rect">
            <a:avLst/>
          </a:prstGeom>
          <a:noFill/>
        </p:spPr>
        <p:txBody>
          <a:bodyPr wrap="square" anchor="t" lIns="0" tIns="0" rIns="0" bIns="0">
            <a:noAutofit/>
          </a:bodyPr>
          <a:lstStyle/>
          <a:p>
            <a:pPr algn="l"/>
            <a:r>
              <a:rPr sz="1100" b="1" i="0">
                <a:solidFill>
                  <a:srgbClr val="0C2D36"/>
                </a:solidFill>
              </a:rPr>
              <a:t>External services · GET only</a:t>
            </a:r>
            <a:endParaRPr sz="1200"/>
          </a:p>
        </p:txBody>
      </p:sp>
      <p:sp>
        <p:nvSpPr>
          <p:cNvPr id="8" name="manual capture lane"/>
          <p:cNvSpPr txBox="1"/>
          <p:nvPr/>
        </p:nvSpPr>
        <p:spPr>
          <a:xfrm>
            <a:off x="502920" y="1920240"/>
            <a:ext cx="2286000" cy="566928"/>
          </a:xfrm>
          <a:prstGeom prst="rect">
            <a:avLst/>
          </a:prstGeom>
          <a:noFill/>
        </p:spPr>
        <p:txBody>
          <a:bodyPr wrap="square" anchor="t" lIns="0" tIns="0" rIns="0" bIns="0">
            <a:noAutofit/>
          </a:bodyPr>
          <a:lstStyle/>
          <a:p>
            <a:pPr algn="l"/>
            <a:r>
              <a:rPr sz="1000" b="1" i="0">
                <a:solidFill>
                  <a:srgbClr val="0C2D36"/>
                </a:solidFill>
              </a:rPr>
              <a:t>Manual lane: </a:t>
            </a:r>
            <a:r>
              <a:rPr sz="1000" b="0" i="0">
                <a:solidFill>
                  <a:srgbClr val="43535F"/>
                </a:solidFill>
              </a:rPr>
              <a:t>fiserv.com and linkedin.com are captured by an analyst, never crawled or sent to Gemini</a:t>
            </a:r>
            <a:endParaRPr sz="1200"/>
          </a:p>
        </p:txBody>
      </p:sp>
      <p:sp>
        <p:nvSpPr>
          <p:cNvPr id="9" name="external: Gemini API"/>
          <p:cNvSpPr/>
          <p:nvPr/>
        </p:nvSpPr>
        <p:spPr>
          <a:xfrm>
            <a:off x="502920" y="2674620"/>
            <a:ext cx="2286000" cy="566928"/>
          </a:xfrm>
          <a:prstGeom prst="roundRect">
            <a:avLst>
              <a:gd name="adj" fmla="val 12903"/>
            </a:avLst>
          </a:prstGeom>
          <a:solidFill>
            <a:srgbClr val="FFF4CC"/>
          </a:solidFill>
          <a:ln w="1905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45720" bIns="18288">
            <a:noAutofit/>
          </a:bodyPr>
          <a:lstStyle/>
          <a:p>
            <a:pPr algn="l"/>
            <a:r>
              <a:rPr sz="1000" b="1" i="0">
                <a:solidFill>
                  <a:srgbClr val="0C2D36"/>
                </a:solidFill>
              </a:rPr>
              <a:t>Gemini API</a:t>
            </a:r>
            <a:endParaRPr sz="1200"/>
          </a:p>
          <a:p>
            <a:pPr algn="l"/>
            <a:r>
              <a:rPr sz="1000" b="0" i="0">
                <a:solidFill>
                  <a:srgbClr val="43535F"/>
                </a:solidFill>
              </a:rPr>
              <a:t>structured JSON · seed 1234 · no tools</a:t>
            </a:r>
            <a:endParaRPr sz="1200"/>
          </a:p>
        </p:txBody>
      </p:sp>
      <p:sp>
        <p:nvSpPr>
          <p:cNvPr id="10" name="public web services"/>
          <p:cNvSpPr/>
          <p:nvPr/>
        </p:nvSpPr>
        <p:spPr>
          <a:xfrm>
            <a:off x="502920" y="3291840"/>
            <a:ext cx="2286000" cy="2468879"/>
          </a:xfrm>
          <a:prstGeom prst="roundRect">
            <a:avLst>
              <a:gd name="adj" fmla="val 4000"/>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11" name="external: Vendor &amp; provider websites"/>
          <p:cNvSpPr/>
          <p:nvPr/>
        </p:nvSpPr>
        <p:spPr>
          <a:xfrm>
            <a:off x="576072" y="3383280"/>
            <a:ext cx="2139696" cy="420624"/>
          </a:xfrm>
          <a:prstGeom prst="roundRect">
            <a:avLst>
              <a:gd name="adj" fmla="val 17391"/>
            </a:avLst>
          </a:prstGeom>
          <a:solidFill>
            <a:srgbClr val="FFFFFF"/>
          </a:solidFill>
          <a:ln w="9525">
            <a:solidFill>
              <a:srgbClr val="C8D3D9"/>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45720" bIns="18288">
            <a:noAutofit/>
          </a:bodyPr>
          <a:lstStyle/>
          <a:p>
            <a:pPr algn="l"/>
            <a:r>
              <a:rPr sz="1000" b="1" i="0">
                <a:solidFill>
                  <a:srgbClr val="0C2D36"/>
                </a:solidFill>
              </a:rPr>
              <a:t>Vendor &amp; provider websites</a:t>
            </a:r>
            <a:endParaRPr sz="1200"/>
          </a:p>
          <a:p>
            <a:pPr algn="l"/>
            <a:r>
              <a:rPr sz="1000" b="0" i="0">
                <a:solidFill>
                  <a:srgbClr val="43535F"/>
                </a:solidFill>
              </a:rPr>
              <a:t>sitemaps · WP-REST · PDFs</a:t>
            </a:r>
            <a:endParaRPr sz="1200"/>
          </a:p>
        </p:txBody>
      </p:sp>
      <p:sp>
        <p:nvSpPr>
          <p:cNvPr id="12" name="external: SEC EDGAR"/>
          <p:cNvSpPr/>
          <p:nvPr/>
        </p:nvSpPr>
        <p:spPr>
          <a:xfrm>
            <a:off x="576072" y="3867912"/>
            <a:ext cx="2139696" cy="420624"/>
          </a:xfrm>
          <a:prstGeom prst="roundRect">
            <a:avLst>
              <a:gd name="adj" fmla="val 17391"/>
            </a:avLst>
          </a:prstGeom>
          <a:solidFill>
            <a:srgbClr val="FFFFFF"/>
          </a:solidFill>
          <a:ln w="9525">
            <a:solidFill>
              <a:srgbClr val="C8D3D9"/>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45720" bIns="18288">
            <a:noAutofit/>
          </a:bodyPr>
          <a:lstStyle/>
          <a:p>
            <a:pPr algn="l"/>
            <a:r>
              <a:rPr sz="1000" b="1" i="0">
                <a:solidFill>
                  <a:srgbClr val="0C2D36"/>
                </a:solidFill>
              </a:rPr>
              <a:t>SEC EDGAR</a:t>
            </a:r>
            <a:endParaRPr sz="1200"/>
          </a:p>
          <a:p>
            <a:pPr algn="l"/>
            <a:r>
              <a:rPr sz="1000" b="0" i="0">
                <a:solidFill>
                  <a:srgbClr val="43535F"/>
                </a:solidFill>
              </a:rPr>
              <a:t>submissions · full-text search</a:t>
            </a:r>
            <a:endParaRPr sz="1200"/>
          </a:p>
        </p:txBody>
      </p:sp>
      <p:sp>
        <p:nvSpPr>
          <p:cNvPr id="13" name="external: DNS over HTTPS"/>
          <p:cNvSpPr/>
          <p:nvPr/>
        </p:nvSpPr>
        <p:spPr>
          <a:xfrm>
            <a:off x="576072" y="4352544"/>
            <a:ext cx="2139696" cy="420624"/>
          </a:xfrm>
          <a:prstGeom prst="roundRect">
            <a:avLst>
              <a:gd name="adj" fmla="val 17391"/>
            </a:avLst>
          </a:prstGeom>
          <a:solidFill>
            <a:srgbClr val="FFFFFF"/>
          </a:solidFill>
          <a:ln w="9525">
            <a:solidFill>
              <a:srgbClr val="C8D3D9"/>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45720" bIns="18288">
            <a:noAutofit/>
          </a:bodyPr>
          <a:lstStyle/>
          <a:p>
            <a:pPr algn="l"/>
            <a:r>
              <a:rPr sz="1000" b="1" i="0">
                <a:solidFill>
                  <a:srgbClr val="0C2D36"/>
                </a:solidFill>
              </a:rPr>
              <a:t>DNS over HTTPS</a:t>
            </a:r>
            <a:endParaRPr sz="1200"/>
          </a:p>
          <a:p>
            <a:pPr algn="l"/>
            <a:r>
              <a:rPr sz="1000" b="0" i="0">
                <a:solidFill>
                  <a:srgbClr val="43535F"/>
                </a:solidFill>
              </a:rPr>
              <a:t>dns.google and Cloudflare agree</a:t>
            </a:r>
            <a:endParaRPr sz="1200"/>
          </a:p>
        </p:txBody>
      </p:sp>
      <p:sp>
        <p:nvSpPr>
          <p:cNvPr id="14" name="external: ATS APIs"/>
          <p:cNvSpPr/>
          <p:nvPr/>
        </p:nvSpPr>
        <p:spPr>
          <a:xfrm>
            <a:off x="576072" y="4837176"/>
            <a:ext cx="2139696" cy="420624"/>
          </a:xfrm>
          <a:prstGeom prst="roundRect">
            <a:avLst>
              <a:gd name="adj" fmla="val 17391"/>
            </a:avLst>
          </a:prstGeom>
          <a:solidFill>
            <a:srgbClr val="FFFFFF"/>
          </a:solidFill>
          <a:ln w="9525">
            <a:solidFill>
              <a:srgbClr val="C8D3D9"/>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45720" bIns="18288">
            <a:noAutofit/>
          </a:bodyPr>
          <a:lstStyle/>
          <a:p>
            <a:pPr algn="l"/>
            <a:r>
              <a:rPr sz="1000" b="1" i="0">
                <a:solidFill>
                  <a:srgbClr val="0C2D36"/>
                </a:solidFill>
              </a:rPr>
              <a:t>ATS APIs</a:t>
            </a:r>
            <a:endParaRPr sz="1200"/>
          </a:p>
          <a:p>
            <a:pPr algn="l"/>
            <a:r>
              <a:rPr sz="1000" b="0" i="0">
                <a:solidFill>
                  <a:srgbClr val="43535F"/>
                </a:solidFill>
              </a:rPr>
              <a:t>Workday · Oracle ORC · Workable</a:t>
            </a:r>
            <a:endParaRPr sz="1200"/>
          </a:p>
        </p:txBody>
      </p:sp>
      <p:sp>
        <p:nvSpPr>
          <p:cNvPr id="15" name="external: Wayback Machine"/>
          <p:cNvSpPr/>
          <p:nvPr/>
        </p:nvSpPr>
        <p:spPr>
          <a:xfrm>
            <a:off x="576072" y="5321808"/>
            <a:ext cx="2139696" cy="420624"/>
          </a:xfrm>
          <a:prstGeom prst="roundRect">
            <a:avLst>
              <a:gd name="adj" fmla="val 17391"/>
            </a:avLst>
          </a:prstGeom>
          <a:solidFill>
            <a:srgbClr val="FFFFFF"/>
          </a:solidFill>
          <a:ln w="9525">
            <a:solidFill>
              <a:srgbClr val="C8D3D9"/>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45720" bIns="18288">
            <a:noAutofit/>
          </a:bodyPr>
          <a:lstStyle/>
          <a:p>
            <a:pPr algn="l"/>
            <a:r>
              <a:rPr sz="1000" b="1" i="0">
                <a:solidFill>
                  <a:srgbClr val="0C2D36"/>
                </a:solidFill>
              </a:rPr>
              <a:t>Wayback Machine</a:t>
            </a:r>
            <a:endParaRPr sz="1200"/>
          </a:p>
          <a:p>
            <a:pPr algn="l"/>
            <a:r>
              <a:rPr sz="1000" b="0" i="0">
                <a:solidFill>
                  <a:srgbClr val="43535F"/>
                </a:solidFill>
              </a:rPr>
              <a:t>availability · CDX · read-only</a:t>
            </a:r>
            <a:endParaRPr sz="1200"/>
          </a:p>
        </p:txBody>
      </p:sp>
      <p:sp>
        <p:nvSpPr>
          <p:cNvPr id="16" name="Trust boundary"/>
          <p:cNvSpPr/>
          <p:nvPr/>
        </p:nvSpPr>
        <p:spPr>
          <a:xfrm>
            <a:off x="3017520" y="1600200"/>
            <a:ext cx="8668512" cy="4160520"/>
          </a:xfrm>
          <a:prstGeom prst="roundRect">
            <a:avLst>
              <a:gd name="adj" fmla="val 3076"/>
            </a:avLst>
          </a:prstGeom>
          <a:noFill/>
          <a:ln w="19050">
            <a:solidFill>
              <a:srgbClr val="0E7C7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17" name="trust boundary caption"/>
          <p:cNvSpPr txBox="1"/>
          <p:nvPr/>
        </p:nvSpPr>
        <p:spPr>
          <a:xfrm>
            <a:off x="3017520" y="5824728"/>
            <a:ext cx="8668512" cy="411480"/>
          </a:xfrm>
          <a:prstGeom prst="rect">
            <a:avLst/>
          </a:prstGeom>
          <a:noFill/>
        </p:spPr>
        <p:txBody>
          <a:bodyPr wrap="square" anchor="t" lIns="0" tIns="0" rIns="0" bIns="0">
            <a:noAutofit/>
          </a:bodyPr>
          <a:lstStyle/>
          <a:p>
            <a:pPr algn="l"/>
            <a:r>
              <a:rPr sz="1000" b="1" i="0">
                <a:solidFill>
                  <a:srgbClr val="0A5E5D"/>
                </a:solidFill>
              </a:rPr>
              <a:t>Trust boundary: </a:t>
            </a:r>
            <a:r>
              <a:rPr sz="1000" b="0" i="0">
                <a:solidFill>
                  <a:srgbClr val="43535F"/>
                </a:solidFill>
              </a:rPr>
              <a:t>profile fields, tiers, verdicts and findings stay inside. Only public passages that pass the payload guard cross to Gemini, and the audit log records each call without its text.</a:t>
            </a:r>
            <a:endParaRPr sz="1200"/>
          </a:p>
        </p:txBody>
      </p:sp>
      <p:sp>
        <p:nvSpPr>
          <p:cNvPr id="18" name="interface: CLI"/>
          <p:cNvSpPr/>
          <p:nvPr/>
        </p:nvSpPr>
        <p:spPr>
          <a:xfrm>
            <a:off x="3154679" y="1691640"/>
            <a:ext cx="2676143" cy="438912"/>
          </a:xfrm>
          <a:prstGeom prst="roundRect">
            <a:avLst>
              <a:gd name="adj" fmla="val 16666"/>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54864" bIns="18288">
            <a:noAutofit/>
          </a:bodyPr>
          <a:lstStyle/>
          <a:p>
            <a:pPr algn="l"/>
            <a:r>
              <a:rPr sz="1100" b="1" i="0">
                <a:solidFill>
                  <a:srgbClr val="0C2D36"/>
                </a:solidFill>
              </a:rPr>
              <a:t>CLI</a:t>
            </a:r>
            <a:r>
              <a:rPr sz="1000" b="0" i="0">
                <a:solidFill>
                  <a:srgbClr val="43535F"/>
                </a:solidFill>
              </a:rPr>
              <a:t>  typer: assess · export · verify</a:t>
            </a:r>
            <a:endParaRPr sz="1200"/>
          </a:p>
        </p:txBody>
      </p:sp>
      <p:cxnSp>
        <p:nvCxnSpPr>
          <p:cNvPr id="19" name="CLI calls the pipeline"/>
          <p:cNvCxnSpPr/>
          <p:nvPr/>
        </p:nvCxnSpPr>
        <p:spPr>
          <a:xfrm>
            <a:off x="4492752" y="2130552"/>
            <a:ext cx="0" cy="201168"/>
          </a:xfrm>
          <a:prstGeom prst="line">
            <a:avLst/>
          </a:prstGeom>
          <a:ln w="12700">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interface: Streamlit app"/>
          <p:cNvSpPr/>
          <p:nvPr/>
        </p:nvSpPr>
        <p:spPr>
          <a:xfrm>
            <a:off x="6013704" y="1691640"/>
            <a:ext cx="2676143" cy="438912"/>
          </a:xfrm>
          <a:prstGeom prst="roundRect">
            <a:avLst>
              <a:gd name="adj" fmla="val 16666"/>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54864" bIns="18288">
            <a:noAutofit/>
          </a:bodyPr>
          <a:lstStyle/>
          <a:p>
            <a:pPr algn="l"/>
            <a:r>
              <a:rPr sz="1100" b="1" i="0">
                <a:solidFill>
                  <a:srgbClr val="0C2D36"/>
                </a:solidFill>
              </a:rPr>
              <a:t>Streamlit app</a:t>
            </a:r>
            <a:r>
              <a:rPr sz="1000" b="0" i="0">
                <a:solidFill>
                  <a:srgbClr val="43535F"/>
                </a:solidFill>
              </a:rPr>
              <a:t>  Assess · Evidence · Risk · Export</a:t>
            </a:r>
            <a:endParaRPr sz="1200"/>
          </a:p>
        </p:txBody>
      </p:sp>
      <p:cxnSp>
        <p:nvCxnSpPr>
          <p:cNvPr id="21" name="Streamlit app calls the pipeline"/>
          <p:cNvCxnSpPr/>
          <p:nvPr/>
        </p:nvCxnSpPr>
        <p:spPr>
          <a:xfrm>
            <a:off x="7351775" y="2130552"/>
            <a:ext cx="0" cy="201168"/>
          </a:xfrm>
          <a:prstGeom prst="line">
            <a:avLst/>
          </a:prstGeom>
          <a:ln w="12700">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interface: Notebook"/>
          <p:cNvSpPr/>
          <p:nvPr/>
        </p:nvSpPr>
        <p:spPr>
          <a:xfrm>
            <a:off x="8872728" y="1691640"/>
            <a:ext cx="2676143" cy="438912"/>
          </a:xfrm>
          <a:prstGeom prst="roundRect">
            <a:avLst>
              <a:gd name="adj" fmla="val 16666"/>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54864" bIns="18288">
            <a:noAutofit/>
          </a:bodyPr>
          <a:lstStyle/>
          <a:p>
            <a:pPr algn="l"/>
            <a:r>
              <a:rPr sz="1100" b="1" i="0">
                <a:solidFill>
                  <a:srgbClr val="0C2D36"/>
                </a:solidFill>
              </a:rPr>
              <a:t>Notebook</a:t>
            </a:r>
            <a:r>
              <a:rPr sz="1000" b="0" i="0">
                <a:solidFill>
                  <a:srgbClr val="43535F"/>
                </a:solidFill>
              </a:rPr>
              <a:t>  Colab or local Jupyter</a:t>
            </a:r>
            <a:endParaRPr sz="1200"/>
          </a:p>
        </p:txBody>
      </p:sp>
      <p:cxnSp>
        <p:nvCxnSpPr>
          <p:cNvPr id="23" name="Notebook calls the pipeline"/>
          <p:cNvCxnSpPr/>
          <p:nvPr/>
        </p:nvCxnSpPr>
        <p:spPr>
          <a:xfrm>
            <a:off x="10210800" y="2130552"/>
            <a:ext cx="0" cy="201168"/>
          </a:xfrm>
          <a:prstGeom prst="line">
            <a:avLst/>
          </a:prstGeom>
          <a:ln w="12700">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pipeline"/>
          <p:cNvSpPr/>
          <p:nvPr/>
        </p:nvSpPr>
        <p:spPr>
          <a:xfrm>
            <a:off x="3154679" y="2331720"/>
            <a:ext cx="8394192" cy="457200"/>
          </a:xfrm>
          <a:prstGeom prst="roundRect">
            <a:avLst>
              <a:gd name="adj" fmla="val 16000"/>
            </a:avLst>
          </a:prstGeom>
          <a:solidFill>
            <a:srgbClr val="E3F2F0"/>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rIns="54864" bIns="18288">
            <a:noAutofit/>
          </a:bodyPr>
          <a:lstStyle/>
          <a:p>
            <a:pPr algn="l"/>
            <a:r>
              <a:rPr sz="1100" b="1" i="0">
                <a:solidFill>
                  <a:srgbClr val="0C2D36"/>
                </a:solidFill>
                <a:latin typeface="Consolas"/>
              </a:rPr>
              <a:t>run_assessment(xlsx, mode)</a:t>
            </a:r>
            <a:r>
              <a:rPr sz="1000" b="0" i="0">
                <a:solidFill>
                  <a:srgbClr val="43535F"/>
                </a:solidFill>
              </a:rPr>
              <a:t>  one entry point → AssessmentResult</a:t>
            </a:r>
            <a:endParaRPr sz="1200"/>
          </a:p>
        </p:txBody>
      </p:sp>
      <p:sp>
        <p:nvSpPr>
          <p:cNvPr id="25" name="mode switch"/>
          <p:cNvSpPr/>
          <p:nvPr/>
        </p:nvSpPr>
        <p:spPr>
          <a:xfrm>
            <a:off x="8787384" y="2404872"/>
            <a:ext cx="2670048" cy="310896"/>
          </a:xfrm>
          <a:prstGeom prst="roundRect">
            <a:avLst>
              <a:gd name="adj" fmla="val 50000"/>
            </a:avLst>
          </a:prstGeom>
          <a:solidFill>
            <a:srgbClr val="FFFFFF"/>
          </a:solidFill>
          <a:ln w="9525">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0" rIns="54864" bIns="0">
            <a:noAutofit/>
          </a:bodyPr>
          <a:lstStyle/>
          <a:p>
            <a:pPr algn="ctr"/>
            <a:r>
              <a:rPr sz="1000" b="1" i="0">
                <a:solidFill>
                  <a:srgbClr val="0A5E5D"/>
                </a:solidFill>
              </a:rPr>
              <a:t>replay</a:t>
            </a:r>
            <a:r>
              <a:rPr sz="1000" b="0" i="0">
                <a:solidFill>
                  <a:srgbClr val="43535F"/>
                </a:solidFill>
              </a:rPr>
              <a:t> (default, offline)</a:t>
            </a:r>
            <a:r>
              <a:rPr sz="1000" b="0" i="0">
                <a:solidFill>
                  <a:srgbClr val="66757F"/>
                </a:solidFill>
              </a:rPr>
              <a:t> | live_rules | live_ai</a:t>
            </a:r>
            <a:endParaRPr sz="1200"/>
          </a:p>
        </p:txBody>
      </p:sp>
      <p:sp>
        <p:nvSpPr>
          <p:cNvPr id="26" name="engine: Net policy"/>
          <p:cNvSpPr/>
          <p:nvPr/>
        </p:nvSpPr>
        <p:spPr>
          <a:xfrm>
            <a:off x="3154679" y="3127248"/>
            <a:ext cx="1892807" cy="1325880"/>
          </a:xfrm>
          <a:prstGeom prst="roundRect">
            <a:avLst>
              <a:gd name="adj" fmla="val 5517"/>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t" wrap="square" lIns="82296" tIns="54864" rIns="54864" bIns="36576">
            <a:noAutofit/>
          </a:bodyPr>
          <a:lstStyle/>
          <a:p>
            <a:pPr algn="l">
              <a:spcAft>
                <a:spcPts val="200"/>
              </a:spcAft>
            </a:pPr>
            <a:r>
              <a:rPr sz="1100" b="1" i="0">
                <a:solidFill>
                  <a:srgbClr val="0A5E5D"/>
                </a:solidFill>
              </a:rPr>
              <a:t>Net policy</a:t>
            </a:r>
            <a:endParaRPr sz="1200"/>
          </a:p>
          <a:p>
            <a:pPr algn="l" marL="109728" indent="-109728">
              <a:buClr>
                <a:srgbClr val="0E7C7B"/>
              </a:buClr>
              <a:buSzPct val="100000"/>
              <a:buFont typeface="Arial"/>
              <a:buChar char="•"/>
            </a:pPr>
            <a:r>
              <a:rPr sz="1000" b="0" i="0">
                <a:solidFill>
                  <a:srgbClr val="43535F"/>
                </a:solidFill>
              </a:rPr>
              <a:t>Live | Replay fetcher</a:t>
            </a:r>
            <a:endParaRPr sz="1200"/>
          </a:p>
          <a:p>
            <a:pPr algn="l" marL="109728" indent="-109728">
              <a:buClr>
                <a:srgbClr val="0E7C7B"/>
              </a:buClr>
              <a:buSzPct val="100000"/>
              <a:buFont typeface="Arial"/>
              <a:buChar char="•"/>
            </a:pPr>
            <a:r>
              <a:rPr sz="1000" b="0" i="0">
                <a:solidFill>
                  <a:srgbClr val="43535F"/>
                </a:solidFill>
              </a:rPr>
              <a:t>ToS register (tou.toml)</a:t>
            </a:r>
            <a:endParaRPr sz="1200"/>
          </a:p>
          <a:p>
            <a:pPr algn="l" marL="109728" indent="-109728">
              <a:buClr>
                <a:srgbClr val="0E7C7B"/>
              </a:buClr>
              <a:buSzPct val="100000"/>
              <a:buFont typeface="Arial"/>
              <a:buChar char="•"/>
            </a:pPr>
            <a:r>
              <a:rPr sz="1000" b="0" i="0">
                <a:solidFill>
                  <a:srgbClr val="43535F"/>
                </a:solidFill>
              </a:rPr>
              <a:t>robots.txt via Protego</a:t>
            </a:r>
            <a:endParaRPr sz="1200"/>
          </a:p>
          <a:p>
            <a:pPr algn="l" marL="109728" indent="-109728">
              <a:buClr>
                <a:srgbClr val="0E7C7B"/>
              </a:buClr>
              <a:buSzPct val="100000"/>
              <a:buFont typeface="Arial"/>
              <a:buChar char="•"/>
            </a:pPr>
            <a:r>
              <a:rPr sz="1000" b="0" i="0">
                <a:solidFill>
                  <a:srgbClr val="43535F"/>
                </a:solidFill>
              </a:rPr>
              <a:t>per-host rate limit</a:t>
            </a:r>
            <a:endParaRPr sz="1200"/>
          </a:p>
          <a:p>
            <a:pPr algn="l" marL="109728" indent="-109728">
              <a:buClr>
                <a:srgbClr val="0E7C7B"/>
              </a:buClr>
              <a:buSzPct val="100000"/>
              <a:buFont typeface="Arial"/>
              <a:buChar char="•"/>
            </a:pPr>
            <a:r>
              <a:rPr sz="1000" b="0" i="0">
                <a:solidFill>
                  <a:srgbClr val="43535F"/>
                </a:solidFill>
              </a:rPr>
              <a:t>honest UA, no evasion</a:t>
            </a:r>
            <a:endParaRPr sz="1200"/>
          </a:p>
        </p:txBody>
      </p:sp>
      <p:sp>
        <p:nvSpPr>
          <p:cNvPr id="27" name="engine: Collect"/>
          <p:cNvSpPr/>
          <p:nvPr/>
        </p:nvSpPr>
        <p:spPr>
          <a:xfrm>
            <a:off x="5321807" y="3127248"/>
            <a:ext cx="1892807" cy="1325880"/>
          </a:xfrm>
          <a:prstGeom prst="roundRect">
            <a:avLst>
              <a:gd name="adj" fmla="val 5517"/>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t" wrap="square" lIns="82296" tIns="54864" rIns="54864" bIns="36576">
            <a:noAutofit/>
          </a:bodyPr>
          <a:lstStyle/>
          <a:p>
            <a:pPr algn="l">
              <a:spcAft>
                <a:spcPts val="200"/>
              </a:spcAft>
            </a:pPr>
            <a:r>
              <a:rPr sz="1100" b="1" i="0">
                <a:solidFill>
                  <a:srgbClr val="0A5E5D"/>
                </a:solidFill>
              </a:rPr>
              <a:t>Collect</a:t>
            </a:r>
            <a:endParaRPr sz="1200"/>
          </a:p>
          <a:p>
            <a:pPr algn="l" marL="109728" indent="-109728">
              <a:buClr>
                <a:srgbClr val="0E7C7B"/>
              </a:buClr>
              <a:buSzPct val="100000"/>
              <a:buFont typeface="Arial"/>
              <a:buChar char="•"/>
            </a:pPr>
            <a:r>
              <a:rPr sz="1000" b="0" i="0">
                <a:solidFill>
                  <a:srgbClr val="43535F"/>
                </a:solidFill>
              </a:rPr>
              <a:t>dns · site · wordpress</a:t>
            </a:r>
            <a:endParaRPr sz="1200"/>
          </a:p>
          <a:p>
            <a:pPr algn="l" marL="109728" indent="-109728">
              <a:buClr>
                <a:srgbClr val="0E7C7B"/>
              </a:buClr>
              <a:buSzPct val="100000"/>
              <a:buFont typeface="Arial"/>
              <a:buChar char="•"/>
            </a:pPr>
            <a:r>
              <a:rPr sz="1000" b="0" i="0">
                <a:solidFill>
                  <a:srgbClr val="43535F"/>
                </a:solidFill>
              </a:rPr>
              <a:t>sec · jobs (three ATS)</a:t>
            </a:r>
            <a:endParaRPr sz="1200"/>
          </a:p>
          <a:p>
            <a:pPr algn="l" marL="109728" indent="-109728">
              <a:buClr>
                <a:srgbClr val="0E7C7B"/>
              </a:buClr>
              <a:buSzPct val="100000"/>
              <a:buFont typeface="Arial"/>
              <a:buChar char="•"/>
            </a:pPr>
            <a:r>
              <a:rPr sz="1000" b="0" i="0">
                <a:solidFill>
                  <a:srgbClr val="43535F"/>
                </a:solidFill>
              </a:rPr>
              <a:t>wayback · providers · seeds</a:t>
            </a:r>
            <a:endParaRPr sz="1200"/>
          </a:p>
          <a:p>
            <a:pPr algn="l" marL="109728" indent="-109728">
              <a:buClr>
                <a:srgbClr val="0E7C7B"/>
              </a:buClr>
              <a:buSzPct val="100000"/>
              <a:buFont typeface="Arial"/>
              <a:buChar char="•"/>
            </a:pPr>
            <a:r>
              <a:rPr sz="1000" b="0" i="0">
                <a:solidFill>
                  <a:srgbClr val="43535F"/>
                </a:solidFill>
              </a:rPr>
              <a:t>manual capture import</a:t>
            </a:r>
            <a:endParaRPr sz="1200"/>
          </a:p>
          <a:p>
            <a:pPr algn="l" marL="109728" indent="-109728">
              <a:buClr>
                <a:srgbClr val="0E7C7B"/>
              </a:buClr>
              <a:buSzPct val="100000"/>
              <a:buFont typeface="Arial"/>
              <a:buChar char="•"/>
            </a:pPr>
            <a:r>
              <a:rPr sz="1000" b="0" i="0">
                <a:solidFill>
                  <a:srgbClr val="43535F"/>
                </a:solidFill>
              </a:rPr>
              <a:t>Coverage Log status</a:t>
            </a:r>
            <a:endParaRPr sz="1200"/>
          </a:p>
        </p:txBody>
      </p:sp>
      <p:sp>
        <p:nvSpPr>
          <p:cNvPr id="28" name="engine: Analyse"/>
          <p:cNvSpPr/>
          <p:nvPr/>
        </p:nvSpPr>
        <p:spPr>
          <a:xfrm>
            <a:off x="7488936" y="3127248"/>
            <a:ext cx="1892807" cy="1325880"/>
          </a:xfrm>
          <a:prstGeom prst="roundRect">
            <a:avLst>
              <a:gd name="adj" fmla="val 5517"/>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t" wrap="square" lIns="82296" tIns="54864" rIns="54864" bIns="36576">
            <a:noAutofit/>
          </a:bodyPr>
          <a:lstStyle/>
          <a:p>
            <a:pPr algn="l">
              <a:spcAft>
                <a:spcPts val="200"/>
              </a:spcAft>
            </a:pPr>
            <a:r>
              <a:rPr sz="1100" b="1" i="0">
                <a:solidFill>
                  <a:srgbClr val="0A5E5D"/>
                </a:solidFill>
              </a:rPr>
              <a:t>Analyse</a:t>
            </a:r>
            <a:endParaRPr sz="1200"/>
          </a:p>
          <a:p>
            <a:pPr algn="l" marL="109728" indent="-109728">
              <a:buClr>
                <a:srgbClr val="0E7C7B"/>
              </a:buClr>
              <a:buSzPct val="100000"/>
              <a:buFont typeface="Arial"/>
              <a:buChar char="•"/>
            </a:pPr>
            <a:r>
              <a:rPr sz="1000" b="0" i="0">
                <a:solidFill>
                  <a:srgbClr val="43535F"/>
                </a:solidFill>
              </a:rPr>
              <a:t>extract: trafilatura, pypdf</a:t>
            </a:r>
            <a:endParaRPr sz="1200"/>
          </a:p>
          <a:p>
            <a:pPr algn="l" marL="109728" indent="-109728">
              <a:buClr>
                <a:srgbClr val="0E7C7B"/>
              </a:buClr>
              <a:buSzPct val="100000"/>
              <a:buFont typeface="Arial"/>
              <a:buChar char="•"/>
            </a:pPr>
            <a:r>
              <a:rPr sz="1000" b="0" i="0">
                <a:solidFill>
                  <a:srgbClr val="43535F"/>
                </a:solidFill>
              </a:rPr>
              <a:t>rules: lexicon, guards, tags</a:t>
            </a:r>
            <a:endParaRPr sz="1200"/>
          </a:p>
          <a:p>
            <a:pPr algn="l" marL="109728" indent="-109728">
              <a:buClr>
                <a:srgbClr val="0E7C7B"/>
              </a:buClr>
              <a:buSzPct val="100000"/>
              <a:buFont typeface="Arial"/>
              <a:buChar char="•"/>
            </a:pPr>
            <a:r>
              <a:rPr sz="1000" b="0" i="0">
                <a:solidFill>
                  <a:srgbClr val="43535F"/>
                </a:solidFill>
              </a:rPr>
              <a:t>ai: Gemini | Cached | Null</a:t>
            </a:r>
            <a:endParaRPr sz="1200"/>
          </a:p>
          <a:p>
            <a:pPr algn="l" marL="109728" indent="-109728">
              <a:buClr>
                <a:srgbClr val="0E7C7B"/>
              </a:buClr>
              <a:buSzPct val="100000"/>
              <a:buFont typeface="Arial"/>
              <a:buChar char="•"/>
            </a:pPr>
            <a:r>
              <a:rPr sz="1000" b="0" i="0">
                <a:solidFill>
                  <a:srgbClr val="43535F"/>
                </a:solidFill>
              </a:rPr>
              <a:t>verify: gates V1–V9</a:t>
            </a:r>
            <a:endParaRPr sz="1200"/>
          </a:p>
          <a:p>
            <a:pPr algn="l" marL="109728" indent="-109728">
              <a:buClr>
                <a:srgbClr val="0E7C7B"/>
              </a:buClr>
              <a:buSzPct val="100000"/>
              <a:buFont typeface="Arial"/>
              <a:buChar char="•"/>
            </a:pPr>
            <a:r>
              <a:rPr sz="1000" b="0" i="0">
                <a:solidFill>
                  <a:srgbClr val="43535F"/>
                </a:solidFill>
              </a:rPr>
              <a:t>cluster: corroboration</a:t>
            </a:r>
            <a:endParaRPr sz="1200"/>
          </a:p>
        </p:txBody>
      </p:sp>
      <p:sp>
        <p:nvSpPr>
          <p:cNvPr id="29" name="engine: Decide"/>
          <p:cNvSpPr/>
          <p:nvPr/>
        </p:nvSpPr>
        <p:spPr>
          <a:xfrm>
            <a:off x="9656063" y="3127248"/>
            <a:ext cx="1892807" cy="1325880"/>
          </a:xfrm>
          <a:prstGeom prst="roundRect">
            <a:avLst>
              <a:gd name="adj" fmla="val 5517"/>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t" wrap="square" lIns="82296" tIns="54864" rIns="54864" bIns="36576">
            <a:noAutofit/>
          </a:bodyPr>
          <a:lstStyle/>
          <a:p>
            <a:pPr algn="l">
              <a:spcAft>
                <a:spcPts val="200"/>
              </a:spcAft>
            </a:pPr>
            <a:r>
              <a:rPr sz="1100" b="1" i="0">
                <a:solidFill>
                  <a:srgbClr val="0A5E5D"/>
                </a:solidFill>
              </a:rPr>
              <a:t>Decide</a:t>
            </a:r>
            <a:endParaRPr sz="1200"/>
          </a:p>
          <a:p>
            <a:pPr algn="l" marL="109728" indent="-109728">
              <a:buClr>
                <a:srgbClr val="0E7C7B"/>
              </a:buClr>
              <a:buSzPct val="100000"/>
              <a:buFont typeface="Arial"/>
              <a:buChar char="•"/>
            </a:pPr>
            <a:r>
              <a:rPr sz="1000" b="0" i="0">
                <a:solidFill>
                  <a:srgbClr val="43535F"/>
                </a:solidFill>
              </a:rPr>
              <a:t>verdict: rules a–f</a:t>
            </a:r>
            <a:endParaRPr sz="1200"/>
          </a:p>
          <a:p>
            <a:pPr algn="l" marL="109728" indent="-109728">
              <a:buClr>
                <a:srgbClr val="0E7C7B"/>
              </a:buClr>
              <a:buSzPct val="100000"/>
              <a:buFont typeface="Arial"/>
              <a:buChar char="•"/>
            </a:pPr>
            <a:r>
              <a:rPr sz="1000" b="0" i="0">
                <a:solidFill>
                  <a:srgbClr val="43535F"/>
                </a:solidFill>
              </a:rPr>
              <a:t>risk: ARP, gate, cap</a:t>
            </a:r>
            <a:endParaRPr sz="1200"/>
          </a:p>
          <a:p>
            <a:pPr algn="l" marL="109728" indent="-109728">
              <a:buClr>
                <a:srgbClr val="0E7C7B"/>
              </a:buClr>
              <a:buSzPct val="100000"/>
              <a:buFont typeface="Arial"/>
              <a:buChar char="•"/>
            </a:pPr>
            <a:r>
              <a:rPr sz="1000" b="0" i="0">
                <a:solidFill>
                  <a:srgbClr val="43535F"/>
                </a:solidFill>
              </a:rPr>
              <a:t>actions: playbook, Q1–Q15</a:t>
            </a:r>
            <a:endParaRPr sz="1200"/>
          </a:p>
          <a:p>
            <a:pPr algn="l" marL="109728" indent="-109728">
              <a:buClr>
                <a:srgbClr val="0E7C7B"/>
              </a:buClr>
              <a:buSzPct val="100000"/>
              <a:buFont typeface="Arial"/>
              <a:buChar char="•"/>
            </a:pPr>
            <a:r>
              <a:rPr sz="1000" b="0" i="0">
                <a:solidFill>
                  <a:srgbClr val="43535F"/>
                </a:solidFill>
              </a:rPr>
              <a:t>compose: cells L–V</a:t>
            </a:r>
            <a:endParaRPr sz="1200"/>
          </a:p>
          <a:p>
            <a:pPr algn="l" marL="109728" indent="-109728">
              <a:buClr>
                <a:srgbClr val="0E7C7B"/>
              </a:buClr>
              <a:buSzPct val="100000"/>
              <a:buFont typeface="Arial"/>
              <a:buChar char="•"/>
            </a:pPr>
            <a:r>
              <a:rPr sz="1000" b="0" i="0">
                <a:solidFill>
                  <a:srgbClr val="43535F"/>
                </a:solidFill>
              </a:rPr>
              <a:t>review: HC records applied</a:t>
            </a:r>
            <a:endParaRPr sz="1200"/>
          </a:p>
        </p:txBody>
      </p:sp>
      <p:cxnSp>
        <p:nvCxnSpPr>
          <p:cNvPr id="30" name="engine Net policy to Collect"/>
          <p:cNvCxnSpPr>
            <a:stCxn id="26" idx="3"/>
            <a:endCxn id="27" idx="1"/>
          </p:cNvCxnSpPr>
          <p:nvPr/>
        </p:nvCxnSpPr>
        <p:spPr>
          <a:xfrm flipV="1">
            <a:off x="5047486" y="3790188"/>
            <a:ext cx="274321" cy="0"/>
          </a:xfrm>
          <a:prstGeom prst="line">
            <a:avLst/>
          </a:prstGeom>
          <a:ln w="15875">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engine Collect to Analyse"/>
          <p:cNvCxnSpPr>
            <a:stCxn id="27" idx="3"/>
            <a:endCxn id="28" idx="1"/>
          </p:cNvCxnSpPr>
          <p:nvPr/>
        </p:nvCxnSpPr>
        <p:spPr>
          <a:xfrm flipV="1">
            <a:off x="7214614" y="3790188"/>
            <a:ext cx="274322" cy="0"/>
          </a:xfrm>
          <a:prstGeom prst="line">
            <a:avLst/>
          </a:prstGeom>
          <a:ln w="15875">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engine Analyse to Decide"/>
          <p:cNvCxnSpPr>
            <a:stCxn id="28" idx="3"/>
            <a:endCxn id="29" idx="1"/>
          </p:cNvCxnSpPr>
          <p:nvPr/>
        </p:nvCxnSpPr>
        <p:spPr>
          <a:xfrm flipV="1">
            <a:off x="9381743" y="3790188"/>
            <a:ext cx="274320" cy="0"/>
          </a:xfrm>
          <a:prstGeom prst="line">
            <a:avLst/>
          </a:prstGeom>
          <a:ln w="15875">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GET requests across the boundary"/>
          <p:cNvCxnSpPr/>
          <p:nvPr/>
        </p:nvCxnSpPr>
        <p:spPr>
          <a:xfrm>
            <a:off x="2788920" y="3813048"/>
            <a:ext cx="365759" cy="0"/>
          </a:xfrm>
          <a:prstGeom prst="line">
            <a:avLst/>
          </a:prstGeom>
          <a:ln w="19050">
            <a:solidFill>
              <a:srgbClr val="0A5E5D"/>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guarded Gemini call"/>
          <p:cNvSpPr/>
          <p:nvPr/>
        </p:nvSpPr>
        <p:spPr>
          <a:xfrm>
            <a:off x="2788920" y="2958084"/>
            <a:ext cx="5646420" cy="169164"/>
          </a:xfrm>
          <a:custGeom>
            <a:avLst/>
            <a:gdLst/>
            <a:ahLst/>
            <a:cxnLst/>
            <a:rect l="l" t="t" r="r" b="b"/>
            <a:pathLst>
              <a:path w="5646420" h="169164">
                <a:moveTo>
                  <a:pt x="5646420" y="169164"/>
                </a:moveTo>
                <a:lnTo>
                  <a:pt x="5646420" y="0"/>
                </a:lnTo>
                <a:lnTo>
                  <a:pt x="0" y="0"/>
                </a:lnTo>
              </a:path>
            </a:pathLst>
          </a:custGeom>
          <a:noFill/>
          <a:ln w="22225">
            <a:solidFill>
              <a:srgbClr val="F2B705"/>
            </a:solidFill>
            <a:headEnd type="triangle" w="med" len="med"/>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ayload guard"/>
          <p:cNvSpPr/>
          <p:nvPr/>
        </p:nvSpPr>
        <p:spPr>
          <a:xfrm>
            <a:off x="3383279" y="2820924"/>
            <a:ext cx="2103120" cy="27432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C2D36"/>
                </a:solidFill>
              </a:rPr>
              <a:t>Payload guard · public text only</a:t>
            </a:r>
            <a:endParaRPr sz="1000"/>
          </a:p>
        </p:txBody>
      </p:sp>
      <p:sp>
        <p:nvSpPr>
          <p:cNvPr id="36" name="store: config/ prompts/ seeds/"/>
          <p:cNvSpPr/>
          <p:nvPr/>
        </p:nvSpPr>
        <p:spPr>
          <a:xfrm>
            <a:off x="3154679" y="4599432"/>
            <a:ext cx="1892807" cy="566928"/>
          </a:xfrm>
          <a:prstGeom prst="can">
            <a:avLst/>
          </a:prstGeom>
          <a:solidFill>
            <a:srgbClr val="F1F5F7"/>
          </a:solidFill>
          <a:ln w="9525">
            <a:solidFill>
              <a:srgbClr val="4F5F6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18872" rIns="45720" bIns="0">
            <a:noAutofit/>
          </a:bodyPr>
          <a:lstStyle/>
          <a:p>
            <a:pPr algn="ctr"/>
            <a:r>
              <a:rPr sz="1000" b="1" i="0">
                <a:solidFill>
                  <a:srgbClr val="0C2D36"/>
                </a:solidFill>
                <a:latin typeface="Consolas"/>
              </a:rPr>
              <a:t>config/ prompts/ seeds/</a:t>
            </a:r>
            <a:endParaRPr sz="1200"/>
          </a:p>
          <a:p>
            <a:pPr algn="ctr"/>
            <a:r>
              <a:rPr sz="1000" b="0" i="0">
                <a:solidFill>
                  <a:srgbClr val="43535F"/>
                </a:solidFill>
              </a:rPr>
              <a:t>versioned, hashed TOML</a:t>
            </a:r>
            <a:endParaRPr sz="1200"/>
          </a:p>
        </p:txBody>
      </p:sp>
      <p:sp>
        <p:nvSpPr>
          <p:cNvPr id="37" name="store: evidence/"/>
          <p:cNvSpPr/>
          <p:nvPr/>
        </p:nvSpPr>
        <p:spPr>
          <a:xfrm>
            <a:off x="5321807" y="4599432"/>
            <a:ext cx="1892807" cy="566928"/>
          </a:xfrm>
          <a:prstGeom prst="can">
            <a:avLst/>
          </a:prstGeom>
          <a:solidFill>
            <a:srgbClr val="F1F5F7"/>
          </a:solidFill>
          <a:ln w="9525">
            <a:solidFill>
              <a:srgbClr val="4F5F6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18872" rIns="45720" bIns="0">
            <a:noAutofit/>
          </a:bodyPr>
          <a:lstStyle/>
          <a:p>
            <a:pPr algn="ctr"/>
            <a:r>
              <a:rPr sz="1000" b="1" i="0">
                <a:solidFill>
                  <a:srgbClr val="0C2D36"/>
                </a:solidFill>
                <a:latin typeface="Consolas"/>
              </a:rPr>
              <a:t>evidence/</a:t>
            </a:r>
            <a:endParaRPr sz="1200"/>
          </a:p>
          <a:p>
            <a:pPr algn="ctr"/>
            <a:r>
              <a:rPr sz="1000" b="0" i="0">
                <a:solidFill>
                  <a:srgbClr val="43535F"/>
                </a:solidFill>
              </a:rPr>
              <a:t>SHA-256 blobs · text · shots</a:t>
            </a:r>
            <a:endParaRPr sz="1200"/>
          </a:p>
        </p:txBody>
      </p:sp>
      <p:sp>
        <p:nvSpPr>
          <p:cNvPr id="38" name="store: review/"/>
          <p:cNvSpPr/>
          <p:nvPr/>
        </p:nvSpPr>
        <p:spPr>
          <a:xfrm>
            <a:off x="7488936" y="4599432"/>
            <a:ext cx="1892807" cy="566928"/>
          </a:xfrm>
          <a:prstGeom prst="can">
            <a:avLst/>
          </a:prstGeom>
          <a:solidFill>
            <a:srgbClr val="F1F5F7"/>
          </a:solidFill>
          <a:ln w="9525">
            <a:solidFill>
              <a:srgbClr val="4F5F6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18872" rIns="45720" bIns="0">
            <a:noAutofit/>
          </a:bodyPr>
          <a:lstStyle/>
          <a:p>
            <a:pPr algn="ctr"/>
            <a:r>
              <a:rPr sz="1000" b="1" i="0">
                <a:solidFill>
                  <a:srgbClr val="0C2D36"/>
                </a:solidFill>
                <a:latin typeface="Consolas"/>
              </a:rPr>
              <a:t>review/</a:t>
            </a:r>
            <a:endParaRPr sz="1200"/>
          </a:p>
          <a:p>
            <a:pPr algn="ctr"/>
            <a:r>
              <a:rPr sz="1000" b="0" i="0">
                <a:solidFill>
                  <a:srgbClr val="43535F"/>
                </a:solidFill>
              </a:rPr>
              <a:t>HC decisions with reasons</a:t>
            </a:r>
            <a:endParaRPr sz="1200"/>
          </a:p>
        </p:txBody>
      </p:sp>
      <p:sp>
        <p:nvSpPr>
          <p:cNvPr id="39" name="store: runs/"/>
          <p:cNvSpPr/>
          <p:nvPr/>
        </p:nvSpPr>
        <p:spPr>
          <a:xfrm>
            <a:off x="9656063" y="4599432"/>
            <a:ext cx="1892807" cy="566928"/>
          </a:xfrm>
          <a:prstGeom prst="can">
            <a:avLst/>
          </a:prstGeom>
          <a:solidFill>
            <a:srgbClr val="F1F5F7"/>
          </a:solidFill>
          <a:ln w="9525">
            <a:solidFill>
              <a:srgbClr val="4F5F6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18872" rIns="45720" bIns="0">
            <a:noAutofit/>
          </a:bodyPr>
          <a:lstStyle/>
          <a:p>
            <a:pPr algn="ctr"/>
            <a:r>
              <a:rPr sz="1000" b="1" i="0">
                <a:solidFill>
                  <a:srgbClr val="0C2D36"/>
                </a:solidFill>
                <a:latin typeface="Consolas"/>
              </a:rPr>
              <a:t>runs/</a:t>
            </a:r>
            <a:endParaRPr sz="1200"/>
          </a:p>
          <a:p>
            <a:pPr algn="ctr"/>
            <a:r>
              <a:rPr sz="1000" b="0" i="0">
                <a:solidFill>
                  <a:srgbClr val="43535F"/>
                </a:solidFill>
              </a:rPr>
              <a:t>manifests · logs · hashes</a:t>
            </a:r>
            <a:endParaRPr sz="1200"/>
          </a:p>
        </p:txBody>
      </p:sp>
      <p:cxnSp>
        <p:nvCxnSpPr>
          <p:cNvPr id="40" name="collect writes evidence"/>
          <p:cNvCxnSpPr>
            <a:stCxn id="27" idx="2"/>
            <a:endCxn id="37" idx="0"/>
          </p:cNvCxnSpPr>
          <p:nvPr/>
        </p:nvCxnSpPr>
        <p:spPr>
          <a:xfrm flipH="1">
            <a:off x="6268210" y="4453128"/>
            <a:ext cx="0" cy="146304"/>
          </a:xfrm>
          <a:prstGeom prst="line">
            <a:avLst/>
          </a:prstGeom>
          <a:ln w="12700">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analyse reads evidence"/>
          <p:cNvCxnSpPr/>
          <p:nvPr/>
        </p:nvCxnSpPr>
        <p:spPr>
          <a:xfrm flipV="1">
            <a:off x="7214615" y="4453128"/>
            <a:ext cx="548641" cy="429768"/>
          </a:xfrm>
          <a:prstGeom prst="line">
            <a:avLst/>
          </a:prstGeom>
          <a:ln w="12700">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2" name="reviews applied"/>
          <p:cNvCxnSpPr>
            <a:stCxn id="38" idx="0"/>
            <a:endCxn id="28" idx="2"/>
          </p:cNvCxnSpPr>
          <p:nvPr/>
        </p:nvCxnSpPr>
        <p:spPr>
          <a:xfrm flipH="1" flipV="1">
            <a:off x="8435339" y="4453128"/>
            <a:ext cx="0" cy="146304"/>
          </a:xfrm>
          <a:prstGeom prst="line">
            <a:avLst/>
          </a:prstGeom>
          <a:ln w="12700">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3" name="decide writes run record"/>
          <p:cNvCxnSpPr>
            <a:stCxn id="29" idx="2"/>
            <a:endCxn id="39" idx="0"/>
          </p:cNvCxnSpPr>
          <p:nvPr/>
        </p:nvCxnSpPr>
        <p:spPr>
          <a:xfrm flipH="1">
            <a:off x="10602466" y="4453128"/>
            <a:ext cx="0" cy="146304"/>
          </a:xfrm>
          <a:prstGeom prst="line">
            <a:avLst/>
          </a:prstGeom>
          <a:ln w="12700">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output: Completed workbook"/>
          <p:cNvSpPr/>
          <p:nvPr/>
        </p:nvSpPr>
        <p:spPr>
          <a:xfrm>
            <a:off x="3154679" y="5257800"/>
            <a:ext cx="2676143" cy="457200"/>
          </a:xfrm>
          <a:prstGeom prst="flowChartDocument">
            <a:avLst/>
          </a:prstGeom>
          <a:solidFill>
            <a:srgbClr val="FFFFFF"/>
          </a:solidFill>
          <a:ln w="9525">
            <a:solidFill>
              <a:srgbClr val="4F5F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45720" bIns="73152">
            <a:noAutofit/>
          </a:bodyPr>
          <a:lstStyle/>
          <a:p>
            <a:pPr algn="l"/>
            <a:r>
              <a:rPr sz="1000" b="1" i="0">
                <a:solidFill>
                  <a:srgbClr val="0C2D36"/>
                </a:solidFill>
              </a:rPr>
              <a:t>Completed workbook</a:t>
            </a:r>
            <a:r>
              <a:rPr sz="1000" b="0" i="0">
                <a:solidFill>
                  <a:srgbClr val="43535F"/>
                </a:solidFill>
              </a:rPr>
              <a:t>  cream cells L–V + six appended sheets</a:t>
            </a:r>
            <a:endParaRPr sz="1200"/>
          </a:p>
        </p:txBody>
      </p:sp>
      <p:sp>
        <p:nvSpPr>
          <p:cNvPr id="45" name="output: Run record"/>
          <p:cNvSpPr/>
          <p:nvPr/>
        </p:nvSpPr>
        <p:spPr>
          <a:xfrm>
            <a:off x="6013704" y="5257800"/>
            <a:ext cx="2676143" cy="457200"/>
          </a:xfrm>
          <a:prstGeom prst="flowChartDocument">
            <a:avLst/>
          </a:prstGeom>
          <a:solidFill>
            <a:srgbClr val="FFFFFF"/>
          </a:solidFill>
          <a:ln w="9525">
            <a:solidFill>
              <a:srgbClr val="4F5F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45720" bIns="73152">
            <a:noAutofit/>
          </a:bodyPr>
          <a:lstStyle/>
          <a:p>
            <a:pPr algn="l"/>
            <a:r>
              <a:rPr sz="1000" b="1" i="0">
                <a:solidFill>
                  <a:srgbClr val="0C2D36"/>
                </a:solidFill>
              </a:rPr>
              <a:t>Run record</a:t>
            </a:r>
            <a:r>
              <a:rPr sz="1000" b="0" i="0">
                <a:solidFill>
                  <a:srgbClr val="43535F"/>
                </a:solidFill>
              </a:rPr>
              <a:t>  manifest, config and prompt hashes</a:t>
            </a:r>
            <a:endParaRPr sz="1200"/>
          </a:p>
        </p:txBody>
      </p:sp>
      <p:sp>
        <p:nvSpPr>
          <p:cNvPr id="46" name="output: Deck"/>
          <p:cNvSpPr/>
          <p:nvPr/>
        </p:nvSpPr>
        <p:spPr>
          <a:xfrm>
            <a:off x="8872728" y="5257800"/>
            <a:ext cx="2676143" cy="457200"/>
          </a:xfrm>
          <a:prstGeom prst="flowChartDocument">
            <a:avLst/>
          </a:prstGeom>
          <a:solidFill>
            <a:srgbClr val="FFFFFF"/>
          </a:solidFill>
          <a:ln w="9525">
            <a:solidFill>
              <a:srgbClr val="4F5F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45720" bIns="73152">
            <a:noAutofit/>
          </a:bodyPr>
          <a:lstStyle/>
          <a:p>
            <a:pPr algn="l"/>
            <a:r>
              <a:rPr sz="1000" b="1" i="0">
                <a:solidFill>
                  <a:srgbClr val="0C2D36"/>
                </a:solidFill>
              </a:rPr>
              <a:t>Deck</a:t>
            </a:r>
            <a:r>
              <a:rPr sz="1000" b="0" i="0">
                <a:solidFill>
                  <a:srgbClr val="43535F"/>
                </a:solidFill>
              </a:rPr>
              <a:t>  python-pptx, numbers from the frozen run</a:t>
            </a:r>
            <a:endParaRPr sz="120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10896"/>
            <a:ext cx="9509760" cy="640080"/>
          </a:xfrm>
        </p:spPr>
        <p:txBody>
          <a:bodyPr wrap="square" anchor="b" lIns="0" tIns="0" rIns="0" bIns="0">
            <a:noAutofit/>
          </a:bodyPr>
          <a:lstStyle/>
          <a:p>
            <a:pPr algn="l"/>
            <a:r>
              <a:rPr sz="3000" b="1" i="0">
                <a:solidFill>
                  <a:srgbClr val="0C2D36"/>
                </a:solidFill>
              </a:rPr>
              <a:t>Source strategy: what each tier reads, and why it thins</a:t>
            </a:r>
            <a:endParaRPr sz="1200"/>
          </a:p>
        </p:txBody>
      </p:sp>
      <p:sp>
        <p:nvSpPr>
          <p:cNvPr id="3" name="Corner tag"/>
          <p:cNvSpPr/>
          <p:nvPr/>
        </p:nvSpPr>
        <p:spPr>
          <a:xfrm>
            <a:off x="10241280" y="457200"/>
            <a:ext cx="1444752" cy="310896"/>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OUTCOME 03</a:t>
            </a:r>
            <a:endParaRPr sz="1000"/>
          </a:p>
        </p:txBody>
      </p:sp>
      <p:sp>
        <p:nvSpPr>
          <p:cNvPr id="4" name="Kicker"/>
          <p:cNvSpPr txBox="1"/>
          <p:nvPr/>
        </p:nvSpPr>
        <p:spPr>
          <a:xfrm>
            <a:off x="502920" y="987552"/>
            <a:ext cx="11183112" cy="502920"/>
          </a:xfrm>
          <a:prstGeom prst="rect">
            <a:avLst/>
          </a:prstGeom>
          <a:noFill/>
        </p:spPr>
        <p:txBody>
          <a:bodyPr wrap="square" anchor="t" lIns="0" tIns="0" rIns="0" bIns="0">
            <a:noAutofit/>
          </a:bodyPr>
          <a:lstStyle/>
          <a:p>
            <a:pPr algn="l"/>
            <a:r>
              <a:rPr sz="1500" b="0" i="0">
                <a:solidFill>
                  <a:srgbClr val="0A5E5D"/>
                </a:solidFill>
              </a:rPr>
              <a:t>Shaded families are mandatory and must end with a Coverage Log status; reliability (SR) comes from the source type, never from the model.</a:t>
            </a:r>
            <a:endParaRPr sz="1200"/>
          </a:p>
        </p:txBody>
      </p:sp>
      <p:sp>
        <p:nvSpPr>
          <p:cNvPr id="5"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66757F"/>
                </a:solidFill>
              </a:rPr>
              <a:t>Team Osprey · Vendor AI footprint · Confidential case-study material, not for distribution</a:t>
            </a:r>
            <a:endParaRPr sz="1200"/>
          </a:p>
        </p:txBody>
      </p:sp>
      <p:sp>
        <p:nvSpPr>
          <p:cNvPr id="6" name="Slide number"/>
          <p:cNvSpPr txBox="1"/>
          <p:nvPr/>
        </p:nvSpPr>
        <p:spPr>
          <a:xfrm>
            <a:off x="10954512" y="6437376"/>
            <a:ext cx="731520" cy="256032"/>
          </a:xfrm>
          <a:prstGeom prst="rect">
            <a:avLst/>
          </a:prstGeom>
          <a:noFill/>
        </p:spPr>
        <p:txBody>
          <a:bodyPr wrap="square" anchor="ctr" lIns="0" tIns="0" rIns="0" bIns="0">
            <a:noAutofit/>
          </a:bodyPr>
          <a:lstStyle/>
          <a:p>
            <a:pPr algn="r"/>
            <a:fld id="{D82EB708-D7CF-527D-AB72-E424C597FB86}" type="slidenum">
              <a:rPr lang="en-GB" sz="1000" dirty="0">
                <a:solidFill>
                  <a:srgbClr val="66757F"/>
                </a:solidFill>
              </a:rPr>
              <a:t>6</a:t>
            </a:fld>
            <a:endParaRPr sz="1200"/>
          </a:p>
        </p:txBody>
      </p:sp>
      <p:graphicFrame>
        <p:nvGraphicFramePr>
          <p:cNvPr id="7" name="Family by tier table"/>
          <p:cNvGraphicFramePr>
            <a:graphicFrameLocks noGrp="1"/>
          </p:cNvGraphicFramePr>
          <p:nvPr/>
        </p:nvGraphicFramePr>
        <p:xfrm>
          <a:off x="502920" y="1645920"/>
          <a:ext cx="7223760" cy="3383280"/>
        </p:xfrm>
        <a:graphic>
          <a:graphicData uri="http://schemas.openxmlformats.org/drawingml/2006/table">
            <a:tbl>
              <a:tblPr firstRow="1">
                <a:tableStyleId>{2D5ABB26-0587-4C30-8999-92F81FD0307C}</a:tableStyleId>
              </a:tblPr>
              <a:tblGrid>
                <a:gridCol w="1188720"/>
                <a:gridCol w="658368"/>
                <a:gridCol w="658368"/>
                <a:gridCol w="658368"/>
                <a:gridCol w="658368"/>
                <a:gridCol w="3401568"/>
              </a:tblGrid>
              <a:tr h="310896">
                <a:tc>
                  <a:txBody>
                    <a:bodyPr wrap="square" anchor="t" lIns="64008" tIns="32004" rIns="64008" bIns="32004">
                      <a:noAutofit/>
                    </a:bodyPr>
                    <a:lstStyle/>
                    <a:p>
                      <a:pPr algn="l"/>
                      <a:r>
                        <a:rPr sz="1000" b="1" i="0">
                          <a:solidFill>
                            <a:srgbClr val="FFFFFF"/>
                          </a:solidFill>
                        </a:rPr>
                        <a:t>Family</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Critical</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High</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Medium</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Low</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Why it thins below Critical</a:t>
                      </a:r>
                      <a:endParaRPr sz="1000"/>
                    </a:p>
                  </a:txBody>
                  <a:tcPr marL="64008" marR="64008" marT="32004" marB="32004" anchor="ctr">
                    <a:solidFill>
                      <a:srgbClr val="0C2D36"/>
                    </a:solidFill>
                  </a:tcPr>
                </a:tc>
              </a:tr>
              <a:tr h="384048">
                <a:tc>
                  <a:txBody>
                    <a:bodyPr wrap="square" anchor="t" lIns="64008" tIns="32004" rIns="64008" bIns="32004">
                      <a:noAutofit/>
                    </a:bodyPr>
                    <a:lstStyle/>
                    <a:p>
                      <a:pPr algn="l"/>
                      <a:r>
                        <a:rPr sz="1100" b="1" i="0">
                          <a:solidFill>
                            <a:srgbClr val="0C2D36"/>
                          </a:solidFill>
                        </a:rPr>
                        <a:t>LEG</a:t>
                      </a:r>
                      <a:endParaRPr sz="1000"/>
                    </a:p>
                    <a:p>
                      <a:pPr algn="l"/>
                      <a:r>
                        <a:rPr sz="1000" b="0" i="0">
                          <a:solidFill>
                            <a:srgbClr val="43535F"/>
                          </a:solidFill>
                        </a:rPr>
                        <a:t>Legal &amp; trust</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00" b="1" i="0">
                          <a:solidFill>
                            <a:srgbClr val="0C2D36"/>
                          </a:solidFill>
                        </a:rPr>
                        <a:t>Full</a:t>
                      </a:r>
                      <a:endParaRPr sz="1000"/>
                    </a:p>
                    <a:p>
                      <a:pPr algn="ctr"/>
                      <a:r>
                        <a:rPr sz="1000" b="0" i="0">
                          <a:solidFill>
                            <a:srgbClr val="43535F"/>
                          </a:solidFill>
                        </a:rPr>
                        <a:t>≤ 40 req.</a:t>
                      </a:r>
                      <a:endParaRPr sz="1000"/>
                    </a:p>
                  </a:txBody>
                  <a:tcPr marL="27432" marR="27432" marT="32004" marB="32004" anchor="ctr">
                    <a:lnB w="9525" cap="flat" cmpd="sng" algn="ctr">
                      <a:solidFill>
                        <a:srgbClr val="C8D3D9"/>
                      </a:solidFill>
                      <a:prstDash val="solid"/>
                    </a:lnB>
                    <a:solidFill>
                      <a:srgbClr val="E3F2F0"/>
                    </a:solidFill>
                  </a:tcPr>
                </a:tc>
                <a:tc>
                  <a:txBody>
                    <a:bodyPr wrap="square" anchor="t" lIns="64008" tIns="32004" rIns="64008" bIns="32004">
                      <a:noAutofit/>
                    </a:bodyPr>
                    <a:lstStyle/>
                    <a:p>
                      <a:pPr algn="ctr"/>
                      <a:r>
                        <a:rPr sz="1000" b="1" i="0">
                          <a:solidFill>
                            <a:srgbClr val="0C2D36"/>
                          </a:solidFill>
                        </a:rPr>
                        <a:t>Full</a:t>
                      </a:r>
                      <a:endParaRPr sz="1000"/>
                    </a:p>
                    <a:p>
                      <a:pPr algn="ctr"/>
                      <a:r>
                        <a:rPr sz="1000" b="0" i="0">
                          <a:solidFill>
                            <a:srgbClr val="43535F"/>
                          </a:solidFill>
                        </a:rPr>
                        <a:t>≤ 40 req.</a:t>
                      </a:r>
                      <a:endParaRPr sz="1000"/>
                    </a:p>
                  </a:txBody>
                  <a:tcPr marL="27432" marR="27432" marT="32004" marB="32004" anchor="ctr">
                    <a:lnB w="9525" cap="flat" cmpd="sng" algn="ctr">
                      <a:solidFill>
                        <a:srgbClr val="C8D3D9"/>
                      </a:solidFill>
                      <a:prstDash val="solid"/>
                    </a:lnB>
                    <a:solidFill>
                      <a:srgbClr val="E3F2F0"/>
                    </a:solidFill>
                  </a:tcPr>
                </a:tc>
                <a:tc>
                  <a:txBody>
                    <a:bodyPr wrap="square" anchor="t" lIns="64008" tIns="32004" rIns="64008" bIns="32004">
                      <a:noAutofit/>
                    </a:bodyPr>
                    <a:lstStyle/>
                    <a:p>
                      <a:pPr algn="ctr"/>
                      <a:r>
                        <a:rPr sz="1000" b="1" i="0">
                          <a:solidFill>
                            <a:srgbClr val="0C2D36"/>
                          </a:solidFill>
                        </a:rPr>
                        <a:t>Privacy</a:t>
                      </a:r>
                      <a:endParaRPr sz="1000"/>
                    </a:p>
                    <a:p>
                      <a:pPr algn="ctr"/>
                      <a:r>
                        <a:rPr sz="1000" b="0" i="0">
                          <a:solidFill>
                            <a:srgbClr val="43535F"/>
                          </a:solidFill>
                        </a:rPr>
                        <a:t>≤ 15 req.</a:t>
                      </a:r>
                      <a:endParaRPr sz="1000"/>
                    </a:p>
                  </a:txBody>
                  <a:tcPr marL="27432" marR="27432" marT="32004" marB="32004" anchor="ctr">
                    <a:lnB w="9525" cap="flat" cmpd="sng" algn="ctr">
                      <a:solidFill>
                        <a:srgbClr val="C8D3D9"/>
                      </a:solidFill>
                      <a:prstDash val="solid"/>
                    </a:lnB>
                    <a:solidFill>
                      <a:srgbClr val="E3F2F0"/>
                    </a:solidFill>
                  </a:tcPr>
                </a:tc>
                <a:tc>
                  <a:txBody>
                    <a:bodyPr wrap="square" anchor="t" lIns="64008" tIns="32004" rIns="64008" bIns="32004">
                      <a:noAutofit/>
                    </a:bodyPr>
                    <a:lstStyle/>
                    <a:p>
                      <a:pPr algn="ctr"/>
                      <a:r>
                        <a:rPr sz="1000" b="1" i="0">
                          <a:solidFill>
                            <a:srgbClr val="0C2D36"/>
                          </a:solidFill>
                        </a:rPr>
                        <a:t>Screen</a:t>
                      </a:r>
                      <a:endParaRPr sz="1000"/>
                    </a:p>
                    <a:p>
                      <a:pPr algn="ctr"/>
                      <a:r>
                        <a:rPr sz="1000" b="0" i="0">
                          <a:solidFill>
                            <a:srgbClr val="43535F"/>
                          </a:solidFill>
                        </a:rPr>
                        <a:t>≤ 3 req.</a:t>
                      </a:r>
                      <a:endParaRPr sz="1000"/>
                    </a:p>
                  </a:txBody>
                  <a:tcPr marL="27432" marR="27432" marT="32004" marB="32004" anchor="ctr">
                    <a:lnB w="9525" cap="flat" cmpd="sng" algn="ctr">
                      <a:solidFill>
                        <a:srgbClr val="C8D3D9"/>
                      </a:solidFill>
                      <a:prstDash val="solid"/>
                    </a:lnB>
                    <a:solidFill>
                      <a:srgbClr val="E3F2F0"/>
                    </a:solidFill>
                  </a:tcPr>
                </a:tc>
                <a:tc>
                  <a:txBody>
                    <a:bodyPr wrap="square" anchor="t" lIns="64008" tIns="32004" rIns="64008" bIns="32004">
                      <a:noAutofit/>
                    </a:bodyPr>
                    <a:lstStyle/>
                    <a:p>
                      <a:pPr algn="l"/>
                      <a:r>
                        <a:rPr sz="1000" b="0" i="0">
                          <a:solidFill>
                            <a:srgbClr val="43535F"/>
                          </a:solidFill>
                        </a:rPr>
                        <a:t>Cheap, legally accountable and where AI sub-processors appear first.</a:t>
                      </a:r>
                      <a:endParaRPr sz="1000"/>
                    </a:p>
                  </a:txBody>
                  <a:tcPr marL="64008" marR="64008" marT="32004" marB="32004" anchor="ctr">
                    <a:lnB w="9525" cap="flat" cmpd="sng" algn="ctr">
                      <a:solidFill>
                        <a:srgbClr val="C8D3D9"/>
                      </a:solidFill>
                      <a:prstDash val="solid"/>
                    </a:lnB>
                    <a:solidFill>
                      <a:srgbClr val="FFFFFF"/>
                    </a:solidFill>
                  </a:tcPr>
                </a:tc>
              </a:tr>
              <a:tr h="384048">
                <a:tc>
                  <a:txBody>
                    <a:bodyPr wrap="square" anchor="t" lIns="64008" tIns="32004" rIns="64008" bIns="32004">
                      <a:noAutofit/>
                    </a:bodyPr>
                    <a:lstStyle/>
                    <a:p>
                      <a:pPr algn="l"/>
                      <a:r>
                        <a:rPr sz="1100" b="1" i="0">
                          <a:solidFill>
                            <a:srgbClr val="0C2D36"/>
                          </a:solidFill>
                        </a:rPr>
                        <a:t>REG</a:t>
                      </a:r>
                      <a:endParaRPr sz="1000"/>
                    </a:p>
                    <a:p>
                      <a:pPr algn="l"/>
                      <a:r>
                        <a:rPr sz="1000" b="0" i="0">
                          <a:solidFill>
                            <a:srgbClr val="43535F"/>
                          </a:solidFill>
                        </a:rPr>
                        <a:t>SEC registrants</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00" b="1" i="0">
                          <a:solidFill>
                            <a:srgbClr val="0C2D36"/>
                          </a:solidFill>
                        </a:rPr>
                        <a:t>Full</a:t>
                      </a:r>
                      <a:endParaRPr sz="1000"/>
                    </a:p>
                    <a:p>
                      <a:pPr algn="ctr"/>
                      <a:r>
                        <a:rPr sz="1000" b="0" i="0">
                          <a:solidFill>
                            <a:srgbClr val="43535F"/>
                          </a:solidFill>
                        </a:rPr>
                        <a:t>≤ 80 req.</a:t>
                      </a:r>
                      <a:endParaRPr sz="1000"/>
                    </a:p>
                  </a:txBody>
                  <a:tcPr marL="27432" marR="27432" marT="32004" marB="32004" anchor="ctr">
                    <a:lnB w="9525" cap="flat" cmpd="sng" algn="ctr">
                      <a:solidFill>
                        <a:srgbClr val="C8D3D9"/>
                      </a:solidFill>
                      <a:prstDash val="solid"/>
                    </a:lnB>
                    <a:solidFill>
                      <a:srgbClr val="E3F2F0"/>
                    </a:solidFill>
                  </a:tcPr>
                </a:tc>
                <a:tc>
                  <a:txBody>
                    <a:bodyPr wrap="square" anchor="t" lIns="64008" tIns="32004" rIns="64008" bIns="32004">
                      <a:noAutofit/>
                    </a:bodyPr>
                    <a:lstStyle/>
                    <a:p>
                      <a:pPr algn="ctr"/>
                      <a:r>
                        <a:rPr sz="1000" b="1" i="0">
                          <a:solidFill>
                            <a:srgbClr val="0C2D36"/>
                          </a:solidFill>
                        </a:rPr>
                        <a:t>Full</a:t>
                      </a:r>
                      <a:endParaRPr sz="1000"/>
                    </a:p>
                    <a:p>
                      <a:pPr algn="ctr"/>
                      <a:r>
                        <a:rPr sz="1000" b="0" i="0">
                          <a:solidFill>
                            <a:srgbClr val="43535F"/>
                          </a:solidFill>
                        </a:rPr>
                        <a:t>≤ 40 req.</a:t>
                      </a:r>
                      <a:endParaRPr sz="1000"/>
                    </a:p>
                  </a:txBody>
                  <a:tcPr marL="27432" marR="27432" marT="32004" marB="32004" anchor="ctr">
                    <a:lnB w="9525" cap="flat" cmpd="sng" algn="ctr">
                      <a:solidFill>
                        <a:srgbClr val="C8D3D9"/>
                      </a:solidFill>
                      <a:prstDash val="solid"/>
                    </a:lnB>
                    <a:solidFill>
                      <a:srgbClr val="E3F2F0"/>
                    </a:solidFill>
                  </a:tcPr>
                </a:tc>
                <a:tc>
                  <a:txBody>
                    <a:bodyPr wrap="square" anchor="t" lIns="64008" tIns="32004" rIns="64008" bIns="32004">
                      <a:noAutofit/>
                    </a:bodyPr>
                    <a:lstStyle/>
                    <a:p>
                      <a:pPr algn="ctr"/>
                      <a:r>
                        <a:rPr sz="1000" b="1" i="0">
                          <a:solidFill>
                            <a:srgbClr val="0C2D36"/>
                          </a:solidFill>
                        </a:rPr>
                        <a:t>1 query</a:t>
                      </a:r>
                      <a:endParaRPr sz="1000"/>
                    </a:p>
                    <a:p>
                      <a:pPr algn="ctr"/>
                      <a:r>
                        <a:rPr sz="1000" b="0" i="0">
                          <a:solidFill>
                            <a:srgbClr val="43535F"/>
                          </a:solidFill>
                        </a:rPr>
                        <a:t>≤ 5 req.</a:t>
                      </a:r>
                      <a:endParaRPr sz="1000"/>
                    </a:p>
                  </a:txBody>
                  <a:tcPr marL="27432" marR="27432" marT="32004" marB="32004" anchor="ctr">
                    <a:lnB w="9525" cap="flat" cmpd="sng" algn="ctr">
                      <a:solidFill>
                        <a:srgbClr val="C8D3D9"/>
                      </a:solidFill>
                      <a:prstDash val="solid"/>
                    </a:lnB>
                    <a:solidFill>
                      <a:srgbClr val="E3F2F0"/>
                    </a:solidFill>
                  </a:tcPr>
                </a:tc>
                <a:tc>
                  <a:txBody>
                    <a:bodyPr wrap="square" anchor="t" lIns="64008" tIns="32004" rIns="64008" bIns="32004">
                      <a:noAutofit/>
                    </a:bodyPr>
                    <a:lstStyle/>
                    <a:p>
                      <a:pPr algn="ctr"/>
                      <a:r>
                        <a:rPr sz="1000" b="0" i="0">
                          <a:solidFill>
                            <a:srgbClr val="66757F"/>
                          </a:solidFill>
                        </a:rPr>
                        <a:t>—</a:t>
                      </a:r>
                      <a:endParaRPr sz="1000"/>
                    </a:p>
                  </a:txBody>
                  <a:tcPr marL="27432" marR="27432"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Filings rarely describe a non-critical service, and most smaller vendors do not file.</a:t>
                      </a:r>
                      <a:endParaRPr sz="1000"/>
                    </a:p>
                  </a:txBody>
                  <a:tcPr marL="64008" marR="64008" marT="32004" marB="32004" anchor="ctr">
                    <a:lnB w="9525" cap="flat" cmpd="sng" algn="ctr">
                      <a:solidFill>
                        <a:srgbClr val="C8D3D9"/>
                      </a:solidFill>
                      <a:prstDash val="solid"/>
                    </a:lnB>
                    <a:solidFill>
                      <a:srgbClr val="FFFFFF"/>
                    </a:solidFill>
                  </a:tcPr>
                </a:tc>
              </a:tr>
              <a:tr h="384048">
                <a:tc>
                  <a:txBody>
                    <a:bodyPr wrap="square" anchor="t" lIns="64008" tIns="32004" rIns="64008" bIns="32004">
                      <a:noAutofit/>
                    </a:bodyPr>
                    <a:lstStyle/>
                    <a:p>
                      <a:pPr algn="l"/>
                      <a:r>
                        <a:rPr sz="1100" b="1" i="0">
                          <a:solidFill>
                            <a:srgbClr val="0C2D36"/>
                          </a:solidFill>
                        </a:rPr>
                        <a:t>PRD</a:t>
                      </a:r>
                      <a:endParaRPr sz="1000"/>
                    </a:p>
                    <a:p>
                      <a:pPr algn="l"/>
                      <a:r>
                        <a:rPr sz="1000" b="0" i="0">
                          <a:solidFill>
                            <a:srgbClr val="43535F"/>
                          </a:solidFill>
                        </a:rPr>
                        <a:t>Product &amp; news</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00" b="1" i="0">
                          <a:solidFill>
                            <a:srgbClr val="0C2D36"/>
                          </a:solidFill>
                        </a:rPr>
                        <a:t>Full</a:t>
                      </a:r>
                      <a:endParaRPr sz="1000"/>
                    </a:p>
                    <a:p>
                      <a:pPr algn="ctr"/>
                      <a:r>
                        <a:rPr sz="1000" b="0" i="0">
                          <a:solidFill>
                            <a:srgbClr val="43535F"/>
                          </a:solidFill>
                        </a:rPr>
                        <a:t>≤ 150 req.</a:t>
                      </a:r>
                      <a:endParaRPr sz="1000"/>
                    </a:p>
                  </a:txBody>
                  <a:tcPr marL="27432" marR="27432" marT="32004" marB="32004" anchor="ctr">
                    <a:lnB w="9525" cap="flat" cmpd="sng" algn="ctr">
                      <a:solidFill>
                        <a:srgbClr val="C8D3D9"/>
                      </a:solidFill>
                      <a:prstDash val="solid"/>
                    </a:lnB>
                    <a:solidFill>
                      <a:srgbClr val="E3F2F0"/>
                    </a:solidFill>
                  </a:tcPr>
                </a:tc>
                <a:tc>
                  <a:txBody>
                    <a:bodyPr wrap="square" anchor="t" lIns="64008" tIns="32004" rIns="64008" bIns="32004">
                      <a:noAutofit/>
                    </a:bodyPr>
                    <a:lstStyle/>
                    <a:p>
                      <a:pPr algn="ctr"/>
                      <a:r>
                        <a:rPr sz="1000" b="1" i="0">
                          <a:solidFill>
                            <a:srgbClr val="0C2D36"/>
                          </a:solidFill>
                        </a:rPr>
                        <a:t>Full</a:t>
                      </a:r>
                      <a:endParaRPr sz="1000"/>
                    </a:p>
                    <a:p>
                      <a:pPr algn="ctr"/>
                      <a:r>
                        <a:rPr sz="1000" b="0" i="0">
                          <a:solidFill>
                            <a:srgbClr val="43535F"/>
                          </a:solidFill>
                        </a:rPr>
                        <a:t>≤ 100 req.</a:t>
                      </a:r>
                      <a:endParaRPr sz="1000"/>
                    </a:p>
                  </a:txBody>
                  <a:tcPr marL="27432" marR="27432" marT="32004" marB="32004" anchor="ctr">
                    <a:lnB w="9525" cap="flat" cmpd="sng" algn="ctr">
                      <a:solidFill>
                        <a:srgbClr val="C8D3D9"/>
                      </a:solidFill>
                      <a:prstDash val="solid"/>
                    </a:lnB>
                    <a:solidFill>
                      <a:srgbClr val="E3F2F0"/>
                    </a:solidFill>
                  </a:tcPr>
                </a:tc>
                <a:tc>
                  <a:txBody>
                    <a:bodyPr wrap="square" anchor="t" lIns="64008" tIns="32004" rIns="64008" bIns="32004">
                      <a:noAutofit/>
                    </a:bodyPr>
                    <a:lstStyle/>
                    <a:p>
                      <a:pPr algn="ctr"/>
                      <a:r>
                        <a:rPr sz="1000" b="1" i="0">
                          <a:solidFill>
                            <a:srgbClr val="0C2D36"/>
                          </a:solidFill>
                        </a:rPr>
                        <a:t>Keyword</a:t>
                      </a:r>
                      <a:endParaRPr sz="1000"/>
                    </a:p>
                    <a:p>
                      <a:pPr algn="ctr"/>
                      <a:r>
                        <a:rPr sz="1000" b="0" i="0">
                          <a:solidFill>
                            <a:srgbClr val="43535F"/>
                          </a:solidFill>
                        </a:rPr>
                        <a:t>≤ 20 req.</a:t>
                      </a:r>
                      <a:endParaRPr sz="1000"/>
                    </a:p>
                  </a:txBody>
                  <a:tcPr marL="27432" marR="27432" marT="32004" marB="32004" anchor="ctr">
                    <a:lnB w="9525" cap="flat" cmpd="sng" algn="ctr">
                      <a:solidFill>
                        <a:srgbClr val="C8D3D9"/>
                      </a:solidFill>
                      <a:prstDash val="solid"/>
                    </a:lnB>
                    <a:solidFill>
                      <a:srgbClr val="E3F2F0"/>
                    </a:solidFill>
                  </a:tcPr>
                </a:tc>
                <a:tc>
                  <a:txBody>
                    <a:bodyPr wrap="square" anchor="t" lIns="64008" tIns="32004" rIns="64008" bIns="32004">
                      <a:noAutofit/>
                    </a:bodyPr>
                    <a:lstStyle/>
                    <a:p>
                      <a:pPr algn="ctr"/>
                      <a:r>
                        <a:rPr sz="1000" b="1" i="0">
                          <a:solidFill>
                            <a:srgbClr val="0C2D36"/>
                          </a:solidFill>
                        </a:rPr>
                        <a:t>Homepage</a:t>
                      </a:r>
                      <a:endParaRPr sz="1000"/>
                    </a:p>
                    <a:p>
                      <a:pPr algn="ctr"/>
                      <a:r>
                        <a:rPr sz="1000" b="0" i="0">
                          <a:solidFill>
                            <a:srgbClr val="43535F"/>
                          </a:solidFill>
                        </a:rPr>
                        <a:t>≤ 1 req.</a:t>
                      </a:r>
                      <a:endParaRPr sz="1000"/>
                    </a:p>
                  </a:txBody>
                  <a:tcPr marL="27432" marR="27432" marT="32004" marB="32004" anchor="ctr">
                    <a:lnB w="9525" cap="flat" cmpd="sng" algn="ctr">
                      <a:solidFill>
                        <a:srgbClr val="C8D3D9"/>
                      </a:solidFill>
                      <a:prstDash val="solid"/>
                    </a:lnB>
                    <a:solidFill>
                      <a:srgbClr val="E3F2F0"/>
                    </a:solidFill>
                  </a:tcPr>
                </a:tc>
                <a:tc>
                  <a:txBody>
                    <a:bodyPr wrap="square" anchor="t" lIns="64008" tIns="32004" rIns="64008" bIns="32004">
                      <a:noAutofit/>
                    </a:bodyPr>
                    <a:lstStyle/>
                    <a:p>
                      <a:pPr algn="l"/>
                      <a:r>
                        <a:rPr sz="1000" b="0" i="0">
                          <a:solidFill>
                            <a:srgbClr val="43535F"/>
                          </a:solidFill>
                        </a:rPr>
                        <a:t>A full crawl mostly adds marketing (U7) for a vendor whose failure would not seriously affect Meridian.</a:t>
                      </a:r>
                      <a:endParaRPr sz="1000"/>
                    </a:p>
                  </a:txBody>
                  <a:tcPr marL="64008" marR="64008" marT="32004" marB="32004" anchor="ctr">
                    <a:lnB w="9525" cap="flat" cmpd="sng" algn="ctr">
                      <a:solidFill>
                        <a:srgbClr val="C8D3D9"/>
                      </a:solidFill>
                      <a:prstDash val="solid"/>
                    </a:lnB>
                    <a:solidFill>
                      <a:srgbClr val="FFFFFF"/>
                    </a:solidFill>
                  </a:tcPr>
                </a:tc>
              </a:tr>
              <a:tr h="384048">
                <a:tc>
                  <a:txBody>
                    <a:bodyPr wrap="square" anchor="t" lIns="64008" tIns="32004" rIns="64008" bIns="32004">
                      <a:noAutofit/>
                    </a:bodyPr>
                    <a:lstStyle/>
                    <a:p>
                      <a:pPr algn="l"/>
                      <a:r>
                        <a:rPr sz="1100" b="1" i="0">
                          <a:solidFill>
                            <a:srgbClr val="0C2D36"/>
                          </a:solidFill>
                        </a:rPr>
                        <a:t>JOB</a:t>
                      </a:r>
                      <a:endParaRPr sz="1000"/>
                    </a:p>
                    <a:p>
                      <a:pPr algn="l"/>
                      <a:r>
                        <a:rPr sz="1000" b="0" i="0">
                          <a:solidFill>
                            <a:srgbClr val="43535F"/>
                          </a:solidFill>
                        </a:rPr>
                        <a:t>Own job postings</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00" b="1" i="0">
                          <a:solidFill>
                            <a:srgbClr val="0C2D36"/>
                          </a:solidFill>
                        </a:rPr>
                        <a:t>Full</a:t>
                      </a:r>
                      <a:endParaRPr sz="1000"/>
                    </a:p>
                    <a:p>
                      <a:pPr algn="ctr"/>
                      <a:r>
                        <a:rPr sz="1000" b="0" i="0">
                          <a:solidFill>
                            <a:srgbClr val="43535F"/>
                          </a:solidFill>
                        </a:rPr>
                        <a:t>≤ 120 req.</a:t>
                      </a:r>
                      <a:endParaRPr sz="1000"/>
                    </a:p>
                  </a:txBody>
                  <a:tcPr marL="27432" marR="27432" marT="32004" marB="32004" anchor="ctr">
                    <a:lnB w="9525" cap="flat" cmpd="sng" algn="ctr">
                      <a:solidFill>
                        <a:srgbClr val="C8D3D9"/>
                      </a:solidFill>
                      <a:prstDash val="solid"/>
                    </a:lnB>
                    <a:solidFill>
                      <a:srgbClr val="E3F2F0"/>
                    </a:solidFill>
                  </a:tcPr>
                </a:tc>
                <a:tc>
                  <a:txBody>
                    <a:bodyPr wrap="square" anchor="t" lIns="64008" tIns="32004" rIns="64008" bIns="32004">
                      <a:noAutofit/>
                    </a:bodyPr>
                    <a:lstStyle/>
                    <a:p>
                      <a:pPr algn="ctr"/>
                      <a:r>
                        <a:rPr sz="1000" b="1" i="0">
                          <a:solidFill>
                            <a:srgbClr val="0C2D36"/>
                          </a:solidFill>
                        </a:rPr>
                        <a:t>Full</a:t>
                      </a:r>
                      <a:endParaRPr sz="1000"/>
                    </a:p>
                    <a:p>
                      <a:pPr algn="ctr"/>
                      <a:r>
                        <a:rPr sz="1000" b="0" i="0">
                          <a:solidFill>
                            <a:srgbClr val="43535F"/>
                          </a:solidFill>
                        </a:rPr>
                        <a:t>≤ 60 req.</a:t>
                      </a:r>
                      <a:endParaRPr sz="1000"/>
                    </a:p>
                  </a:txBody>
                  <a:tcPr marL="27432" marR="27432" marT="32004" marB="32004" anchor="ctr">
                    <a:lnB w="9525" cap="flat" cmpd="sng" algn="ctr">
                      <a:solidFill>
                        <a:srgbClr val="C8D3D9"/>
                      </a:solidFill>
                      <a:prstDash val="solid"/>
                    </a:lnB>
                    <a:solidFill>
                      <a:srgbClr val="E3F2F0"/>
                    </a:solidFill>
                  </a:tcPr>
                </a:tc>
                <a:tc>
                  <a:txBody>
                    <a:bodyPr wrap="square" anchor="t" lIns="64008" tIns="32004" rIns="64008" bIns="32004">
                      <a:noAutofit/>
                    </a:bodyPr>
                    <a:lstStyle/>
                    <a:p>
                      <a:pPr algn="ctr"/>
                      <a:r>
                        <a:rPr sz="1000" b="1" i="0">
                          <a:solidFill>
                            <a:srgbClr val="0C2D36"/>
                          </a:solidFill>
                        </a:rPr>
                        <a:t>Keyword</a:t>
                      </a:r>
                      <a:endParaRPr sz="1000"/>
                    </a:p>
                    <a:p>
                      <a:pPr algn="ctr"/>
                      <a:r>
                        <a:rPr sz="1000" b="0" i="0">
                          <a:solidFill>
                            <a:srgbClr val="43535F"/>
                          </a:solidFill>
                        </a:rPr>
                        <a:t>≤ 15 req.</a:t>
                      </a:r>
                      <a:endParaRPr sz="1000"/>
                    </a:p>
                  </a:txBody>
                  <a:tcPr marL="27432" marR="27432" marT="32004" marB="32004" anchor="ctr">
                    <a:lnB w="9525" cap="flat" cmpd="sng" algn="ctr">
                      <a:solidFill>
                        <a:srgbClr val="C8D3D9"/>
                      </a:solidFill>
                      <a:prstDash val="solid"/>
                    </a:lnB>
                    <a:solidFill>
                      <a:srgbClr val="E3F2F0"/>
                    </a:solidFill>
                  </a:tcPr>
                </a:tc>
                <a:tc>
                  <a:txBody>
                    <a:bodyPr wrap="square" anchor="t" lIns="64008" tIns="32004" rIns="64008" bIns="32004">
                      <a:noAutofit/>
                    </a:bodyPr>
                    <a:lstStyle/>
                    <a:p>
                      <a:pPr algn="ctr"/>
                      <a:r>
                        <a:rPr sz="1000" b="0" i="0">
                          <a:solidFill>
                            <a:srgbClr val="66757F"/>
                          </a:solidFill>
                        </a:rPr>
                        <a:t>—</a:t>
                      </a:r>
                      <a:endParaRPr sz="1000"/>
                    </a:p>
                  </a:txBody>
                  <a:tcPr marL="27432" marR="27432"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Postings show intent and staff skills (capped at S2).</a:t>
                      </a:r>
                      <a:endParaRPr sz="1000"/>
                    </a:p>
                  </a:txBody>
                  <a:tcPr marL="64008" marR="64008" marT="32004" marB="32004" anchor="ctr">
                    <a:lnB w="9525" cap="flat" cmpd="sng" algn="ctr">
                      <a:solidFill>
                        <a:srgbClr val="C8D3D9"/>
                      </a:solidFill>
                      <a:prstDash val="solid"/>
                    </a:lnB>
                    <a:solidFill>
                      <a:srgbClr val="FFFFFF"/>
                    </a:solidFill>
                  </a:tcPr>
                </a:tc>
              </a:tr>
              <a:tr h="384048">
                <a:tc>
                  <a:txBody>
                    <a:bodyPr wrap="square" anchor="t" lIns="64008" tIns="32004" rIns="64008" bIns="32004">
                      <a:noAutofit/>
                    </a:bodyPr>
                    <a:lstStyle/>
                    <a:p>
                      <a:pPr algn="l"/>
                      <a:r>
                        <a:rPr sz="1100" b="1" i="0">
                          <a:solidFill>
                            <a:srgbClr val="0C2D36"/>
                          </a:solidFill>
                        </a:rPr>
                        <a:t>DNS</a:t>
                      </a:r>
                      <a:endParaRPr sz="1000"/>
                    </a:p>
                    <a:p>
                      <a:pPr algn="l"/>
                      <a:r>
                        <a:rPr sz="1000" b="0" i="0">
                          <a:solidFill>
                            <a:srgbClr val="43535F"/>
                          </a:solidFill>
                        </a:rPr>
                        <a:t>DNS records</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00" b="1" i="0">
                          <a:solidFill>
                            <a:srgbClr val="0C2D36"/>
                          </a:solidFill>
                        </a:rPr>
                        <a:t>Full</a:t>
                      </a:r>
                      <a:endParaRPr sz="1000"/>
                    </a:p>
                    <a:p>
                      <a:pPr algn="ctr"/>
                      <a:r>
                        <a:rPr sz="1000" b="0" i="0">
                          <a:solidFill>
                            <a:srgbClr val="43535F"/>
                          </a:solidFill>
                        </a:rPr>
                        <a:t>≤ 40 req.</a:t>
                      </a:r>
                      <a:endParaRPr sz="1000"/>
                    </a:p>
                  </a:txBody>
                  <a:tcPr marL="27432" marR="27432" marT="32004" marB="32004" anchor="ctr">
                    <a:lnB w="9525" cap="flat" cmpd="sng" algn="ctr">
                      <a:solidFill>
                        <a:srgbClr val="C8D3D9"/>
                      </a:solidFill>
                      <a:prstDash val="solid"/>
                    </a:lnB>
                    <a:solidFill>
                      <a:srgbClr val="E3F2F0"/>
                    </a:solidFill>
                  </a:tcPr>
                </a:tc>
                <a:tc>
                  <a:txBody>
                    <a:bodyPr wrap="square" anchor="t" lIns="64008" tIns="32004" rIns="64008" bIns="32004">
                      <a:noAutofit/>
                    </a:bodyPr>
                    <a:lstStyle/>
                    <a:p>
                      <a:pPr algn="ctr"/>
                      <a:r>
                        <a:rPr sz="1000" b="1" i="0">
                          <a:solidFill>
                            <a:srgbClr val="0C2D36"/>
                          </a:solidFill>
                        </a:rPr>
                        <a:t>Full</a:t>
                      </a:r>
                      <a:endParaRPr sz="1000"/>
                    </a:p>
                    <a:p>
                      <a:pPr algn="ctr"/>
                      <a:r>
                        <a:rPr sz="1000" b="0" i="0">
                          <a:solidFill>
                            <a:srgbClr val="43535F"/>
                          </a:solidFill>
                        </a:rPr>
                        <a:t>≤ 40 req.</a:t>
                      </a:r>
                      <a:endParaRPr sz="1000"/>
                    </a:p>
                  </a:txBody>
                  <a:tcPr marL="27432" marR="27432" marT="32004" marB="32004" anchor="ctr">
                    <a:lnB w="9525" cap="flat" cmpd="sng" algn="ctr">
                      <a:solidFill>
                        <a:srgbClr val="C8D3D9"/>
                      </a:solidFill>
                      <a:prstDash val="solid"/>
                    </a:lnB>
                    <a:solidFill>
                      <a:srgbClr val="E3F2F0"/>
                    </a:solidFill>
                  </a:tcPr>
                </a:tc>
                <a:tc>
                  <a:txBody>
                    <a:bodyPr wrap="square" anchor="t" lIns="64008" tIns="32004" rIns="64008" bIns="32004">
                      <a:noAutofit/>
                    </a:bodyPr>
                    <a:lstStyle/>
                    <a:p>
                      <a:pPr algn="ctr"/>
                      <a:r>
                        <a:rPr sz="1000" b="1" i="0">
                          <a:solidFill>
                            <a:srgbClr val="0C2D36"/>
                          </a:solidFill>
                        </a:rPr>
                        <a:t>Full</a:t>
                      </a:r>
                      <a:endParaRPr sz="1000"/>
                    </a:p>
                    <a:p>
                      <a:pPr algn="ctr"/>
                      <a:r>
                        <a:rPr sz="1000" b="0" i="0">
                          <a:solidFill>
                            <a:srgbClr val="43535F"/>
                          </a:solidFill>
                        </a:rPr>
                        <a:t>≤ 20 req.</a:t>
                      </a:r>
                      <a:endParaRPr sz="1000"/>
                    </a:p>
                  </a:txBody>
                  <a:tcPr marL="27432" marR="27432" marT="32004" marB="32004" anchor="ctr">
                    <a:lnB w="9525" cap="flat" cmpd="sng" algn="ctr">
                      <a:solidFill>
                        <a:srgbClr val="C8D3D9"/>
                      </a:solidFill>
                      <a:prstDash val="solid"/>
                    </a:lnB>
                    <a:solidFill>
                      <a:srgbClr val="E3F2F0"/>
                    </a:solidFill>
                  </a:tcPr>
                </a:tc>
                <a:tc>
                  <a:txBody>
                    <a:bodyPr wrap="square" anchor="t" lIns="64008" tIns="32004" rIns="64008" bIns="32004">
                      <a:noAutofit/>
                    </a:bodyPr>
                    <a:lstStyle/>
                    <a:p>
                      <a:pPr algn="ctr"/>
                      <a:r>
                        <a:rPr sz="1000" b="1" i="0">
                          <a:solidFill>
                            <a:srgbClr val="0C2D36"/>
                          </a:solidFill>
                        </a:rPr>
                        <a:t>Full</a:t>
                      </a:r>
                      <a:endParaRPr sz="1000"/>
                    </a:p>
                    <a:p>
                      <a:pPr algn="ctr"/>
                      <a:r>
                        <a:rPr sz="1000" b="0" i="0">
                          <a:solidFill>
                            <a:srgbClr val="43535F"/>
                          </a:solidFill>
                        </a:rPr>
                        <a:t>≤ 10 req.</a:t>
                      </a:r>
                      <a:endParaRPr sz="1000"/>
                    </a:p>
                  </a:txBody>
                  <a:tcPr marL="27432" marR="27432" marT="32004" marB="32004" anchor="ctr">
                    <a:lnB w="9525" cap="flat" cmpd="sng" algn="ctr">
                      <a:solidFill>
                        <a:srgbClr val="C8D3D9"/>
                      </a:solidFill>
                      <a:prstDash val="solid"/>
                    </a:lnB>
                    <a:solidFill>
                      <a:srgbClr val="E3F2F0"/>
                    </a:solidFill>
                  </a:tcPr>
                </a:tc>
                <a:tc>
                  <a:txBody>
                    <a:bodyPr wrap="square" anchor="t" lIns="64008" tIns="32004" rIns="64008" bIns="32004">
                      <a:noAutofit/>
                    </a:bodyPr>
                    <a:lstStyle/>
                    <a:p>
                      <a:pPr algn="l"/>
                      <a:r>
                        <a:rPr sz="1000" b="0" i="0">
                          <a:solidFill>
                            <a:srgbClr val="43535F"/>
                          </a:solidFill>
                        </a:rPr>
                        <a:t>One cheap lookup, although it proves only a relationship.</a:t>
                      </a:r>
                      <a:endParaRPr sz="1000"/>
                    </a:p>
                  </a:txBody>
                  <a:tcPr marL="64008" marR="64008" marT="32004" marB="32004" anchor="ctr">
                    <a:lnB w="9525" cap="flat" cmpd="sng" algn="ctr">
                      <a:solidFill>
                        <a:srgbClr val="C8D3D9"/>
                      </a:solidFill>
                      <a:prstDash val="solid"/>
                    </a:lnB>
                    <a:solidFill>
                      <a:srgbClr val="FFFFFF"/>
                    </a:solidFill>
                  </a:tcPr>
                </a:tc>
              </a:tr>
              <a:tr h="384048">
                <a:tc>
                  <a:txBody>
                    <a:bodyPr wrap="square" anchor="t" lIns="64008" tIns="32004" rIns="64008" bIns="32004">
                      <a:noAutofit/>
                    </a:bodyPr>
                    <a:lstStyle/>
                    <a:p>
                      <a:pPr algn="l"/>
                      <a:r>
                        <a:rPr sz="1100" b="1" i="0">
                          <a:solidFill>
                            <a:srgbClr val="0C2D36"/>
                          </a:solidFill>
                        </a:rPr>
                        <a:t>IND</a:t>
                      </a:r>
                      <a:endParaRPr sz="1000"/>
                    </a:p>
                    <a:p>
                      <a:pPr algn="l"/>
                      <a:r>
                        <a:rPr sz="1000" b="0" i="0">
                          <a:solidFill>
                            <a:srgbClr val="43535F"/>
                          </a:solidFill>
                        </a:rPr>
                        <a:t>Corroboration</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00" b="1" i="0">
                          <a:solidFill>
                            <a:srgbClr val="0C2D36"/>
                          </a:solidFill>
                        </a:rPr>
                        <a:t>Full</a:t>
                      </a:r>
                      <a:endParaRPr sz="1000"/>
                    </a:p>
                    <a:p>
                      <a:pPr algn="ctr"/>
                      <a:r>
                        <a:rPr sz="1000" b="0" i="0">
                          <a:solidFill>
                            <a:srgbClr val="43535F"/>
                          </a:solidFill>
                        </a:rPr>
                        <a:t>≤ 30 req.</a:t>
                      </a:r>
                      <a:endParaRPr sz="1000"/>
                    </a:p>
                  </a:txBody>
                  <a:tcPr marL="27432" marR="27432" marT="32004" marB="32004" anchor="ctr">
                    <a:lnB w="9525" cap="flat" cmpd="sng" algn="ctr">
                      <a:solidFill>
                        <a:srgbClr val="C8D3D9"/>
                      </a:solidFill>
                      <a:prstDash val="solid"/>
                    </a:lnB>
                    <a:solidFill>
                      <a:srgbClr val="E3F2F0"/>
                    </a:solidFill>
                  </a:tcPr>
                </a:tc>
                <a:tc>
                  <a:txBody>
                    <a:bodyPr wrap="square" anchor="t" lIns="64008" tIns="32004" rIns="64008" bIns="32004">
                      <a:noAutofit/>
                    </a:bodyPr>
                    <a:lstStyle/>
                    <a:p>
                      <a:pPr algn="ctr"/>
                      <a:r>
                        <a:rPr sz="1000" b="1" i="0">
                          <a:solidFill>
                            <a:srgbClr val="0C2D36"/>
                          </a:solidFill>
                        </a:rPr>
                        <a:t>Full</a:t>
                      </a:r>
                      <a:endParaRPr sz="1000"/>
                    </a:p>
                    <a:p>
                      <a:pPr algn="ctr"/>
                      <a:r>
                        <a:rPr sz="1000" b="0" i="0">
                          <a:solidFill>
                            <a:srgbClr val="43535F"/>
                          </a:solidFill>
                        </a:rPr>
                        <a:t>≤ 20 req.</a:t>
                      </a:r>
                      <a:endParaRPr sz="1000"/>
                    </a:p>
                  </a:txBody>
                  <a:tcPr marL="27432" marR="27432" marT="32004" marB="32004" anchor="ctr">
                    <a:lnB w="9525" cap="flat" cmpd="sng" algn="ctr">
                      <a:solidFill>
                        <a:srgbClr val="C8D3D9"/>
                      </a:solidFill>
                      <a:prstDash val="solid"/>
                    </a:lnB>
                    <a:solidFill>
                      <a:srgbClr val="E3F2F0"/>
                    </a:solidFill>
                  </a:tcPr>
                </a:tc>
                <a:tc>
                  <a:txBody>
                    <a:bodyPr wrap="square" anchor="t" lIns="64008" tIns="32004" rIns="64008" bIns="32004">
                      <a:noAutofit/>
                    </a:bodyPr>
                    <a:lstStyle/>
                    <a:p>
                      <a:pPr algn="ctr"/>
                      <a:r>
                        <a:rPr sz="1000" b="0" i="0">
                          <a:solidFill>
                            <a:srgbClr val="66757F"/>
                          </a:solidFill>
                        </a:rPr>
                        <a:t>—</a:t>
                      </a:r>
                      <a:endParaRPr sz="1000"/>
                    </a:p>
                  </a:txBody>
                  <a:tcPr marL="27432" marR="27432"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00" b="0" i="0">
                          <a:solidFill>
                            <a:srgbClr val="66757F"/>
                          </a:solidFill>
                        </a:rPr>
                        <a:t>—</a:t>
                      </a:r>
                      <a:endParaRPr sz="1000"/>
                    </a:p>
                  </a:txBody>
                  <a:tcPr marL="27432" marR="27432"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Provider stories and trade press only corroborate (SR C).</a:t>
                      </a:r>
                      <a:endParaRPr sz="1000"/>
                    </a:p>
                  </a:txBody>
                  <a:tcPr marL="64008" marR="64008" marT="32004" marB="32004" anchor="ctr">
                    <a:lnB w="9525" cap="flat" cmpd="sng" algn="ctr">
                      <a:solidFill>
                        <a:srgbClr val="C8D3D9"/>
                      </a:solidFill>
                      <a:prstDash val="solid"/>
                    </a:lnB>
                    <a:solidFill>
                      <a:srgbClr val="FFFFFF"/>
                    </a:solidFill>
                  </a:tcPr>
                </a:tc>
              </a:tr>
              <a:tr h="384048">
                <a:tc>
                  <a:txBody>
                    <a:bodyPr wrap="square" anchor="t" lIns="64008" tIns="32004" rIns="64008" bIns="32004">
                      <a:noAutofit/>
                    </a:bodyPr>
                    <a:lstStyle/>
                    <a:p>
                      <a:pPr algn="l"/>
                      <a:r>
                        <a:rPr sz="1100" b="1" i="0">
                          <a:solidFill>
                            <a:srgbClr val="0C2D36"/>
                          </a:solidFill>
                        </a:rPr>
                        <a:t>HIST</a:t>
                      </a:r>
                      <a:endParaRPr sz="1000"/>
                    </a:p>
                    <a:p>
                      <a:pPr algn="l"/>
                      <a:r>
                        <a:rPr sz="1000" b="0" i="0">
                          <a:solidFill>
                            <a:srgbClr val="43535F"/>
                          </a:solidFill>
                        </a:rPr>
                        <a:t>Archive history</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00" b="1" i="0">
                          <a:solidFill>
                            <a:srgbClr val="0C2D36"/>
                          </a:solidFill>
                        </a:rPr>
                        <a:t>Full</a:t>
                      </a:r>
                      <a:endParaRPr sz="1000"/>
                    </a:p>
                    <a:p>
                      <a:pPr algn="ctr"/>
                      <a:r>
                        <a:rPr sz="1000" b="0" i="0">
                          <a:solidFill>
                            <a:srgbClr val="43535F"/>
                          </a:solidFill>
                        </a:rPr>
                        <a:t>≤ 30 req.</a:t>
                      </a:r>
                      <a:endParaRPr sz="1000"/>
                    </a:p>
                  </a:txBody>
                  <a:tcPr marL="27432" marR="27432" marT="32004" marB="32004" anchor="ctr">
                    <a:lnB w="9525" cap="flat" cmpd="sng" algn="ctr">
                      <a:solidFill>
                        <a:srgbClr val="C8D3D9"/>
                      </a:solidFill>
                      <a:prstDash val="solid"/>
                    </a:lnB>
                    <a:solidFill>
                      <a:srgbClr val="E3F2F0"/>
                    </a:solidFill>
                  </a:tcPr>
                </a:tc>
                <a:tc>
                  <a:txBody>
                    <a:bodyPr wrap="square" anchor="t" lIns="64008" tIns="32004" rIns="64008" bIns="32004">
                      <a:noAutofit/>
                    </a:bodyPr>
                    <a:lstStyle/>
                    <a:p>
                      <a:pPr algn="ctr"/>
                      <a:r>
                        <a:rPr sz="1000" b="0" i="0">
                          <a:solidFill>
                            <a:srgbClr val="66757F"/>
                          </a:solidFill>
                        </a:rPr>
                        <a:t>On a lead</a:t>
                      </a:r>
                      <a:endParaRPr sz="1000"/>
                    </a:p>
                  </a:txBody>
                  <a:tcPr marL="27432" marR="27432"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00" b="0" i="0">
                          <a:solidFill>
                            <a:srgbClr val="66757F"/>
                          </a:solidFill>
                        </a:rPr>
                        <a:t>—</a:t>
                      </a:r>
                      <a:endParaRPr sz="1000"/>
                    </a:p>
                  </a:txBody>
                  <a:tcPr marL="27432" marR="27432"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00" b="0" i="0">
                          <a:solidFill>
                            <a:srgbClr val="66757F"/>
                          </a:solidFill>
                        </a:rPr>
                        <a:t>—</a:t>
                      </a:r>
                      <a:endParaRPr sz="1000"/>
                    </a:p>
                  </a:txBody>
                  <a:tcPr marL="27432" marR="27432"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History dates claims and finds withdrawn ones but rarely gives SR A/B evidence of use.</a:t>
                      </a:r>
                      <a:endParaRPr sz="1000"/>
                    </a:p>
                  </a:txBody>
                  <a:tcPr marL="64008" marR="64008" marT="32004" marB="32004" anchor="ctr">
                    <a:lnB w="9525" cap="flat" cmpd="sng" algn="ctr">
                      <a:solidFill>
                        <a:srgbClr val="C8D3D9"/>
                      </a:solidFill>
                      <a:prstDash val="solid"/>
                    </a:lnB>
                    <a:solidFill>
                      <a:srgbClr val="FFFFFF"/>
                    </a:solidFill>
                  </a:tcPr>
                </a:tc>
              </a:tr>
              <a:tr h="384048">
                <a:tc>
                  <a:txBody>
                    <a:bodyPr wrap="square" anchor="t" lIns="64008" tIns="32004" rIns="64008" bIns="32004">
                      <a:noAutofit/>
                    </a:bodyPr>
                    <a:lstStyle/>
                    <a:p>
                      <a:pPr algn="l"/>
                      <a:r>
                        <a:rPr sz="1100" b="1" i="0">
                          <a:solidFill>
                            <a:srgbClr val="0C2D36"/>
                          </a:solidFill>
                        </a:rPr>
                        <a:t>EXEC</a:t>
                      </a:r>
                      <a:endParaRPr sz="1000"/>
                    </a:p>
                    <a:p>
                      <a:pPr algn="l"/>
                      <a:r>
                        <a:rPr sz="1000" b="0" i="0">
                          <a:solidFill>
                            <a:srgbClr val="43535F"/>
                          </a:solidFill>
                        </a:rPr>
                        <a:t>Executives</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00" b="0" i="0">
                          <a:solidFill>
                            <a:srgbClr val="66757F"/>
                          </a:solidFill>
                        </a:rPr>
                        <a:t>Manual</a:t>
                      </a:r>
                      <a:endParaRPr sz="1000"/>
                    </a:p>
                  </a:txBody>
                  <a:tcPr marL="27432" marR="27432"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00" b="0" i="0">
                          <a:solidFill>
                            <a:srgbClr val="66757F"/>
                          </a:solidFill>
                        </a:rPr>
                        <a:t>On a lead</a:t>
                      </a:r>
                      <a:endParaRPr sz="1000"/>
                    </a:p>
                  </a:txBody>
                  <a:tcPr marL="27432" marR="27432"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00" b="0" i="0">
                          <a:solidFill>
                            <a:srgbClr val="66757F"/>
                          </a:solidFill>
                        </a:rPr>
                        <a:t>—</a:t>
                      </a:r>
                      <a:endParaRPr sz="1000"/>
                    </a:p>
                  </a:txBody>
                  <a:tcPr marL="27432" marR="27432"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00" b="0" i="0">
                          <a:solidFill>
                            <a:srgbClr val="66757F"/>
                          </a:solidFill>
                        </a:rPr>
                        <a:t>—</a:t>
                      </a:r>
                      <a:endParaRPr sz="1000"/>
                    </a:p>
                  </a:txBody>
                  <a:tcPr marL="27432" marR="27432"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Executive channels rarely give SR A/B evidence of use.</a:t>
                      </a:r>
                      <a:endParaRPr sz="1000"/>
                    </a:p>
                  </a:txBody>
                  <a:tcPr marL="64008" marR="64008" marT="32004" marB="32004" anchor="ctr">
                    <a:lnB w="9525" cap="flat" cmpd="sng" algn="ctr">
                      <a:solidFill>
                        <a:srgbClr val="C8D3D9"/>
                      </a:solidFill>
                      <a:prstDash val="solid"/>
                    </a:lnB>
                    <a:solidFill>
                      <a:srgbClr val="FFFFFF"/>
                    </a:solidFill>
                  </a:tcPr>
                </a:tc>
              </a:tr>
            </a:tbl>
          </a:graphicData>
        </a:graphic>
      </p:graphicFrame>
      <p:sp>
        <p:nvSpPr>
          <p:cNvPr id="8" name="SR header"/>
          <p:cNvSpPr txBox="1"/>
          <p:nvPr/>
        </p:nvSpPr>
        <p:spPr>
          <a:xfrm>
            <a:off x="502920" y="5120640"/>
            <a:ext cx="7223760" cy="256032"/>
          </a:xfrm>
          <a:prstGeom prst="rect">
            <a:avLst/>
          </a:prstGeom>
          <a:noFill/>
        </p:spPr>
        <p:txBody>
          <a:bodyPr wrap="square" anchor="t" lIns="0" tIns="0" rIns="0" bIns="0">
            <a:noAutofit/>
          </a:bodyPr>
          <a:lstStyle/>
          <a:p>
            <a:pPr algn="l"/>
            <a:r>
              <a:rPr sz="1200" b="1" i="0">
                <a:solidFill>
                  <a:srgbClr val="0C2D36"/>
                </a:solidFill>
              </a:rPr>
              <a:t>Source reliability (SR) ladder  </a:t>
            </a:r>
            <a:r>
              <a:rPr sz="1000" b="0" i="0">
                <a:solidFill>
                  <a:srgbClr val="66757F"/>
                </a:solidFill>
              </a:rPr>
              <a:t>set by the source type, never by the model</a:t>
            </a:r>
            <a:endParaRPr sz="1200"/>
          </a:p>
        </p:txBody>
      </p:sp>
      <p:sp>
        <p:nvSpPr>
          <p:cNvPr id="9" name="SR A"/>
          <p:cNvSpPr/>
          <p:nvPr/>
        </p:nvSpPr>
        <p:spPr>
          <a:xfrm>
            <a:off x="502920" y="5413248"/>
            <a:ext cx="1386230" cy="841248"/>
          </a:xfrm>
          <a:prstGeom prst="roundRect">
            <a:avLst>
              <a:gd name="adj" fmla="val 8695"/>
            </a:avLst>
          </a:prstGeom>
          <a:solidFill>
            <a:srgbClr val="0A5E5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54864" bIns="27432">
            <a:noAutofit/>
          </a:bodyPr>
          <a:lstStyle/>
          <a:p>
            <a:pPr algn="l"/>
            <a:r>
              <a:rPr sz="1400" b="1" i="0">
                <a:solidFill>
                  <a:srgbClr val="FFFFFF"/>
                </a:solidFill>
              </a:rPr>
              <a:t>A</a:t>
            </a:r>
            <a:r>
              <a:rPr sz="1000" b="1" i="0">
                <a:solidFill>
                  <a:srgbClr val="FFFFFF"/>
                </a:solidFill>
              </a:rPr>
              <a:t>  Legally accountable</a:t>
            </a:r>
            <a:endParaRPr sz="1200"/>
          </a:p>
          <a:p>
            <a:pPr algn="l">
              <a:spcBef>
                <a:spcPts val="200"/>
              </a:spcBef>
            </a:pPr>
            <a:r>
              <a:rPr sz="1000" b="0" i="0">
                <a:solidFill>
                  <a:srgbClr val="FFFFFF"/>
                </a:solidFill>
              </a:rPr>
              <a:t>SEC filing, Product terms, Government record +9 more</a:t>
            </a:r>
            <a:endParaRPr sz="1200"/>
          </a:p>
        </p:txBody>
      </p:sp>
      <p:sp>
        <p:nvSpPr>
          <p:cNvPr id="10" name="SR B"/>
          <p:cNvSpPr/>
          <p:nvPr/>
        </p:nvSpPr>
        <p:spPr>
          <a:xfrm>
            <a:off x="1962302" y="5413248"/>
            <a:ext cx="1386230" cy="841248"/>
          </a:xfrm>
          <a:prstGeom prst="roundRect">
            <a:avLst>
              <a:gd name="adj" fmla="val 8695"/>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54864" bIns="27432">
            <a:noAutofit/>
          </a:bodyPr>
          <a:lstStyle/>
          <a:p>
            <a:pPr algn="l"/>
            <a:r>
              <a:rPr sz="1400" b="1" i="0">
                <a:solidFill>
                  <a:srgbClr val="FFFFFF"/>
                </a:solidFill>
              </a:rPr>
              <a:t>B</a:t>
            </a:r>
            <a:r>
              <a:rPr sz="1000" b="1" i="0">
                <a:solidFill>
                  <a:srgbClr val="FFFFFF"/>
                </a:solidFill>
              </a:rPr>
              <a:t>  First-party</a:t>
            </a:r>
            <a:endParaRPr sz="1200"/>
          </a:p>
          <a:p>
            <a:pPr algn="l">
              <a:spcBef>
                <a:spcPts val="200"/>
              </a:spcBef>
            </a:pPr>
            <a:r>
              <a:rPr sz="1000" b="0" i="0">
                <a:solidFill>
                  <a:srgbClr val="FFFFFF"/>
                </a:solidFill>
              </a:rPr>
              <a:t>DNS TXT record, Job posting, AI policy +10 more</a:t>
            </a:r>
            <a:endParaRPr sz="1200"/>
          </a:p>
        </p:txBody>
      </p:sp>
      <p:sp>
        <p:nvSpPr>
          <p:cNvPr id="11" name="SR C"/>
          <p:cNvSpPr/>
          <p:nvPr/>
        </p:nvSpPr>
        <p:spPr>
          <a:xfrm>
            <a:off x="3421684" y="5413248"/>
            <a:ext cx="1386230" cy="841248"/>
          </a:xfrm>
          <a:prstGeom prst="roundRect">
            <a:avLst>
              <a:gd name="adj" fmla="val 8695"/>
            </a:avLst>
          </a:prstGeom>
          <a:solidFill>
            <a:srgbClr val="B7DCD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54864" bIns="27432">
            <a:noAutofit/>
          </a:bodyPr>
          <a:lstStyle/>
          <a:p>
            <a:pPr algn="l"/>
            <a:r>
              <a:rPr sz="1400" b="1" i="0">
                <a:solidFill>
                  <a:srgbClr val="0C2D36"/>
                </a:solidFill>
              </a:rPr>
              <a:t>C</a:t>
            </a:r>
            <a:r>
              <a:rPr sz="1000" b="1" i="0">
                <a:solidFill>
                  <a:srgbClr val="0C2D36"/>
                </a:solidFill>
              </a:rPr>
              <a:t>  Promotional</a:t>
            </a:r>
            <a:endParaRPr sz="1200"/>
          </a:p>
          <a:p>
            <a:pPr algn="l">
              <a:spcBef>
                <a:spcPts val="200"/>
              </a:spcBef>
            </a:pPr>
            <a:r>
              <a:rPr sz="1000" b="0" i="0">
                <a:solidFill>
                  <a:srgbClr val="0C2D36"/>
                </a:solidFill>
              </a:rPr>
              <a:t>Blog post, Trade press, Case study +16 more</a:t>
            </a:r>
            <a:endParaRPr sz="1200"/>
          </a:p>
        </p:txBody>
      </p:sp>
      <p:sp>
        <p:nvSpPr>
          <p:cNvPr id="12" name="SR D"/>
          <p:cNvSpPr/>
          <p:nvPr/>
        </p:nvSpPr>
        <p:spPr>
          <a:xfrm>
            <a:off x="4881067" y="5413248"/>
            <a:ext cx="1386230" cy="841248"/>
          </a:xfrm>
          <a:prstGeom prst="roundRect">
            <a:avLst>
              <a:gd name="adj" fmla="val 8695"/>
            </a:avLst>
          </a:prstGeom>
          <a:solidFill>
            <a:srgbClr val="DCEDE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54864" bIns="27432">
            <a:noAutofit/>
          </a:bodyPr>
          <a:lstStyle/>
          <a:p>
            <a:pPr algn="l"/>
            <a:r>
              <a:rPr sz="1400" b="1" i="0">
                <a:solidFill>
                  <a:srgbClr val="0C2D36"/>
                </a:solidFill>
              </a:rPr>
              <a:t>D</a:t>
            </a:r>
            <a:r>
              <a:rPr sz="1000" b="1" i="0">
                <a:solidFill>
                  <a:srgbClr val="0C2D36"/>
                </a:solidFill>
              </a:rPr>
              <a:t>  Syndicated</a:t>
            </a:r>
            <a:endParaRPr sz="1200"/>
          </a:p>
          <a:p>
            <a:pPr algn="l">
              <a:spcBef>
                <a:spcPts val="200"/>
              </a:spcBef>
            </a:pPr>
            <a:r>
              <a:rPr sz="1000" b="0" i="0">
                <a:solidFill>
                  <a:srgbClr val="0C2D36"/>
                </a:solidFill>
              </a:rPr>
              <a:t>Aggregator copy</a:t>
            </a:r>
            <a:endParaRPr sz="1200"/>
          </a:p>
        </p:txBody>
      </p:sp>
      <p:sp>
        <p:nvSpPr>
          <p:cNvPr id="13" name="SR E–F"/>
          <p:cNvSpPr/>
          <p:nvPr/>
        </p:nvSpPr>
        <p:spPr>
          <a:xfrm>
            <a:off x="6340449" y="5413248"/>
            <a:ext cx="1386230" cy="841248"/>
          </a:xfrm>
          <a:prstGeom prst="roundRect">
            <a:avLst>
              <a:gd name="adj" fmla="val 8695"/>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54864" bIns="27432">
            <a:noAutofit/>
          </a:bodyPr>
          <a:lstStyle/>
          <a:p>
            <a:pPr algn="l"/>
            <a:r>
              <a:rPr sz="1400" b="1" i="0">
                <a:solidFill>
                  <a:srgbClr val="43535F"/>
                </a:solidFill>
              </a:rPr>
              <a:t>E–F</a:t>
            </a:r>
            <a:r>
              <a:rPr sz="1000" b="1" i="0">
                <a:solidFill>
                  <a:srgbClr val="43535F"/>
                </a:solidFill>
              </a:rPr>
              <a:t>  Excluded</a:t>
            </a:r>
            <a:endParaRPr sz="1200"/>
          </a:p>
          <a:p>
            <a:pPr algn="l">
              <a:spcBef>
                <a:spcPts val="200"/>
              </a:spcBef>
            </a:pPr>
            <a:r>
              <a:rPr sz="1000" b="0" i="0">
                <a:solidFill>
                  <a:srgbClr val="43535F"/>
                </a:solidFill>
              </a:rPr>
              <a:t>User-generated content</a:t>
            </a:r>
            <a:endParaRPr sz="1200"/>
          </a:p>
        </p:txBody>
      </p:sp>
      <p:sp>
        <p:nvSpPr>
          <p:cNvPr id="14" name="Exclusions header"/>
          <p:cNvSpPr txBox="1"/>
          <p:nvPr/>
        </p:nvSpPr>
        <p:spPr>
          <a:xfrm>
            <a:off x="8001000" y="1645920"/>
            <a:ext cx="3685032" cy="274320"/>
          </a:xfrm>
          <a:prstGeom prst="rect">
            <a:avLst/>
          </a:prstGeom>
          <a:noFill/>
        </p:spPr>
        <p:txBody>
          <a:bodyPr wrap="square" anchor="t" lIns="0" tIns="0" rIns="0" bIns="0">
            <a:noAutofit/>
          </a:bodyPr>
          <a:lstStyle/>
          <a:p>
            <a:pPr algn="l"/>
            <a:r>
              <a:rPr sz="1200" b="1" i="0">
                <a:solidFill>
                  <a:srgbClr val="0C2D36"/>
                </a:solidFill>
              </a:rPr>
              <a:t>Excluded by design</a:t>
            </a:r>
            <a:endParaRPr sz="1200"/>
          </a:p>
        </p:txBody>
      </p:sp>
      <p:sp>
        <p:nvSpPr>
          <p:cNvPr id="15" name="Exclusions list"/>
          <p:cNvSpPr txBox="1"/>
          <p:nvPr/>
        </p:nvSpPr>
        <p:spPr>
          <a:xfrm>
            <a:off x="8001000" y="1956816"/>
            <a:ext cx="3685032" cy="3291840"/>
          </a:xfrm>
          <a:prstGeom prst="rect">
            <a:avLst/>
          </a:prstGeom>
          <a:noFill/>
        </p:spPr>
        <p:txBody>
          <a:bodyPr wrap="square" anchor="t" lIns="0" tIns="0" rIns="0" bIns="0">
            <a:noAutofit/>
          </a:bodyPr>
          <a:lstStyle/>
          <a:p>
            <a:pPr algn="l"/>
            <a:r>
              <a:rPr sz="1000" b="1" i="0">
                <a:solidFill>
                  <a:srgbClr val="0C2D36"/>
                </a:solidFill>
              </a:rPr>
              <a:t>Search-engine result pages, ddgs and Google News RSS</a:t>
            </a:r>
            <a:endParaRPr sz="1200"/>
          </a:p>
          <a:p>
            <a:pPr algn="l">
              <a:spcAft>
                <a:spcPts val="400"/>
              </a:spcAft>
            </a:pPr>
            <a:r>
              <a:rPr sz="1000" b="0" i="0">
                <a:solidFill>
                  <a:srgbClr val="43535F"/>
                </a:solidFill>
              </a:rPr>
              <a:t>Their terms bar automated querying, and the results cannot be reproduced.</a:t>
            </a:r>
            <a:endParaRPr sz="1200"/>
          </a:p>
          <a:p>
            <a:pPr algn="l"/>
            <a:r>
              <a:rPr sz="1000" b="1" i="0">
                <a:solidFill>
                  <a:srgbClr val="0C2D36"/>
                </a:solidFill>
              </a:rPr>
              <a:t>Gemini grounding</a:t>
            </a:r>
            <a:endParaRPr sz="1200"/>
          </a:p>
          <a:p>
            <a:pPr algn="l">
              <a:spcAft>
                <a:spcPts val="400"/>
              </a:spcAft>
            </a:pPr>
            <a:r>
              <a:rPr sz="1000" b="0" i="0">
                <a:solidFill>
                  <a:srgbClr val="43535F"/>
                </a:solidFill>
              </a:rPr>
              <a:t>It is paid, and its terms forbid harvesting the links.</a:t>
            </a:r>
            <a:endParaRPr sz="1200"/>
          </a:p>
          <a:p>
            <a:pPr algn="l"/>
            <a:r>
              <a:rPr sz="1000" b="1" i="0">
                <a:solidFill>
                  <a:srgbClr val="0C2D36"/>
                </a:solidFill>
              </a:rPr>
              <a:t>Automated LinkedIn or Glassdoor access</a:t>
            </a:r>
            <a:endParaRPr sz="1200"/>
          </a:p>
          <a:p>
            <a:pPr algn="l">
              <a:spcAft>
                <a:spcPts val="400"/>
              </a:spcAft>
            </a:pPr>
            <a:r>
              <a:rPr sz="1000" b="0" i="0">
                <a:solidFill>
                  <a:srgbClr val="43535F"/>
                </a:solidFill>
              </a:rPr>
              <a:t>Their terms forbid it; executive posts are captured by hand instead.</a:t>
            </a:r>
            <a:endParaRPr sz="1200"/>
          </a:p>
          <a:p>
            <a:pPr algn="l"/>
            <a:r>
              <a:rPr sz="1000" b="1" i="0">
                <a:solidFill>
                  <a:srgbClr val="0C2D36"/>
                </a:solidFill>
              </a:rPr>
              <a:t>Wayback Save Page Now</a:t>
            </a:r>
            <a:endParaRPr sz="1200"/>
          </a:p>
          <a:p>
            <a:pPr algn="l">
              <a:spcAft>
                <a:spcPts val="400"/>
              </a:spcAft>
            </a:pPr>
            <a:r>
              <a:rPr sz="1000" b="0" i="0">
                <a:solidFill>
                  <a:srgbClr val="43535F"/>
                </a:solidFill>
              </a:rPr>
              <a:t>It would create new public archive records of the research.</a:t>
            </a:r>
            <a:endParaRPr sz="1200"/>
          </a:p>
          <a:p>
            <a:pPr algn="l"/>
            <a:r>
              <a:rPr sz="1000" b="1" i="0">
                <a:solidFill>
                  <a:srgbClr val="0C2D36"/>
                </a:solidFill>
              </a:rPr>
              <a:t>Patents</a:t>
            </a:r>
            <a:endParaRPr sz="1200"/>
          </a:p>
          <a:p>
            <a:pPr algn="l">
              <a:spcAft>
                <a:spcPts val="400"/>
              </a:spcAft>
            </a:pPr>
            <a:r>
              <a:rPr sz="1000" b="0" i="0">
                <a:solidFill>
                  <a:srgbClr val="43535F"/>
                </a:solidFill>
              </a:rPr>
              <a:t>They show capability, not use.</a:t>
            </a:r>
            <a:endParaRPr sz="1200"/>
          </a:p>
          <a:p>
            <a:pPr algn="l"/>
            <a:r>
              <a:rPr sz="1000" b="1" i="0">
                <a:solidFill>
                  <a:srgbClr val="0C2D36"/>
                </a:solidFill>
              </a:rPr>
              <a:t>GDELT, OpenAlex and Hacker News</a:t>
            </a:r>
            <a:endParaRPr sz="1200"/>
          </a:p>
          <a:p>
            <a:pPr algn="l">
              <a:spcAft>
                <a:spcPts val="400"/>
              </a:spcAft>
            </a:pPr>
            <a:r>
              <a:rPr sz="1000" b="0" i="0">
                <a:solidFill>
                  <a:srgbClr val="43535F"/>
                </a:solidFill>
              </a:rPr>
              <a:t>Low yield or reliability: aggregator copies (SR D), research capability rather than use, and user-generated content (SR E).</a:t>
            </a:r>
            <a:endParaRPr sz="1200"/>
          </a:p>
          <a:p>
            <a:pPr algn="l"/>
            <a:r>
              <a:rPr sz="1000" b="1" i="0">
                <a:solidFill>
                  <a:srgbClr val="0C2D36"/>
                </a:solidFill>
              </a:rPr>
              <a:t>Logins, forms and NDA-gated portals</a:t>
            </a:r>
            <a:endParaRPr sz="1200"/>
          </a:p>
          <a:p>
            <a:pPr algn="l">
              <a:spcAft>
                <a:spcPts val="400"/>
              </a:spcAft>
            </a:pPr>
            <a:r>
              <a:rPr sz="1000" b="0" i="0">
                <a:solidFill>
                  <a:srgbClr val="43535F"/>
                </a:solidFill>
              </a:rPr>
              <a:t>They are not part of the public footprint.</a:t>
            </a:r>
            <a:endParaRPr sz="1200"/>
          </a:p>
        </p:txBody>
      </p:sp>
      <p:sp>
        <p:nvSpPr>
          <p:cNvPr id="16" name="Terms header"/>
          <p:cNvSpPr txBox="1"/>
          <p:nvPr/>
        </p:nvSpPr>
        <p:spPr>
          <a:xfrm>
            <a:off x="8001000" y="5120640"/>
            <a:ext cx="3685032" cy="256032"/>
          </a:xfrm>
          <a:prstGeom prst="rect">
            <a:avLst/>
          </a:prstGeom>
          <a:noFill/>
        </p:spPr>
        <p:txBody>
          <a:bodyPr wrap="square" anchor="t" lIns="0" tIns="0" rIns="0" bIns="0">
            <a:noAutofit/>
          </a:bodyPr>
          <a:lstStyle/>
          <a:p>
            <a:pPr algn="l"/>
            <a:r>
              <a:rPr sz="1200" b="1" i="0">
                <a:solidFill>
                  <a:srgbClr val="0C2D36"/>
                </a:solidFill>
              </a:rPr>
              <a:t>Terms register by host class</a:t>
            </a:r>
            <a:endParaRPr sz="1200"/>
          </a:p>
        </p:txBody>
      </p:sp>
      <p:sp>
        <p:nvSpPr>
          <p:cNvPr id="17" name="Terms full"/>
          <p:cNvSpPr/>
          <p:nvPr/>
        </p:nvSpPr>
        <p:spPr>
          <a:xfrm>
            <a:off x="8001000" y="5413248"/>
            <a:ext cx="1167384" cy="841248"/>
          </a:xfrm>
          <a:prstGeom prst="roundRect">
            <a:avLst>
              <a:gd name="adj" fmla="val 8695"/>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36576" rIns="45720" bIns="36576">
            <a:noAutofit/>
          </a:bodyPr>
          <a:lstStyle/>
          <a:p>
            <a:pPr algn="ctr"/>
            <a:r>
              <a:rPr sz="1800" b="1" i="0">
                <a:solidFill>
                  <a:srgbClr val="0A5E5D"/>
                </a:solidFill>
              </a:rPr>
              <a:t>10</a:t>
            </a:r>
            <a:endParaRPr sz="1200"/>
          </a:p>
          <a:p>
            <a:pPr algn="ctr"/>
            <a:r>
              <a:rPr sz="1000" b="0" i="0">
                <a:solidFill>
                  <a:srgbClr val="43535F"/>
                </a:solidFill>
              </a:rPr>
              <a:t>automated, within limits</a:t>
            </a:r>
            <a:endParaRPr sz="1200"/>
          </a:p>
        </p:txBody>
      </p:sp>
      <p:sp>
        <p:nvSpPr>
          <p:cNvPr id="18" name="Terms limited"/>
          <p:cNvSpPr/>
          <p:nvPr/>
        </p:nvSpPr>
        <p:spPr>
          <a:xfrm>
            <a:off x="9259824" y="5413248"/>
            <a:ext cx="1167384" cy="841248"/>
          </a:xfrm>
          <a:prstGeom prst="roundRect">
            <a:avLst>
              <a:gd name="adj" fmla="val 8695"/>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36576" rIns="45720" bIns="36576">
            <a:noAutofit/>
          </a:bodyPr>
          <a:lstStyle/>
          <a:p>
            <a:pPr algn="ctr"/>
            <a:r>
              <a:rPr sz="1800" b="1" i="0">
                <a:solidFill>
                  <a:srgbClr val="0A5E5D"/>
                </a:solidFill>
              </a:rPr>
              <a:t>7</a:t>
            </a:r>
            <a:endParaRPr sz="1200"/>
          </a:p>
          <a:p>
            <a:pPr algn="ctr"/>
            <a:r>
              <a:rPr sz="1000" b="0" i="0">
                <a:solidFill>
                  <a:srgbClr val="43535F"/>
                </a:solidFill>
              </a:rPr>
              <a:t>seeded URLs only</a:t>
            </a:r>
            <a:endParaRPr sz="1200"/>
          </a:p>
        </p:txBody>
      </p:sp>
      <p:sp>
        <p:nvSpPr>
          <p:cNvPr id="19" name="Terms none"/>
          <p:cNvSpPr/>
          <p:nvPr/>
        </p:nvSpPr>
        <p:spPr>
          <a:xfrm>
            <a:off x="10518648" y="5413248"/>
            <a:ext cx="1167384" cy="841248"/>
          </a:xfrm>
          <a:prstGeom prst="roundRect">
            <a:avLst>
              <a:gd name="adj" fmla="val 8695"/>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36576" rIns="45720" bIns="36576">
            <a:noAutofit/>
          </a:bodyPr>
          <a:lstStyle/>
          <a:p>
            <a:pPr algn="ctr"/>
            <a:r>
              <a:rPr sz="1800" b="1" i="0">
                <a:solidFill>
                  <a:srgbClr val="8A6A00"/>
                </a:solidFill>
              </a:rPr>
              <a:t>7</a:t>
            </a:r>
            <a:endParaRPr sz="1200"/>
          </a:p>
          <a:p>
            <a:pPr algn="ctr"/>
            <a:r>
              <a:rPr sz="1000" b="0" i="0">
                <a:solidFill>
                  <a:srgbClr val="43535F"/>
                </a:solidFill>
              </a:rPr>
              <a:t>manual capture only</a:t>
            </a:r>
            <a:endParaRPr sz="12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10896"/>
            <a:ext cx="9509760" cy="640080"/>
          </a:xfrm>
        </p:spPr>
        <p:txBody>
          <a:bodyPr wrap="square" anchor="b" lIns="0" tIns="0" rIns="0" bIns="0">
            <a:noAutofit/>
          </a:bodyPr>
          <a:lstStyle/>
          <a:p>
            <a:pPr algn="l"/>
            <a:r>
              <a:rPr sz="3000" b="1" i="0">
                <a:solidFill>
                  <a:srgbClr val="0C2D36"/>
                </a:solidFill>
              </a:rPr>
              <a:t>Evidentiary weight: tags, four tests, one label order</a:t>
            </a:r>
            <a:endParaRPr sz="1200"/>
          </a:p>
        </p:txBody>
      </p:sp>
      <p:sp>
        <p:nvSpPr>
          <p:cNvPr id="3" name="Corner tag"/>
          <p:cNvSpPr/>
          <p:nvPr/>
        </p:nvSpPr>
        <p:spPr>
          <a:xfrm>
            <a:off x="10241280" y="457200"/>
            <a:ext cx="1444752" cy="310896"/>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OUTCOME 03</a:t>
            </a:r>
            <a:endParaRPr sz="1000"/>
          </a:p>
        </p:txBody>
      </p:sp>
      <p:sp>
        <p:nvSpPr>
          <p:cNvPr id="4" name="Kicker"/>
          <p:cNvSpPr txBox="1"/>
          <p:nvPr/>
        </p:nvSpPr>
        <p:spPr>
          <a:xfrm>
            <a:off x="502920" y="987552"/>
            <a:ext cx="11183112" cy="502920"/>
          </a:xfrm>
          <a:prstGeom prst="rect">
            <a:avLst/>
          </a:prstGeom>
          <a:noFill/>
        </p:spPr>
        <p:txBody>
          <a:bodyPr wrap="square" anchor="t" lIns="0" tIns="0" rIns="0" bIns="0">
            <a:noAutofit/>
          </a:bodyPr>
          <a:lstStyle/>
          <a:p>
            <a:pPr algn="l"/>
            <a:r>
              <a:rPr sz="1500" b="0" i="0">
                <a:solidFill>
                  <a:srgbClr val="0A5E5D"/>
                </a:solidFill>
              </a:rPr>
              <a:t>Each excerpt carries a transparent tag card; four ordered tests separate genuine use from marketing, and the first matching strength label wins.</a:t>
            </a:r>
            <a:endParaRPr sz="1200"/>
          </a:p>
        </p:txBody>
      </p:sp>
      <p:sp>
        <p:nvSpPr>
          <p:cNvPr id="5"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66757F"/>
                </a:solidFill>
              </a:rPr>
              <a:t>Team Osprey · Vendor AI footprint · Confidential case-study material, not for distribution</a:t>
            </a:r>
            <a:endParaRPr sz="1200"/>
          </a:p>
        </p:txBody>
      </p:sp>
      <p:sp>
        <p:nvSpPr>
          <p:cNvPr id="6" name="Slide number"/>
          <p:cNvSpPr txBox="1"/>
          <p:nvPr/>
        </p:nvSpPr>
        <p:spPr>
          <a:xfrm>
            <a:off x="10954512" y="6437376"/>
            <a:ext cx="731520" cy="256032"/>
          </a:xfrm>
          <a:prstGeom prst="rect">
            <a:avLst/>
          </a:prstGeom>
          <a:noFill/>
        </p:spPr>
        <p:txBody>
          <a:bodyPr wrap="square" anchor="ctr" lIns="0" tIns="0" rIns="0" bIns="0">
            <a:noAutofit/>
          </a:bodyPr>
          <a:lstStyle/>
          <a:p>
            <a:pPr algn="r"/>
            <a:fld id="{89CA5127-CD6B-5F7D-8FE8-4D4F8F83EC21}" type="slidenum">
              <a:rPr lang="en-GB" sz="1000" dirty="0">
                <a:solidFill>
                  <a:srgbClr val="66757F"/>
                </a:solidFill>
              </a:rPr>
              <a:t>7</a:t>
            </a:fld>
            <a:endParaRPr sz="1200"/>
          </a:p>
        </p:txBody>
      </p:sp>
      <p:sp>
        <p:nvSpPr>
          <p:cNvPr id="7" name="Tag card"/>
          <p:cNvSpPr/>
          <p:nvPr/>
        </p:nvSpPr>
        <p:spPr>
          <a:xfrm>
            <a:off x="502920" y="1645920"/>
            <a:ext cx="5440680" cy="1901952"/>
          </a:xfrm>
          <a:prstGeom prst="roundRect">
            <a:avLst>
              <a:gd name="adj" fmla="val 5769"/>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8" name="Tag card title"/>
          <p:cNvSpPr txBox="1"/>
          <p:nvPr/>
        </p:nvSpPr>
        <p:spPr>
          <a:xfrm>
            <a:off x="667512" y="1737360"/>
            <a:ext cx="5120640" cy="274320"/>
          </a:xfrm>
          <a:prstGeom prst="rect">
            <a:avLst/>
          </a:prstGeom>
          <a:noFill/>
        </p:spPr>
        <p:txBody>
          <a:bodyPr wrap="square" anchor="t" lIns="0" tIns="0" rIns="0" bIns="0">
            <a:noAutofit/>
          </a:bodyPr>
          <a:lstStyle/>
          <a:p>
            <a:pPr algn="l"/>
            <a:r>
              <a:rPr sz="1200" b="1" i="0">
                <a:solidFill>
                  <a:srgbClr val="0C2D36"/>
                </a:solidFill>
              </a:rPr>
              <a:t>Tag card on every excerpt</a:t>
            </a:r>
            <a:endParaRPr sz="1200"/>
          </a:p>
        </p:txBody>
      </p:sp>
      <p:sp>
        <p:nvSpPr>
          <p:cNvPr id="9" name="Tag string"/>
          <p:cNvSpPr/>
          <p:nvPr/>
        </p:nvSpPr>
        <p:spPr>
          <a:xfrm>
            <a:off x="667512" y="2048256"/>
            <a:ext cx="5120640" cy="310896"/>
          </a:xfrm>
          <a:prstGeom prst="roundRect">
            <a:avLst>
              <a:gd name="adj" fmla="val 23529"/>
            </a:avLst>
          </a:prstGeom>
          <a:solidFill>
            <a:srgbClr val="FFFFFF"/>
          </a:solidFill>
          <a:ln w="9525">
            <a:solidFill>
              <a:srgbClr val="C8D3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50" b="1" i="0">
                <a:solidFill>
                  <a:srgbClr val="0A5E5D"/>
                </a:solidFill>
                <a:latin typeface="Consolas"/>
              </a:rPr>
              <a:t>U1 · SR:B · SP:S2 · RL:R3 · RC:T3 · IC:1 · locus=service_feature</a:t>
            </a:r>
            <a:endParaRPr sz="1200"/>
          </a:p>
        </p:txBody>
      </p:sp>
      <p:sp>
        <p:nvSpPr>
          <p:cNvPr id="10" name="Tag tile U"/>
          <p:cNvSpPr/>
          <p:nvPr/>
        </p:nvSpPr>
        <p:spPr>
          <a:xfrm>
            <a:off x="667512" y="2468880"/>
            <a:ext cx="1645920" cy="457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45720" bIns="18288">
            <a:noAutofit/>
          </a:bodyPr>
          <a:lstStyle/>
          <a:p>
            <a:pPr algn="l"/>
            <a:r>
              <a:rPr sz="1100" b="1" i="0">
                <a:solidFill>
                  <a:srgbClr val="0A5E5D"/>
                </a:solidFill>
              </a:rPr>
              <a:t>U  </a:t>
            </a:r>
            <a:r>
              <a:rPr sz="1000" b="0" i="0">
                <a:solidFill>
                  <a:srgbClr val="43535F"/>
                </a:solidFill>
              </a:rPr>
              <a:t>signal class: U1 exact service … U8 limiting</a:t>
            </a:r>
            <a:endParaRPr sz="1200"/>
          </a:p>
        </p:txBody>
      </p:sp>
      <p:sp>
        <p:nvSpPr>
          <p:cNvPr id="11" name="Tag tile SR"/>
          <p:cNvSpPr/>
          <p:nvPr/>
        </p:nvSpPr>
        <p:spPr>
          <a:xfrm>
            <a:off x="2386584" y="2468880"/>
            <a:ext cx="1645920" cy="457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45720" bIns="18288">
            <a:noAutofit/>
          </a:bodyPr>
          <a:lstStyle/>
          <a:p>
            <a:pPr algn="l"/>
            <a:r>
              <a:rPr sz="1100" b="1" i="0">
                <a:solidFill>
                  <a:srgbClr val="0A5E5D"/>
                </a:solidFill>
              </a:rPr>
              <a:t>SR  </a:t>
            </a:r>
            <a:r>
              <a:rPr sz="1000" b="0" i="0">
                <a:solidFill>
                  <a:srgbClr val="43535F"/>
                </a:solidFill>
              </a:rPr>
              <a:t>source reliability A–F, by type</a:t>
            </a:r>
            <a:endParaRPr sz="1200"/>
          </a:p>
        </p:txBody>
      </p:sp>
      <p:sp>
        <p:nvSpPr>
          <p:cNvPr id="12" name="Tag tile SP"/>
          <p:cNvSpPr/>
          <p:nvPr/>
        </p:nvSpPr>
        <p:spPr>
          <a:xfrm>
            <a:off x="4105656" y="2468880"/>
            <a:ext cx="1645920" cy="457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45720" bIns="18288">
            <a:noAutofit/>
          </a:bodyPr>
          <a:lstStyle/>
          <a:p>
            <a:pPr algn="l"/>
            <a:r>
              <a:rPr sz="1100" b="1" i="0">
                <a:solidFill>
                  <a:srgbClr val="0A5E5D"/>
                </a:solidFill>
              </a:rPr>
              <a:t>SP  </a:t>
            </a:r>
            <a:r>
              <a:rPr sz="1000" b="0" i="0">
                <a:solidFill>
                  <a:srgbClr val="43535F"/>
                </a:solidFill>
              </a:rPr>
              <a:t>specificity S0–S3 from G/M indicators</a:t>
            </a:r>
            <a:endParaRPr sz="1200"/>
          </a:p>
        </p:txBody>
      </p:sp>
      <p:sp>
        <p:nvSpPr>
          <p:cNvPr id="13" name="Tag tile RL"/>
          <p:cNvSpPr/>
          <p:nvPr/>
        </p:nvSpPr>
        <p:spPr>
          <a:xfrm>
            <a:off x="667512" y="2980944"/>
            <a:ext cx="1645920" cy="457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45720" bIns="18288">
            <a:noAutofit/>
          </a:bodyPr>
          <a:lstStyle/>
          <a:p>
            <a:pPr algn="l"/>
            <a:r>
              <a:rPr sz="1100" b="1" i="0">
                <a:solidFill>
                  <a:srgbClr val="0A5E5D"/>
                </a:solidFill>
              </a:rPr>
              <a:t>RL  </a:t>
            </a:r>
            <a:r>
              <a:rPr sz="1000" b="0" i="0">
                <a:solidFill>
                  <a:srgbClr val="43535F"/>
                </a:solidFill>
              </a:rPr>
              <a:t>relevance R0–R3, computed locally</a:t>
            </a:r>
            <a:endParaRPr sz="1200"/>
          </a:p>
        </p:txBody>
      </p:sp>
      <p:sp>
        <p:nvSpPr>
          <p:cNvPr id="14" name="Tag tile RC"/>
          <p:cNvSpPr/>
          <p:nvPr/>
        </p:nvSpPr>
        <p:spPr>
          <a:xfrm>
            <a:off x="2386584" y="2980944"/>
            <a:ext cx="1645920" cy="457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45720" bIns="18288">
            <a:noAutofit/>
          </a:bodyPr>
          <a:lstStyle/>
          <a:p>
            <a:pPr algn="l"/>
            <a:r>
              <a:rPr sz="1100" b="1" i="0">
                <a:solidFill>
                  <a:srgbClr val="0A5E5D"/>
                </a:solidFill>
              </a:rPr>
              <a:t>RC  </a:t>
            </a:r>
            <a:r>
              <a:rPr sz="1000" b="0" i="0">
                <a:solidFill>
                  <a:srgbClr val="43535F"/>
                </a:solidFill>
              </a:rPr>
              <a:t>recency T0–T3 against the as-of date</a:t>
            </a:r>
            <a:endParaRPr sz="1200"/>
          </a:p>
        </p:txBody>
      </p:sp>
      <p:sp>
        <p:nvSpPr>
          <p:cNvPr id="15" name="Tag tile IC"/>
          <p:cNvSpPr/>
          <p:nvPr/>
        </p:nvSpPr>
        <p:spPr>
          <a:xfrm>
            <a:off x="4105656" y="2980944"/>
            <a:ext cx="1645920" cy="457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45720" bIns="18288">
            <a:noAutofit/>
          </a:bodyPr>
          <a:lstStyle/>
          <a:p>
            <a:pPr algn="l"/>
            <a:r>
              <a:rPr sz="1100" b="1" i="0">
                <a:solidFill>
                  <a:srgbClr val="0A5E5D"/>
                </a:solidFill>
              </a:rPr>
              <a:t>IC  </a:t>
            </a:r>
            <a:r>
              <a:rPr sz="1000" b="0" i="0">
                <a:solidFill>
                  <a:srgbClr val="43535F"/>
                </a:solidFill>
              </a:rPr>
              <a:t>corroboration 1 (independent) … 6</a:t>
            </a:r>
            <a:endParaRPr sz="1200"/>
          </a:p>
        </p:txBody>
      </p:sp>
      <p:sp>
        <p:nvSpPr>
          <p:cNvPr id="16" name="Tests title"/>
          <p:cNvSpPr txBox="1"/>
          <p:nvPr/>
        </p:nvSpPr>
        <p:spPr>
          <a:xfrm>
            <a:off x="6217920" y="1645920"/>
            <a:ext cx="5468112" cy="274320"/>
          </a:xfrm>
          <a:prstGeom prst="rect">
            <a:avLst/>
          </a:prstGeom>
          <a:noFill/>
        </p:spPr>
        <p:txBody>
          <a:bodyPr wrap="square" anchor="t" lIns="0" tIns="0" rIns="0" bIns="0">
            <a:noAutofit/>
          </a:bodyPr>
          <a:lstStyle/>
          <a:p>
            <a:pPr algn="l"/>
            <a:r>
              <a:rPr sz="1200" b="1" i="0">
                <a:solidFill>
                  <a:srgbClr val="0C2D36"/>
                </a:solidFill>
              </a:rPr>
              <a:t>Genuine use or marketing? Four tests, in order</a:t>
            </a:r>
            <a:endParaRPr sz="1200"/>
          </a:p>
        </p:txBody>
      </p:sp>
      <p:sp>
        <p:nvSpPr>
          <p:cNvPr id="17" name="Test 1"/>
          <p:cNvSpPr/>
          <p:nvPr/>
        </p:nvSpPr>
        <p:spPr>
          <a:xfrm>
            <a:off x="6227064" y="1993392"/>
            <a:ext cx="310896" cy="310896"/>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100" b="1" i="0">
                <a:solidFill>
                  <a:srgbClr val="FFFFFF"/>
                </a:solidFill>
              </a:rPr>
              <a:t>1</a:t>
            </a:r>
            <a:endParaRPr sz="1100"/>
          </a:p>
        </p:txBody>
      </p:sp>
      <p:sp>
        <p:nvSpPr>
          <p:cNvPr id="18" name="Test text 1"/>
          <p:cNvSpPr txBox="1"/>
          <p:nvPr/>
        </p:nvSpPr>
        <p:spPr>
          <a:xfrm>
            <a:off x="6629400" y="1975104"/>
            <a:ext cx="5056632" cy="384048"/>
          </a:xfrm>
          <a:prstGeom prst="rect">
            <a:avLst/>
          </a:prstGeom>
          <a:noFill/>
        </p:spPr>
        <p:txBody>
          <a:bodyPr wrap="square" anchor="ctr" lIns="0" tIns="0" rIns="0" bIns="0">
            <a:noAutofit/>
          </a:bodyPr>
          <a:lstStyle/>
          <a:p>
            <a:pPr algn="l"/>
            <a:r>
              <a:rPr sz="1050" b="1" i="0">
                <a:solidFill>
                  <a:srgbClr val="0C2D36"/>
                </a:solidFill>
              </a:rPr>
              <a:t>Definition: </a:t>
            </a:r>
            <a:r>
              <a:rPr sz="1000" b="0" i="0">
                <a:solidFill>
                  <a:srgbClr val="43535F"/>
                </a:solidFill>
              </a:rPr>
              <a:t>EU AI Act Art. 3(1): scheduling, RPA, rules engines, templated composition, IMb and BI are not AI unless ML or an LLM is evidenced</a:t>
            </a:r>
            <a:endParaRPr sz="1200"/>
          </a:p>
        </p:txBody>
      </p:sp>
      <p:sp>
        <p:nvSpPr>
          <p:cNvPr id="19" name="Test 2"/>
          <p:cNvSpPr/>
          <p:nvPr/>
        </p:nvSpPr>
        <p:spPr>
          <a:xfrm>
            <a:off x="6227064" y="2386584"/>
            <a:ext cx="310896" cy="310896"/>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100" b="1" i="0">
                <a:solidFill>
                  <a:srgbClr val="FFFFFF"/>
                </a:solidFill>
              </a:rPr>
              <a:t>2</a:t>
            </a:r>
            <a:endParaRPr sz="1100"/>
          </a:p>
        </p:txBody>
      </p:sp>
      <p:sp>
        <p:nvSpPr>
          <p:cNvPr id="20" name="Test text 2"/>
          <p:cNvSpPr txBox="1"/>
          <p:nvPr/>
        </p:nvSpPr>
        <p:spPr>
          <a:xfrm>
            <a:off x="6629400" y="2368296"/>
            <a:ext cx="5056632" cy="384048"/>
          </a:xfrm>
          <a:prstGeom prst="rect">
            <a:avLst/>
          </a:prstGeom>
          <a:noFill/>
        </p:spPr>
        <p:txBody>
          <a:bodyPr wrap="square" anchor="ctr" lIns="0" tIns="0" rIns="0" bIns="0">
            <a:noAutofit/>
          </a:bodyPr>
          <a:lstStyle/>
          <a:p>
            <a:pPr algn="l"/>
            <a:r>
              <a:rPr sz="1050" b="1" i="0">
                <a:solidFill>
                  <a:srgbClr val="0C2D36"/>
                </a:solidFill>
              </a:rPr>
              <a:t>Subject: </a:t>
            </a:r>
            <a:r>
              <a:rPr sz="1000" b="0" i="0">
                <a:solidFill>
                  <a:srgbClr val="43535F"/>
                </a:solidFill>
              </a:rPr>
              <a:t>the sentence names the vendor, an alias or a product; first-party pages imply the product</a:t>
            </a:r>
            <a:endParaRPr sz="1200"/>
          </a:p>
        </p:txBody>
      </p:sp>
      <p:sp>
        <p:nvSpPr>
          <p:cNvPr id="21" name="Test 3"/>
          <p:cNvSpPr/>
          <p:nvPr/>
        </p:nvSpPr>
        <p:spPr>
          <a:xfrm>
            <a:off x="6227064" y="2779776"/>
            <a:ext cx="310896" cy="310896"/>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100" b="1" i="0">
                <a:solidFill>
                  <a:srgbClr val="FFFFFF"/>
                </a:solidFill>
              </a:rPr>
              <a:t>3</a:t>
            </a:r>
            <a:endParaRPr sz="1100"/>
          </a:p>
        </p:txBody>
      </p:sp>
      <p:sp>
        <p:nvSpPr>
          <p:cNvPr id="22" name="Test text 3"/>
          <p:cNvSpPr txBox="1"/>
          <p:nvPr/>
        </p:nvSpPr>
        <p:spPr>
          <a:xfrm>
            <a:off x="6629400" y="2761488"/>
            <a:ext cx="5056632" cy="384048"/>
          </a:xfrm>
          <a:prstGeom prst="rect">
            <a:avLst/>
          </a:prstGeom>
          <a:noFill/>
        </p:spPr>
        <p:txBody>
          <a:bodyPr wrap="square" anchor="ctr" lIns="0" tIns="0" rIns="0" bIns="0">
            <a:noAutofit/>
          </a:bodyPr>
          <a:lstStyle/>
          <a:p>
            <a:pPr algn="l"/>
            <a:r>
              <a:rPr sz="1050" b="1" i="0">
                <a:solidFill>
                  <a:srgbClr val="0C2D36"/>
                </a:solidFill>
              </a:rPr>
              <a:t>Use-state: </a:t>
            </a:r>
            <a:r>
              <a:rPr sz="1000" b="0" i="0">
                <a:solidFill>
                  <a:srgbClr val="43535F"/>
                </a:solidFill>
              </a:rPr>
              <a:t>deployed cues ('live', 'uses', 'reviewed by AI', a percentage) beat 'will', 'plan', 'exploring'</a:t>
            </a:r>
            <a:endParaRPr sz="1200"/>
          </a:p>
        </p:txBody>
      </p:sp>
      <p:sp>
        <p:nvSpPr>
          <p:cNvPr id="23" name="Test 4"/>
          <p:cNvSpPr/>
          <p:nvPr/>
        </p:nvSpPr>
        <p:spPr>
          <a:xfrm>
            <a:off x="6227064" y="3172968"/>
            <a:ext cx="310896" cy="310896"/>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100" b="1" i="0">
                <a:solidFill>
                  <a:srgbClr val="FFFFFF"/>
                </a:solidFill>
              </a:rPr>
              <a:t>4</a:t>
            </a:r>
            <a:endParaRPr sz="1100"/>
          </a:p>
        </p:txBody>
      </p:sp>
      <p:sp>
        <p:nvSpPr>
          <p:cNvPr id="24" name="Test text 4"/>
          <p:cNvSpPr txBox="1"/>
          <p:nvPr/>
        </p:nvSpPr>
        <p:spPr>
          <a:xfrm>
            <a:off x="6629400" y="3154680"/>
            <a:ext cx="5056632" cy="384048"/>
          </a:xfrm>
          <a:prstGeom prst="rect">
            <a:avLst/>
          </a:prstGeom>
          <a:noFill/>
        </p:spPr>
        <p:txBody>
          <a:bodyPr wrap="square" anchor="ctr" lIns="0" tIns="0" rIns="0" bIns="0">
            <a:noAutofit/>
          </a:bodyPr>
          <a:lstStyle/>
          <a:p>
            <a:pPr algn="l"/>
            <a:r>
              <a:rPr sz="1050" b="1" i="0">
                <a:solidFill>
                  <a:srgbClr val="0C2D36"/>
                </a:solidFill>
              </a:rPr>
              <a:t>Specificity: </a:t>
            </a:r>
            <a:r>
              <a:rPr sz="1000" b="0" i="0">
                <a:solidFill>
                  <a:srgbClr val="43535F"/>
                </a:solidFill>
              </a:rPr>
              <a:t>G1–G11 genuine-use indicators against M1–M7 marketing indicators give S3, S2, S1 or S0</a:t>
            </a:r>
            <a:endParaRPr sz="1200"/>
          </a:p>
        </p:txBody>
      </p:sp>
      <p:sp>
        <p:nvSpPr>
          <p:cNvPr id="25" name="Labels title"/>
          <p:cNvSpPr txBox="1"/>
          <p:nvPr/>
        </p:nvSpPr>
        <p:spPr>
          <a:xfrm>
            <a:off x="502920" y="3712463"/>
            <a:ext cx="5440680" cy="274320"/>
          </a:xfrm>
          <a:prstGeom prst="rect">
            <a:avLst/>
          </a:prstGeom>
          <a:noFill/>
        </p:spPr>
        <p:txBody>
          <a:bodyPr wrap="square" anchor="t" lIns="0" tIns="0" rIns="0" bIns="0">
            <a:noAutofit/>
          </a:bodyPr>
          <a:lstStyle/>
          <a:p>
            <a:pPr algn="l"/>
            <a:r>
              <a:rPr sz="1200" b="1" i="0">
                <a:solidFill>
                  <a:srgbClr val="0C2D36"/>
                </a:solidFill>
              </a:rPr>
              <a:t>Strength label: the first rule that matches wins</a:t>
            </a:r>
            <a:endParaRPr sz="1200"/>
          </a:p>
        </p:txBody>
      </p:sp>
      <p:sp>
        <p:nvSpPr>
          <p:cNvPr id="26" name="Label rank 1"/>
          <p:cNvSpPr txBox="1"/>
          <p:nvPr/>
        </p:nvSpPr>
        <p:spPr>
          <a:xfrm>
            <a:off x="502920" y="4041648"/>
            <a:ext cx="274320" cy="292608"/>
          </a:xfrm>
          <a:prstGeom prst="rect">
            <a:avLst/>
          </a:prstGeom>
          <a:noFill/>
        </p:spPr>
        <p:txBody>
          <a:bodyPr wrap="square" anchor="ctr" lIns="0" tIns="0" rIns="0" bIns="0">
            <a:noAutofit/>
          </a:bodyPr>
          <a:lstStyle/>
          <a:p>
            <a:pPr algn="l"/>
            <a:r>
              <a:rPr sz="1100" b="1" i="0">
                <a:solidFill>
                  <a:srgbClr val="66757F"/>
                </a:solidFill>
              </a:rPr>
              <a:t>1</a:t>
            </a:r>
            <a:endParaRPr sz="1200"/>
          </a:p>
        </p:txBody>
      </p:sp>
      <p:sp>
        <p:nvSpPr>
          <p:cNvPr id="27" name="Label Negative"/>
          <p:cNvSpPr/>
          <p:nvPr/>
        </p:nvSpPr>
        <p:spPr>
          <a:xfrm>
            <a:off x="777240" y="4041648"/>
            <a:ext cx="1417320" cy="292608"/>
          </a:xfrm>
          <a:prstGeom prst="roundRect">
            <a:avLst>
              <a:gd name="adj" fmla="val 50000"/>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tIns="0" rIns="27432" bIns="0">
            <a:noAutofit/>
          </a:bodyPr>
          <a:lstStyle/>
          <a:p>
            <a:pPr algn="ctr"/>
            <a:r>
              <a:rPr sz="1050" b="1" i="0">
                <a:solidFill>
                  <a:srgbClr val="861818"/>
                </a:solidFill>
              </a:rPr>
              <a:t>Negative</a:t>
            </a:r>
            <a:endParaRPr sz="1200"/>
          </a:p>
        </p:txBody>
      </p:sp>
      <p:sp>
        <p:nvSpPr>
          <p:cNvPr id="28" name="Label rule Negative"/>
          <p:cNvSpPr txBox="1"/>
          <p:nvPr/>
        </p:nvSpPr>
        <p:spPr>
          <a:xfrm>
            <a:off x="2313432" y="4041648"/>
            <a:ext cx="3657600" cy="292608"/>
          </a:xfrm>
          <a:prstGeom prst="rect">
            <a:avLst/>
          </a:prstGeom>
          <a:noFill/>
        </p:spPr>
        <p:txBody>
          <a:bodyPr wrap="square" anchor="ctr" lIns="0" tIns="0" rIns="0" bIns="0">
            <a:noAutofit/>
          </a:bodyPr>
          <a:lstStyle/>
          <a:p>
            <a:pPr algn="l"/>
            <a:r>
              <a:rPr sz="1000" b="0" i="0">
                <a:solidFill>
                  <a:srgbClr val="43535F"/>
                </a:solidFill>
              </a:rPr>
              <a:t>U8: a limiting or negative statement</a:t>
            </a:r>
            <a:endParaRPr sz="1200"/>
          </a:p>
        </p:txBody>
      </p:sp>
      <p:sp>
        <p:nvSpPr>
          <p:cNvPr id="29" name="Label rank 2"/>
          <p:cNvSpPr txBox="1"/>
          <p:nvPr/>
        </p:nvSpPr>
        <p:spPr>
          <a:xfrm>
            <a:off x="502920" y="4379976"/>
            <a:ext cx="274320" cy="292608"/>
          </a:xfrm>
          <a:prstGeom prst="rect">
            <a:avLst/>
          </a:prstGeom>
          <a:noFill/>
        </p:spPr>
        <p:txBody>
          <a:bodyPr wrap="square" anchor="ctr" lIns="0" tIns="0" rIns="0" bIns="0">
            <a:noAutofit/>
          </a:bodyPr>
          <a:lstStyle/>
          <a:p>
            <a:pPr algn="l"/>
            <a:r>
              <a:rPr sz="1100" b="1" i="0">
                <a:solidFill>
                  <a:srgbClr val="66757F"/>
                </a:solidFill>
              </a:rPr>
              <a:t>2</a:t>
            </a:r>
            <a:endParaRPr sz="1200"/>
          </a:p>
        </p:txBody>
      </p:sp>
      <p:sp>
        <p:nvSpPr>
          <p:cNvPr id="30" name="Label Strong"/>
          <p:cNvSpPr/>
          <p:nvPr/>
        </p:nvSpPr>
        <p:spPr>
          <a:xfrm>
            <a:off x="777240" y="4379976"/>
            <a:ext cx="1417320" cy="292608"/>
          </a:xfrm>
          <a:prstGeom prst="roundRect">
            <a:avLst>
              <a:gd name="adj" fmla="val 50000"/>
            </a:avLst>
          </a:prstGeom>
          <a:solidFill>
            <a:srgbClr val="0A5E5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tIns="0" rIns="27432" bIns="0">
            <a:noAutofit/>
          </a:bodyPr>
          <a:lstStyle/>
          <a:p>
            <a:pPr algn="ctr"/>
            <a:r>
              <a:rPr sz="1050" b="1" i="0">
                <a:solidFill>
                  <a:srgbClr val="FFFFFF"/>
                </a:solidFill>
              </a:rPr>
              <a:t>Strong</a:t>
            </a:r>
            <a:endParaRPr sz="1200"/>
          </a:p>
        </p:txBody>
      </p:sp>
      <p:sp>
        <p:nvSpPr>
          <p:cNvPr id="31" name="Label rule Strong"/>
          <p:cNvSpPr txBox="1"/>
          <p:nvPr/>
        </p:nvSpPr>
        <p:spPr>
          <a:xfrm>
            <a:off x="2313432" y="4379976"/>
            <a:ext cx="3657600" cy="292608"/>
          </a:xfrm>
          <a:prstGeom prst="rect">
            <a:avLst/>
          </a:prstGeom>
          <a:noFill/>
        </p:spPr>
        <p:txBody>
          <a:bodyPr wrap="square" anchor="ctr" lIns="0" tIns="0" rIns="0" bIns="0">
            <a:noAutofit/>
          </a:bodyPr>
          <a:lstStyle/>
          <a:p>
            <a:pPr algn="l"/>
            <a:r>
              <a:rPr sz="1000" b="0" i="0">
                <a:solidFill>
                  <a:srgbClr val="43535F"/>
                </a:solidFill>
              </a:rPr>
              <a:t>a qualifying signal (Q) at R3, the exact service</a:t>
            </a:r>
            <a:endParaRPr sz="1200"/>
          </a:p>
        </p:txBody>
      </p:sp>
      <p:sp>
        <p:nvSpPr>
          <p:cNvPr id="32" name="Label rank 3"/>
          <p:cNvSpPr txBox="1"/>
          <p:nvPr/>
        </p:nvSpPr>
        <p:spPr>
          <a:xfrm>
            <a:off x="502920" y="4718304"/>
            <a:ext cx="274320" cy="292608"/>
          </a:xfrm>
          <a:prstGeom prst="rect">
            <a:avLst/>
          </a:prstGeom>
          <a:noFill/>
        </p:spPr>
        <p:txBody>
          <a:bodyPr wrap="square" anchor="ctr" lIns="0" tIns="0" rIns="0" bIns="0">
            <a:noAutofit/>
          </a:bodyPr>
          <a:lstStyle/>
          <a:p>
            <a:pPr algn="l"/>
            <a:r>
              <a:rPr sz="1100" b="1" i="0">
                <a:solidFill>
                  <a:srgbClr val="66757F"/>
                </a:solidFill>
              </a:rPr>
              <a:t>3</a:t>
            </a:r>
            <a:endParaRPr sz="1200"/>
          </a:p>
        </p:txBody>
      </p:sp>
      <p:sp>
        <p:nvSpPr>
          <p:cNvPr id="33" name="Label Moderate"/>
          <p:cNvSpPr/>
          <p:nvPr/>
        </p:nvSpPr>
        <p:spPr>
          <a:xfrm>
            <a:off x="777240" y="4718304"/>
            <a:ext cx="1417320" cy="292608"/>
          </a:xfrm>
          <a:prstGeom prst="roundRect">
            <a:avLst>
              <a:gd name="adj" fmla="val 50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tIns="0" rIns="27432" bIns="0">
            <a:noAutofit/>
          </a:bodyPr>
          <a:lstStyle/>
          <a:p>
            <a:pPr algn="ctr"/>
            <a:r>
              <a:rPr sz="1050" b="1" i="0">
                <a:solidFill>
                  <a:srgbClr val="FFFFFF"/>
                </a:solidFill>
              </a:rPr>
              <a:t>Moderate</a:t>
            </a:r>
            <a:endParaRPr sz="1200"/>
          </a:p>
        </p:txBody>
      </p:sp>
      <p:sp>
        <p:nvSpPr>
          <p:cNvPr id="34" name="Label rule Moderate"/>
          <p:cNvSpPr txBox="1"/>
          <p:nvPr/>
        </p:nvSpPr>
        <p:spPr>
          <a:xfrm>
            <a:off x="2313432" y="4718304"/>
            <a:ext cx="3657600" cy="292608"/>
          </a:xfrm>
          <a:prstGeom prst="rect">
            <a:avLst/>
          </a:prstGeom>
          <a:noFill/>
        </p:spPr>
        <p:txBody>
          <a:bodyPr wrap="square" anchor="ctr" lIns="0" tIns="0" rIns="0" bIns="0">
            <a:noAutofit/>
          </a:bodyPr>
          <a:lstStyle/>
          <a:p>
            <a:pPr algn="l"/>
            <a:r>
              <a:rPr sz="1000" b="0" i="0">
                <a:solidFill>
                  <a:srgbClr val="43535F"/>
                </a:solidFill>
              </a:rPr>
              <a:t>a Q at R2, or an independent corroborating signal (K)</a:t>
            </a:r>
            <a:endParaRPr sz="1200"/>
          </a:p>
        </p:txBody>
      </p:sp>
      <p:sp>
        <p:nvSpPr>
          <p:cNvPr id="35" name="Label rank 4"/>
          <p:cNvSpPr txBox="1"/>
          <p:nvPr/>
        </p:nvSpPr>
        <p:spPr>
          <a:xfrm>
            <a:off x="502920" y="5056631"/>
            <a:ext cx="274320" cy="292608"/>
          </a:xfrm>
          <a:prstGeom prst="rect">
            <a:avLst/>
          </a:prstGeom>
          <a:noFill/>
        </p:spPr>
        <p:txBody>
          <a:bodyPr wrap="square" anchor="ctr" lIns="0" tIns="0" rIns="0" bIns="0">
            <a:noAutofit/>
          </a:bodyPr>
          <a:lstStyle/>
          <a:p>
            <a:pPr algn="l"/>
            <a:r>
              <a:rPr sz="1100" b="1" i="0">
                <a:solidFill>
                  <a:srgbClr val="66757F"/>
                </a:solidFill>
              </a:rPr>
              <a:t>4</a:t>
            </a:r>
            <a:endParaRPr sz="1200"/>
          </a:p>
        </p:txBody>
      </p:sp>
      <p:sp>
        <p:nvSpPr>
          <p:cNvPr id="36" name="Label Context"/>
          <p:cNvSpPr/>
          <p:nvPr/>
        </p:nvSpPr>
        <p:spPr>
          <a:xfrm>
            <a:off x="777240" y="5056631"/>
            <a:ext cx="1417320" cy="292608"/>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tIns="0" rIns="27432" bIns="0">
            <a:noAutofit/>
          </a:bodyPr>
          <a:lstStyle/>
          <a:p>
            <a:pPr algn="ctr"/>
            <a:r>
              <a:rPr sz="1050" b="1" i="0">
                <a:solidFill>
                  <a:srgbClr val="0A5E5D"/>
                </a:solidFill>
              </a:rPr>
              <a:t>Context</a:t>
            </a:r>
            <a:endParaRPr sz="1200"/>
          </a:p>
        </p:txBody>
      </p:sp>
      <p:sp>
        <p:nvSpPr>
          <p:cNvPr id="37" name="Label rule Context"/>
          <p:cNvSpPr txBox="1"/>
          <p:nvPr/>
        </p:nvSpPr>
        <p:spPr>
          <a:xfrm>
            <a:off x="2313432" y="5056631"/>
            <a:ext cx="3657600" cy="292608"/>
          </a:xfrm>
          <a:prstGeom prst="rect">
            <a:avLst/>
          </a:prstGeom>
          <a:noFill/>
        </p:spPr>
        <p:txBody>
          <a:bodyPr wrap="square" anchor="ctr" lIns="0" tIns="0" rIns="0" bIns="0">
            <a:noAutofit/>
          </a:bodyPr>
          <a:lstStyle/>
          <a:p>
            <a:pPr algn="l"/>
            <a:r>
              <a:rPr sz="1000" b="0" i="0">
                <a:solidFill>
                  <a:srgbClr val="43535F"/>
                </a:solidFill>
              </a:rPr>
              <a:t>DNS token, platform supplier or inferred affiliate: not scored</a:t>
            </a:r>
            <a:endParaRPr sz="1200"/>
          </a:p>
        </p:txBody>
      </p:sp>
      <p:sp>
        <p:nvSpPr>
          <p:cNvPr id="38" name="Label rank 5"/>
          <p:cNvSpPr txBox="1"/>
          <p:nvPr/>
        </p:nvSpPr>
        <p:spPr>
          <a:xfrm>
            <a:off x="502920" y="5394960"/>
            <a:ext cx="274320" cy="292608"/>
          </a:xfrm>
          <a:prstGeom prst="rect">
            <a:avLst/>
          </a:prstGeom>
          <a:noFill/>
        </p:spPr>
        <p:txBody>
          <a:bodyPr wrap="square" anchor="ctr" lIns="0" tIns="0" rIns="0" bIns="0">
            <a:noAutofit/>
          </a:bodyPr>
          <a:lstStyle/>
          <a:p>
            <a:pPr algn="l"/>
            <a:r>
              <a:rPr sz="1100" b="1" i="0">
                <a:solidFill>
                  <a:srgbClr val="66757F"/>
                </a:solidFill>
              </a:rPr>
              <a:t>5</a:t>
            </a:r>
            <a:endParaRPr sz="1200"/>
          </a:p>
        </p:txBody>
      </p:sp>
      <p:sp>
        <p:nvSpPr>
          <p:cNvPr id="39" name="Label Marketing only"/>
          <p:cNvSpPr/>
          <p:nvPr/>
        </p:nvSpPr>
        <p:spPr>
          <a:xfrm>
            <a:off x="777240" y="5394960"/>
            <a:ext cx="1417320" cy="292608"/>
          </a:xfrm>
          <a:prstGeom prst="roundRect">
            <a:avLst>
              <a:gd name="adj" fmla="val 50000"/>
            </a:avLst>
          </a:prstGeom>
          <a:solidFill>
            <a:srgbClr val="FFF4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tIns="0" rIns="27432" bIns="0">
            <a:noAutofit/>
          </a:bodyPr>
          <a:lstStyle/>
          <a:p>
            <a:pPr algn="ctr"/>
            <a:r>
              <a:rPr sz="1050" b="1" i="0">
                <a:solidFill>
                  <a:srgbClr val="6B5000"/>
                </a:solidFill>
              </a:rPr>
              <a:t>Marketing only</a:t>
            </a:r>
            <a:endParaRPr sz="1200"/>
          </a:p>
        </p:txBody>
      </p:sp>
      <p:sp>
        <p:nvSpPr>
          <p:cNvPr id="40" name="Label rule Marketing only"/>
          <p:cNvSpPr txBox="1"/>
          <p:nvPr/>
        </p:nvSpPr>
        <p:spPr>
          <a:xfrm>
            <a:off x="2313432" y="5394960"/>
            <a:ext cx="3657600" cy="292608"/>
          </a:xfrm>
          <a:prstGeom prst="rect">
            <a:avLst/>
          </a:prstGeom>
          <a:noFill/>
        </p:spPr>
        <p:txBody>
          <a:bodyPr wrap="square" anchor="ctr" lIns="0" tIns="0" rIns="0" bIns="0">
            <a:noAutofit/>
          </a:bodyPr>
          <a:lstStyle/>
          <a:p>
            <a:pPr algn="l"/>
            <a:r>
              <a:rPr sz="1000" b="0" i="0">
                <a:solidFill>
                  <a:srgbClr val="43535F"/>
                </a:solidFill>
              </a:rPr>
              <a:t>U7, or S0 (aspiration and commentary)</a:t>
            </a:r>
            <a:endParaRPr sz="1200"/>
          </a:p>
        </p:txBody>
      </p:sp>
      <p:sp>
        <p:nvSpPr>
          <p:cNvPr id="41" name="Label rank 6"/>
          <p:cNvSpPr txBox="1"/>
          <p:nvPr/>
        </p:nvSpPr>
        <p:spPr>
          <a:xfrm>
            <a:off x="502920" y="5733288"/>
            <a:ext cx="274320" cy="292608"/>
          </a:xfrm>
          <a:prstGeom prst="rect">
            <a:avLst/>
          </a:prstGeom>
          <a:noFill/>
        </p:spPr>
        <p:txBody>
          <a:bodyPr wrap="square" anchor="ctr" lIns="0" tIns="0" rIns="0" bIns="0">
            <a:noAutofit/>
          </a:bodyPr>
          <a:lstStyle/>
          <a:p>
            <a:pPr algn="l"/>
            <a:r>
              <a:rPr sz="1100" b="1" i="0">
                <a:solidFill>
                  <a:srgbClr val="66757F"/>
                </a:solidFill>
              </a:rPr>
              <a:t>6</a:t>
            </a:r>
            <a:endParaRPr sz="1200"/>
          </a:p>
        </p:txBody>
      </p:sp>
      <p:sp>
        <p:nvSpPr>
          <p:cNvPr id="42" name="Label Weak"/>
          <p:cNvSpPr/>
          <p:nvPr/>
        </p:nvSpPr>
        <p:spPr>
          <a:xfrm>
            <a:off x="777240" y="5733288"/>
            <a:ext cx="1417320" cy="292608"/>
          </a:xfrm>
          <a:prstGeom prst="roundRect">
            <a:avLst>
              <a:gd name="adj" fmla="val 50000"/>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tIns="0" rIns="27432" bIns="0">
            <a:noAutofit/>
          </a:bodyPr>
          <a:lstStyle/>
          <a:p>
            <a:pPr algn="ctr"/>
            <a:r>
              <a:rPr sz="1050" b="1" i="0">
                <a:solidFill>
                  <a:srgbClr val="43535F"/>
                </a:solidFill>
              </a:rPr>
              <a:t>Weak</a:t>
            </a:r>
            <a:endParaRPr sz="1200"/>
          </a:p>
        </p:txBody>
      </p:sp>
      <p:sp>
        <p:nvSpPr>
          <p:cNvPr id="43" name="Label rule Weak"/>
          <p:cNvSpPr txBox="1"/>
          <p:nvPr/>
        </p:nvSpPr>
        <p:spPr>
          <a:xfrm>
            <a:off x="2313432" y="5733288"/>
            <a:ext cx="3657600" cy="292608"/>
          </a:xfrm>
          <a:prstGeom prst="rect">
            <a:avLst/>
          </a:prstGeom>
          <a:noFill/>
        </p:spPr>
        <p:txBody>
          <a:bodyPr wrap="square" anchor="ctr" lIns="0" tIns="0" rIns="0" bIns="0">
            <a:noAutofit/>
          </a:bodyPr>
          <a:lstStyle/>
          <a:p>
            <a:pPr algn="l"/>
            <a:r>
              <a:rPr sz="1000" b="0" i="0">
                <a:solidFill>
                  <a:srgbClr val="43535F"/>
                </a:solidFill>
              </a:rPr>
              <a:t>anything else that verified (S1 or R1)</a:t>
            </a:r>
            <a:endParaRPr sz="1200"/>
          </a:p>
        </p:txBody>
      </p:sp>
      <p:sp>
        <p:nvSpPr>
          <p:cNvPr id="44" name="Q definition"/>
          <p:cNvSpPr txBox="1"/>
          <p:nvPr/>
        </p:nvSpPr>
        <p:spPr>
          <a:xfrm>
            <a:off x="502920" y="6080760"/>
            <a:ext cx="5486400" cy="274320"/>
          </a:xfrm>
          <a:prstGeom prst="rect">
            <a:avLst/>
          </a:prstGeom>
          <a:noFill/>
        </p:spPr>
        <p:txBody>
          <a:bodyPr wrap="square" anchor="t" lIns="0" tIns="0" rIns="0" bIns="0">
            <a:noAutofit/>
          </a:bodyPr>
          <a:lstStyle/>
          <a:p>
            <a:pPr algn="l"/>
            <a:r>
              <a:rPr sz="1000" b="0" i="0">
                <a:solidFill>
                  <a:srgbClr val="66757F"/>
                </a:solidFill>
              </a:rPr>
              <a:t>Q = SR A/B · SP ≥ S2 · RL ≥ R2 · RC ≥ T1 · U1–U4 · a delivery locus</a:t>
            </a:r>
            <a:endParaRPr sz="1200"/>
          </a:p>
        </p:txBody>
      </p:sp>
      <p:sp>
        <p:nvSpPr>
          <p:cNvPr id="45" name="Trap card"/>
          <p:cNvSpPr/>
          <p:nvPr/>
        </p:nvSpPr>
        <p:spPr>
          <a:xfrm>
            <a:off x="6217920" y="3712463"/>
            <a:ext cx="5468112" cy="1188720"/>
          </a:xfrm>
          <a:prstGeom prst="roundRect">
            <a:avLst>
              <a:gd name="adj" fmla="val 7692"/>
            </a:avLst>
          </a:prstGeom>
          <a:solidFill>
            <a:srgbClr val="FDF0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100" b="1" i="0">
                <a:solidFill>
                  <a:srgbClr val="861818"/>
                </a:solidFill>
              </a:rPr>
              <a:t>Trap · rejected</a:t>
            </a:r>
            <a:endParaRPr sz="1200"/>
          </a:p>
          <a:p>
            <a:pPr algn="l"/>
            <a:r>
              <a:rPr sz="1000" b="1" i="0">
                <a:solidFill>
                  <a:srgbClr val="0C2D36"/>
                </a:solidFill>
              </a:rPr>
              <a:t>AutomWorx · Homepage · V-001-E-0138</a:t>
            </a:r>
            <a:endParaRPr sz="1200"/>
          </a:p>
          <a:p>
            <a:pPr algn="l"/>
            <a:r>
              <a:rPr sz="1000" b="0" i="1">
                <a:solidFill>
                  <a:srgbClr val="43535F"/>
                </a:solidFill>
              </a:rPr>
              <a:t>“The Orchestration Layer of the Private Cloud. Running AI in Production Starts Below the Model”</a:t>
            </a:r>
            <a:endParaRPr sz="1200"/>
          </a:p>
          <a:p>
            <a:pPr algn="l">
              <a:spcBef>
                <a:spcPts val="300"/>
              </a:spcBef>
            </a:pPr>
            <a:r>
              <a:rPr sz="1000" b="0" i="0">
                <a:solidFill>
                  <a:srgbClr val="43535F"/>
                </a:solidFill>
              </a:rPr>
              <a:t>Definition test fails: no ML or LLM is evidenced → kept in the Evidence Log as a trap, never cited.</a:t>
            </a:r>
            <a:endParaRPr sz="1200"/>
          </a:p>
        </p:txBody>
      </p:sp>
      <p:sp>
        <p:nvSpPr>
          <p:cNvPr id="46" name="Strong card"/>
          <p:cNvSpPr/>
          <p:nvPr/>
        </p:nvSpPr>
        <p:spPr>
          <a:xfrm>
            <a:off x="6217920" y="5029200"/>
            <a:ext cx="5468112" cy="1188720"/>
          </a:xfrm>
          <a:prstGeom prst="roundRect">
            <a:avLst>
              <a:gd name="adj" fmla="val 7692"/>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100" b="1" i="0">
                <a:solidFill>
                  <a:srgbClr val="0A5E5D"/>
                </a:solidFill>
              </a:rPr>
              <a:t>Strong · cited</a:t>
            </a:r>
            <a:endParaRPr sz="1200"/>
          </a:p>
          <a:p>
            <a:pPr algn="l"/>
            <a:r>
              <a:rPr sz="1000" b="1" i="0">
                <a:solidFill>
                  <a:srgbClr val="0C2D36"/>
                </a:solidFill>
              </a:rPr>
              <a:t>BNY · scouting example</a:t>
            </a:r>
            <a:endParaRPr sz="1200"/>
          </a:p>
          <a:p>
            <a:pPr algn="l"/>
            <a:r>
              <a:rPr sz="1000" b="0" i="1">
                <a:solidFill>
                  <a:srgbClr val="43535F"/>
                </a:solidFill>
              </a:rPr>
              <a:t>The instant-payments product page ties AI-enabled anomaly detection to its RTP network connection.</a:t>
            </a:r>
            <a:endParaRPr sz="1200"/>
          </a:p>
          <a:p>
            <a:pPr algn="l">
              <a:spcBef>
                <a:spcPts val="300"/>
              </a:spcBef>
            </a:pPr>
            <a:r>
              <a:rPr sz="1000" b="0" i="0">
                <a:solidFill>
                  <a:srgbClr val="43535F"/>
                </a:solidFill>
              </a:rPr>
              <a:t>U1 · SR B · RL R3 → Strong: the Primary source for a Yes (Confirmed) verdict.</a:t>
            </a:r>
            <a:endParaRPr sz="12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10896"/>
            <a:ext cx="9509760" cy="640080"/>
          </a:xfrm>
        </p:spPr>
        <p:txBody>
          <a:bodyPr wrap="square" anchor="b" lIns="0" tIns="0" rIns="0" bIns="0">
            <a:noAutofit/>
          </a:bodyPr>
          <a:lstStyle/>
          <a:p>
            <a:pPr algn="l"/>
            <a:r>
              <a:rPr sz="3000" b="1" i="0">
                <a:solidFill>
                  <a:srgbClr val="0C2D36"/>
                </a:solidFill>
              </a:rPr>
              <a:t>AI where it adds recall, code where it adds trust</a:t>
            </a:r>
            <a:endParaRPr sz="1200"/>
          </a:p>
        </p:txBody>
      </p:sp>
      <p:sp>
        <p:nvSpPr>
          <p:cNvPr id="3" name="Corner tag"/>
          <p:cNvSpPr/>
          <p:nvPr/>
        </p:nvSpPr>
        <p:spPr>
          <a:xfrm>
            <a:off x="10241280" y="457200"/>
            <a:ext cx="1444752" cy="310896"/>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OUTCOME 03</a:t>
            </a:r>
            <a:endParaRPr sz="1000"/>
          </a:p>
        </p:txBody>
      </p:sp>
      <p:sp>
        <p:nvSpPr>
          <p:cNvPr id="4" name="Kicker"/>
          <p:cNvSpPr txBox="1"/>
          <p:nvPr/>
        </p:nvSpPr>
        <p:spPr>
          <a:xfrm>
            <a:off x="502920" y="987552"/>
            <a:ext cx="11183112" cy="502920"/>
          </a:xfrm>
          <a:prstGeom prst="rect">
            <a:avLst/>
          </a:prstGeom>
          <a:noFill/>
        </p:spPr>
        <p:txBody>
          <a:bodyPr wrap="square" anchor="t" lIns="0" tIns="0" rIns="0" bIns="0">
            <a:noAutofit/>
          </a:bodyPr>
          <a:lstStyle/>
          <a:p>
            <a:pPr algn="l"/>
            <a:r>
              <a:rPr sz="1500" b="0" i="0">
                <a:solidFill>
                  <a:srgbClr val="0A5E5D"/>
                </a:solidFill>
              </a:rPr>
              <a:t>Gemini proposes names, priorities and claims; deterministic code decides what is evidence, and nothing Meridian-internal reaches the model.</a:t>
            </a:r>
            <a:endParaRPr sz="1200"/>
          </a:p>
        </p:txBody>
      </p:sp>
      <p:sp>
        <p:nvSpPr>
          <p:cNvPr id="5"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66757F"/>
                </a:solidFill>
              </a:rPr>
              <a:t>Team Osprey · Vendor AI footprint · Confidential case-study material, not for distribution</a:t>
            </a:r>
            <a:endParaRPr sz="1200"/>
          </a:p>
        </p:txBody>
      </p:sp>
      <p:sp>
        <p:nvSpPr>
          <p:cNvPr id="6" name="Slide number"/>
          <p:cNvSpPr txBox="1"/>
          <p:nvPr/>
        </p:nvSpPr>
        <p:spPr>
          <a:xfrm>
            <a:off x="10954512" y="6437376"/>
            <a:ext cx="731520" cy="256032"/>
          </a:xfrm>
          <a:prstGeom prst="rect">
            <a:avLst/>
          </a:prstGeom>
          <a:noFill/>
        </p:spPr>
        <p:txBody>
          <a:bodyPr wrap="square" anchor="ctr" lIns="0" tIns="0" rIns="0" bIns="0">
            <a:noAutofit/>
          </a:bodyPr>
          <a:lstStyle/>
          <a:p>
            <a:pPr algn="r"/>
            <a:fld id="{74CF48F9-830B-53C7-8B15-ECFBA82C03AD}" type="slidenum">
              <a:rPr lang="en-GB" sz="1000" dirty="0">
                <a:solidFill>
                  <a:srgbClr val="66757F"/>
                </a:solidFill>
              </a:rPr>
              <a:t>8</a:t>
            </a:fld>
            <a:endParaRPr sz="1200"/>
          </a:p>
        </p:txBody>
      </p:sp>
      <p:graphicFrame>
        <p:nvGraphicFramePr>
          <p:cNvPr id="7" name="AI roles table"/>
          <p:cNvGraphicFramePr>
            <a:graphicFrameLocks noGrp="1"/>
          </p:cNvGraphicFramePr>
          <p:nvPr/>
        </p:nvGraphicFramePr>
        <p:xfrm>
          <a:off x="502920" y="1645920"/>
          <a:ext cx="5623559" cy="2359152"/>
        </p:xfrm>
        <a:graphic>
          <a:graphicData uri="http://schemas.openxmlformats.org/drawingml/2006/table">
            <a:tbl>
              <a:tblPr firstRow="1">
                <a:tableStyleId>{2D5ABB26-0587-4C30-8999-92F81FD0307C}</a:tableStyleId>
              </a:tblPr>
              <a:tblGrid>
                <a:gridCol w="914400"/>
                <a:gridCol w="1874519"/>
                <a:gridCol w="2148840"/>
                <a:gridCol w="685800"/>
              </a:tblGrid>
              <a:tr h="310896">
                <a:tc>
                  <a:txBody>
                    <a:bodyPr wrap="square" anchor="t" lIns="64008" tIns="32004" rIns="64008" bIns="32004">
                      <a:noAutofit/>
                    </a:bodyPr>
                    <a:lstStyle/>
                    <a:p>
                      <a:pPr algn="l"/>
                      <a:r>
                        <a:rPr sz="1000" b="1" i="0">
                          <a:solidFill>
                            <a:srgbClr val="FFFFFF"/>
                          </a:solidFill>
                        </a:rPr>
                        <a:t>Role</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Input (public only)</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Output</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Calls</a:t>
                      </a:r>
                      <a:endParaRPr sz="1000"/>
                    </a:p>
                  </a:txBody>
                  <a:tcPr marL="64008" marR="64008" marT="32004" marB="32004" anchor="ctr">
                    <a:solidFill>
                      <a:srgbClr val="0C2D36"/>
                    </a:solidFill>
                  </a:tcPr>
                </a:tc>
              </a:tr>
              <a:tr h="512064">
                <a:tc>
                  <a:txBody>
                    <a:bodyPr wrap="square" anchor="t" lIns="64008" tIns="32004" rIns="64008" bIns="32004">
                      <a:noAutofit/>
                    </a:bodyPr>
                    <a:lstStyle/>
                    <a:p>
                      <a:pPr algn="l"/>
                      <a:r>
                        <a:rPr sz="1050" b="1" i="0">
                          <a:solidFill>
                            <a:srgbClr val="0C2D36"/>
                          </a:solidFill>
                        </a:rPr>
                        <a:t>Expand</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public vendor name, homepage title and meta, navigation text</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names only (aliases, products, providers, affiliates) as search keys, never evidence</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00" b="0" i="0">
                          <a:solidFill>
                            <a:srgbClr val="43535F"/>
                          </a:solidFill>
                        </a:rPr>
                        <a:t>≈ 6</a:t>
                      </a:r>
                      <a:endParaRPr sz="1000"/>
                    </a:p>
                  </a:txBody>
                  <a:tcPr marL="64008" marR="64008" marT="32004" marB="32004" anchor="ctr">
                    <a:lnB w="9525" cap="flat" cmpd="sng" algn="ctr">
                      <a:solidFill>
                        <a:srgbClr val="C8D3D9"/>
                      </a:solidFill>
                      <a:prstDash val="solid"/>
                    </a:lnB>
                    <a:solidFill>
                      <a:srgbClr val="FFFFFF"/>
                    </a:solidFill>
                  </a:tcPr>
                </a:tc>
              </a:tr>
              <a:tr h="512064">
                <a:tc>
                  <a:txBody>
                    <a:bodyPr wrap="square" anchor="t" lIns="64008" tIns="32004" rIns="64008" bIns="32004">
                      <a:noAutofit/>
                    </a:bodyPr>
                    <a:lstStyle/>
                    <a:p>
                      <a:pPr algn="l"/>
                      <a:r>
                        <a:rPr sz="1050" b="1" i="0">
                          <a:solidFill>
                            <a:srgbClr val="0C2D36"/>
                          </a:solidFill>
                        </a:rPr>
                        <a:t>Triage</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rows of id · path · title · date · family, plus job titles</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IDs with a priority and a reason code; never URLs</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00" b="0" i="0">
                          <a:solidFill>
                            <a:srgbClr val="43535F"/>
                          </a:solidFill>
                        </a:rPr>
                        <a:t>≈ 20</a:t>
                      </a:r>
                      <a:endParaRPr sz="1000"/>
                    </a:p>
                  </a:txBody>
                  <a:tcPr marL="64008" marR="64008" marT="32004" marB="32004" anchor="ctr">
                    <a:lnB w="9525" cap="flat" cmpd="sng" algn="ctr">
                      <a:solidFill>
                        <a:srgbClr val="C8D3D9"/>
                      </a:solidFill>
                      <a:prstDash val="solid"/>
                    </a:lnB>
                    <a:solidFill>
                      <a:srgbClr val="FFFFFF"/>
                    </a:solidFill>
                  </a:tcPr>
                </a:tc>
              </a:tr>
              <a:tr h="512064">
                <a:tc>
                  <a:txBody>
                    <a:bodyPr wrap="square" anchor="t" lIns="64008" tIns="32004" rIns="64008" bIns="32004">
                      <a:noAutofit/>
                    </a:bodyPr>
                    <a:lstStyle/>
                    <a:p>
                      <a:pPr algn="l"/>
                      <a:r>
                        <a:rPr sz="1050" b="1" i="0">
                          <a:solidFill>
                            <a:srgbClr val="0C2D36"/>
                          </a:solidFill>
                        </a:rPr>
                        <a:t>Extract</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passages as [P#] (kind, date) text, 12 per call</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ClaimBatch JSON: verbatim quote, kind, subject, AI type, use-state, action level, indicators</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00" b="0" i="0">
                          <a:solidFill>
                            <a:srgbClr val="43535F"/>
                          </a:solidFill>
                        </a:rPr>
                        <a:t>≈ 70–100</a:t>
                      </a:r>
                      <a:endParaRPr sz="1000"/>
                    </a:p>
                  </a:txBody>
                  <a:tcPr marL="64008" marR="64008" marT="32004" marB="32004" anchor="ctr">
                    <a:lnB w="9525" cap="flat" cmpd="sng" algn="ctr">
                      <a:solidFill>
                        <a:srgbClr val="C8D3D9"/>
                      </a:solidFill>
                      <a:prstDash val="solid"/>
                    </a:lnB>
                    <a:solidFill>
                      <a:srgbClr val="FFFFFF"/>
                    </a:solidFill>
                  </a:tcPr>
                </a:tc>
              </a:tr>
              <a:tr h="512064">
                <a:tc>
                  <a:txBody>
                    <a:bodyPr wrap="square" anchor="t" lIns="64008" tIns="32004" rIns="64008" bIns="32004">
                      <a:noAutofit/>
                    </a:bodyPr>
                    <a:lstStyle/>
                    <a:p>
                      <a:pPr algn="l"/>
                      <a:r>
                        <a:rPr sz="1050" b="1" i="0">
                          <a:solidFill>
                            <a:srgbClr val="0C2D36"/>
                          </a:solidFill>
                        </a:rPr>
                        <a:t>Keyless</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seeds, page n-grams, URL slug and title rules</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NullLLM: rules-only extraction through the same verification and tags</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00" b="0" i="0">
                          <a:solidFill>
                            <a:srgbClr val="43535F"/>
                          </a:solidFill>
                        </a:rPr>
                        <a:t>0</a:t>
                      </a:r>
                      <a:endParaRPr sz="1000"/>
                    </a:p>
                  </a:txBody>
                  <a:tcPr marL="64008" marR="64008" marT="32004" marB="32004" anchor="ctr">
                    <a:lnB w="9525" cap="flat" cmpd="sng" algn="ctr">
                      <a:solidFill>
                        <a:srgbClr val="C8D3D9"/>
                      </a:solidFill>
                      <a:prstDash val="solid"/>
                    </a:lnB>
                    <a:solidFill>
                      <a:srgbClr val="FFFFFF"/>
                    </a:solidFill>
                  </a:tcPr>
                </a:tc>
              </a:tr>
            </a:tbl>
          </a:graphicData>
        </a:graphic>
      </p:graphicFrame>
      <p:sp>
        <p:nvSpPr>
          <p:cNvPr id="8" name="Model settings"/>
          <p:cNvSpPr txBox="1"/>
          <p:nvPr/>
        </p:nvSpPr>
        <p:spPr>
          <a:xfrm>
            <a:off x="502920" y="4041648"/>
            <a:ext cx="5623560" cy="384048"/>
          </a:xfrm>
          <a:prstGeom prst="rect">
            <a:avLst/>
          </a:prstGeom>
          <a:noFill/>
        </p:spPr>
        <p:txBody>
          <a:bodyPr wrap="square" anchor="t" lIns="0" tIns="0" rIns="0" bIns="0">
            <a:noAutofit/>
          </a:bodyPr>
          <a:lstStyle/>
          <a:p>
            <a:pPr algn="l"/>
            <a:r>
              <a:rPr sz="1000" b="0" i="0">
                <a:solidFill>
                  <a:srgbClr val="66757F"/>
                </a:solidFill>
              </a:rPr>
              <a:t>gemini-3.5-flash-lite (fallback 3.1-flash-lite) · JSON schema output · seed 1234 · minimal thinking · no temperature · tools off · cached</a:t>
            </a:r>
            <a:endParaRPr sz="1200"/>
          </a:p>
        </p:txBody>
      </p:sp>
      <p:sp>
        <p:nvSpPr>
          <p:cNvPr id="9" name="Public passages"/>
          <p:cNvSpPr/>
          <p:nvPr/>
        </p:nvSpPr>
        <p:spPr>
          <a:xfrm>
            <a:off x="6446520" y="2034540"/>
            <a:ext cx="1234440" cy="868680"/>
          </a:xfrm>
          <a:prstGeom prst="roundRect">
            <a:avLst>
              <a:gd name="adj" fmla="val 8421"/>
            </a:avLst>
          </a:prstGeom>
          <a:solidFill>
            <a:srgbClr val="F1F5F7"/>
          </a:solidFill>
          <a:ln w="9525">
            <a:solidFill>
              <a:srgbClr val="C8D3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r>
              <a:rPr sz="1050" b="1" i="0">
                <a:solidFill>
                  <a:srgbClr val="0C2D36"/>
                </a:solidFill>
              </a:rPr>
              <a:t>Public passages</a:t>
            </a:r>
            <a:endParaRPr sz="1200"/>
          </a:p>
          <a:p>
            <a:pPr algn="ctr"/>
            <a:r>
              <a:rPr sz="1000" b="0" i="0">
                <a:solidFill>
                  <a:srgbClr val="43535F"/>
                </a:solidFill>
              </a:rPr>
              <a:t>vendor and provider pages</a:t>
            </a:r>
            <a:endParaRPr sz="1200"/>
          </a:p>
        </p:txBody>
      </p:sp>
      <p:sp>
        <p:nvSpPr>
          <p:cNvPr id="10" name="Payload guard"/>
          <p:cNvSpPr/>
          <p:nvPr/>
        </p:nvSpPr>
        <p:spPr>
          <a:xfrm>
            <a:off x="7955279" y="1645920"/>
            <a:ext cx="2240280" cy="1645920"/>
          </a:xfrm>
          <a:prstGeom prst="roundRect">
            <a:avLst>
              <a:gd name="adj" fmla="val 4444"/>
            </a:avLst>
          </a:prstGeom>
          <a:solidFill>
            <a:srgbClr val="FFF4CC"/>
          </a:solidFill>
          <a:ln w="1905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rIns="73152">
            <a:noAutofit/>
          </a:bodyPr>
          <a:lstStyle/>
          <a:p>
            <a:pPr algn="l">
              <a:spcAft>
                <a:spcPts val="300"/>
              </a:spcAft>
            </a:pPr>
            <a:r>
              <a:rPr sz="1100" b="1" i="0">
                <a:solidFill>
                  <a:srgbClr val="0C2D36"/>
                </a:solidFill>
              </a:rPr>
              <a:t>Payload guard</a:t>
            </a:r>
            <a:endParaRPr sz="1200"/>
          </a:p>
          <a:p>
            <a:pPr algn="l" marL="109728" indent="-109728">
              <a:buClr>
                <a:srgbClr val="0E7C7B"/>
              </a:buClr>
              <a:buSzPct val="100000"/>
              <a:buFont typeface="Arial"/>
              <a:buChar char="•"/>
            </a:pPr>
            <a:r>
              <a:rPr sz="1000" b="0" i="0">
                <a:solidFill>
                  <a:srgbClr val="43535F"/>
                </a:solidFill>
              </a:rPr>
              <a:t>blocks 'Meridian' and the team name</a:t>
            </a:r>
            <a:endParaRPr sz="1200"/>
          </a:p>
          <a:p>
            <a:pPr algn="l" marL="109728" indent="-109728">
              <a:buClr>
                <a:srgbClr val="0E7C7B"/>
              </a:buClr>
              <a:buSzPct val="100000"/>
              <a:buFont typeface="Arial"/>
              <a:buChar char="•"/>
            </a:pPr>
            <a:r>
              <a:rPr sz="1000" b="0" i="0">
                <a:solidFill>
                  <a:srgbClr val="43535F"/>
                </a:solidFill>
              </a:rPr>
              <a:t>blocks profile wording (columns D, E, H, J, K as 6-word shingles)</a:t>
            </a:r>
            <a:endParaRPr sz="1200"/>
          </a:p>
          <a:p>
            <a:pPr algn="l" marL="109728" indent="-109728">
              <a:buClr>
                <a:srgbClr val="0E7C7B"/>
              </a:buClr>
              <a:buSzPct val="100000"/>
              <a:buFont typeface="Arial"/>
              <a:buChar char="•"/>
            </a:pPr>
            <a:r>
              <a:rPr sz="1000" b="0" i="0">
                <a:solidFill>
                  <a:srgbClr val="43535F"/>
                </a:solidFill>
              </a:rPr>
              <a:t>redacts emails, phones and listed names</a:t>
            </a:r>
            <a:endParaRPr sz="1200"/>
          </a:p>
          <a:p>
            <a:pPr algn="l" marL="109728" indent="-109728">
              <a:buClr>
                <a:srgbClr val="0E7C7B"/>
              </a:buClr>
              <a:buSzPct val="100000"/>
              <a:buFont typeface="Arial"/>
              <a:buChar char="•"/>
            </a:pPr>
            <a:r>
              <a:rPr sz="1000" b="0" i="0">
                <a:solidFill>
                  <a:srgbClr val="43535F"/>
                </a:solidFill>
              </a:rPr>
              <a:t>skips hosts that refuse AI processing (terms, Google-Extended, Content-Signal)</a:t>
            </a:r>
            <a:endParaRPr sz="1200"/>
          </a:p>
        </p:txBody>
      </p:sp>
      <p:sp>
        <p:nvSpPr>
          <p:cNvPr id="11" name="Gemini"/>
          <p:cNvSpPr/>
          <p:nvPr/>
        </p:nvSpPr>
        <p:spPr>
          <a:xfrm>
            <a:off x="10451592" y="2034540"/>
            <a:ext cx="1234440" cy="868680"/>
          </a:xfrm>
          <a:prstGeom prst="roundRect">
            <a:avLst>
              <a:gd name="adj" fmla="val 8421"/>
            </a:avLst>
          </a:prstGeom>
          <a:solidFill>
            <a:srgbClr val="FFFFFF"/>
          </a:solidFill>
          <a:ln w="15875">
            <a:solidFill>
              <a:srgbClr val="0E7C7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r>
              <a:rPr sz="1050" b="1" i="0">
                <a:solidFill>
                  <a:srgbClr val="0C2D36"/>
                </a:solidFill>
              </a:rPr>
              <a:t>Gemini</a:t>
            </a:r>
            <a:endParaRPr sz="1200"/>
          </a:p>
          <a:p>
            <a:pPr algn="ctr"/>
            <a:r>
              <a:rPr sz="1000" b="0" i="0">
                <a:solidFill>
                  <a:srgbClr val="43535F"/>
                </a:solidFill>
              </a:rPr>
              <a:t>claims as JSON, unverified</a:t>
            </a:r>
            <a:endParaRPr sz="1200"/>
          </a:p>
        </p:txBody>
      </p:sp>
      <p:sp>
        <p:nvSpPr>
          <p:cNvPr id="12" name="Withheld"/>
          <p:cNvSpPr/>
          <p:nvPr/>
        </p:nvSpPr>
        <p:spPr>
          <a:xfrm>
            <a:off x="7955279" y="3493008"/>
            <a:ext cx="2240280" cy="502920"/>
          </a:xfrm>
          <a:prstGeom prst="roundRect">
            <a:avLst>
              <a:gd name="adj" fmla="val 14545"/>
            </a:avLst>
          </a:prstGeom>
          <a:solidFill>
            <a:srgbClr val="F1F5F7"/>
          </a:solidFill>
          <a:ln w="9525">
            <a:solidFill>
              <a:srgbClr val="C8D3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r>
              <a:rPr sz="1000" b="0" i="0">
                <a:solidFill>
                  <a:srgbClr val="0C2D36"/>
                </a:solidFill>
              </a:rPr>
              <a:t>Withheld → rules only; audit log without text</a:t>
            </a:r>
            <a:endParaRPr sz="1200"/>
          </a:p>
        </p:txBody>
      </p:sp>
      <p:cxnSp>
        <p:nvCxnSpPr>
          <p:cNvPr id="13" name="passages to guard"/>
          <p:cNvCxnSpPr>
            <a:stCxn id="9" idx="3"/>
            <a:endCxn id="10" idx="1"/>
          </p:cNvCxnSpPr>
          <p:nvPr/>
        </p:nvCxnSpPr>
        <p:spPr>
          <a:xfrm flipV="1">
            <a:off x="7680960" y="2468880"/>
            <a:ext cx="274319" cy="0"/>
          </a:xfrm>
          <a:prstGeom prst="line">
            <a:avLst/>
          </a:prstGeom>
          <a:ln w="15875">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guard to Gemini"/>
          <p:cNvCxnSpPr>
            <a:stCxn id="10" idx="3"/>
            <a:endCxn id="11" idx="1"/>
          </p:cNvCxnSpPr>
          <p:nvPr/>
        </p:nvCxnSpPr>
        <p:spPr>
          <a:xfrm flipV="1">
            <a:off x="10195559" y="2468880"/>
            <a:ext cx="256033" cy="0"/>
          </a:xfrm>
          <a:prstGeom prst="line">
            <a:avLst/>
          </a:prstGeom>
          <a:ln w="15875">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5" name="guard to withheld"/>
          <p:cNvCxnSpPr>
            <a:stCxn id="10" idx="2"/>
            <a:endCxn id="12" idx="0"/>
          </p:cNvCxnSpPr>
          <p:nvPr/>
        </p:nvCxnSpPr>
        <p:spPr>
          <a:xfrm flipH="1">
            <a:off x="9075419" y="3291840"/>
            <a:ext cx="0" cy="201168"/>
          </a:xfrm>
          <a:prstGeom prst="line">
            <a:avLst/>
          </a:prstGeom>
          <a:ln w="15875">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Gates title"/>
          <p:cNvSpPr txBox="1"/>
          <p:nvPr/>
        </p:nvSpPr>
        <p:spPr>
          <a:xfrm>
            <a:off x="502920" y="4498848"/>
            <a:ext cx="11183112" cy="274320"/>
          </a:xfrm>
          <a:prstGeom prst="rect">
            <a:avLst/>
          </a:prstGeom>
          <a:noFill/>
        </p:spPr>
        <p:txBody>
          <a:bodyPr wrap="square" anchor="t" lIns="0" tIns="0" rIns="0" bIns="0">
            <a:noAutofit/>
          </a:bodyPr>
          <a:lstStyle/>
          <a:p>
            <a:pPr algn="l"/>
            <a:r>
              <a:rPr sz="1200" b="1" i="0">
                <a:solidFill>
                  <a:srgbClr val="0C2D36"/>
                </a:solidFill>
              </a:rPr>
              <a:t>Every Gemini claim must pass nine gates before it can become evidence</a:t>
            </a:r>
            <a:endParaRPr sz="1200"/>
          </a:p>
        </p:txBody>
      </p:sp>
      <p:sp>
        <p:nvSpPr>
          <p:cNvPr id="17" name="Gate V1"/>
          <p:cNvSpPr/>
          <p:nvPr/>
        </p:nvSpPr>
        <p:spPr>
          <a:xfrm>
            <a:off x="502920" y="4818888"/>
            <a:ext cx="1161288" cy="713232"/>
          </a:xfrm>
          <a:prstGeom prst="roundRect">
            <a:avLst>
              <a:gd name="adj" fmla="val 10256"/>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r>
              <a:rPr sz="1100" b="1" i="0">
                <a:solidFill>
                  <a:srgbClr val="861818"/>
                </a:solidFill>
              </a:rPr>
              <a:t>V1</a:t>
            </a:r>
            <a:endParaRPr sz="1200"/>
          </a:p>
          <a:p>
            <a:pPr algn="ctr"/>
            <a:r>
              <a:rPr sz="1000" b="0" i="0">
                <a:solidFill>
                  <a:srgbClr val="43535F"/>
                </a:solidFill>
              </a:rPr>
              <a:t>passage ID exists</a:t>
            </a:r>
            <a:endParaRPr sz="1200"/>
          </a:p>
        </p:txBody>
      </p:sp>
      <p:sp>
        <p:nvSpPr>
          <p:cNvPr id="18" name="Gate V2"/>
          <p:cNvSpPr/>
          <p:nvPr/>
        </p:nvSpPr>
        <p:spPr>
          <a:xfrm>
            <a:off x="1755648" y="4818888"/>
            <a:ext cx="1161288" cy="713232"/>
          </a:xfrm>
          <a:prstGeom prst="roundRect">
            <a:avLst>
              <a:gd name="adj" fmla="val 10256"/>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r>
              <a:rPr sz="1100" b="1" i="0">
                <a:solidFill>
                  <a:srgbClr val="861818"/>
                </a:solidFill>
              </a:rPr>
              <a:t>V2</a:t>
            </a:r>
            <a:endParaRPr sz="1200"/>
          </a:p>
          <a:p>
            <a:pPr algn="ctr"/>
            <a:r>
              <a:rPr sz="1000" b="0" i="0">
                <a:solidFill>
                  <a:srgbClr val="43535F"/>
                </a:solidFill>
              </a:rPr>
              <a:t>quote is an exact slice of the source</a:t>
            </a:r>
            <a:endParaRPr sz="1200"/>
          </a:p>
        </p:txBody>
      </p:sp>
      <p:sp>
        <p:nvSpPr>
          <p:cNvPr id="19" name="Gate V3"/>
          <p:cNvSpPr/>
          <p:nvPr/>
        </p:nvSpPr>
        <p:spPr>
          <a:xfrm>
            <a:off x="3008376" y="4818888"/>
            <a:ext cx="1161288" cy="713232"/>
          </a:xfrm>
          <a:prstGeom prst="roundRect">
            <a:avLst>
              <a:gd name="adj" fmla="val 10256"/>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r>
              <a:rPr sz="1100" b="1" i="0">
                <a:solidFill>
                  <a:srgbClr val="861818"/>
                </a:solidFill>
              </a:rPr>
              <a:t>V3</a:t>
            </a:r>
            <a:endParaRPr sz="1200"/>
          </a:p>
          <a:p>
            <a:pPr algn="ctr"/>
            <a:r>
              <a:rPr sz="1000" b="0" i="0">
                <a:solidFill>
                  <a:srgbClr val="43535F"/>
                </a:solidFill>
              </a:rPr>
              <a:t>no ellipsis; 25–600 characters</a:t>
            </a:r>
            <a:endParaRPr sz="1200"/>
          </a:p>
        </p:txBody>
      </p:sp>
      <p:sp>
        <p:nvSpPr>
          <p:cNvPr id="20" name="Gate V4"/>
          <p:cNvSpPr/>
          <p:nvPr/>
        </p:nvSpPr>
        <p:spPr>
          <a:xfrm>
            <a:off x="4261104" y="4818888"/>
            <a:ext cx="1161288" cy="713232"/>
          </a:xfrm>
          <a:prstGeom prst="roundRect">
            <a:avLst>
              <a:gd name="adj" fmla="val 10256"/>
            </a:avLst>
          </a:prstGeom>
          <a:solidFill>
            <a:srgbClr val="FFF4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r>
              <a:rPr sz="1100" b="1" i="0">
                <a:solidFill>
                  <a:srgbClr val="6B5000"/>
                </a:solidFill>
              </a:rPr>
              <a:t>V4</a:t>
            </a:r>
            <a:endParaRPr sz="1200"/>
          </a:p>
          <a:p>
            <a:pPr algn="ctr"/>
            <a:r>
              <a:rPr sz="1000" b="0" i="0">
                <a:solidFill>
                  <a:srgbClr val="43535F"/>
                </a:solidFill>
              </a:rPr>
              <a:t>indicator spans lie in the quote</a:t>
            </a:r>
            <a:endParaRPr sz="1200"/>
          </a:p>
        </p:txBody>
      </p:sp>
      <p:sp>
        <p:nvSpPr>
          <p:cNvPr id="21" name="Gate V5"/>
          <p:cNvSpPr/>
          <p:nvPr/>
        </p:nvSpPr>
        <p:spPr>
          <a:xfrm>
            <a:off x="5513832" y="4818888"/>
            <a:ext cx="1161288" cy="713232"/>
          </a:xfrm>
          <a:prstGeom prst="roundRect">
            <a:avLst>
              <a:gd name="adj" fmla="val 10256"/>
            </a:avLst>
          </a:prstGeom>
          <a:solidFill>
            <a:srgbClr val="FFF4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r>
              <a:rPr sz="1100" b="1" i="0">
                <a:solidFill>
                  <a:srgbClr val="6B5000"/>
                </a:solidFill>
              </a:rPr>
              <a:t>V5</a:t>
            </a:r>
            <a:endParaRPr sz="1200"/>
          </a:p>
          <a:p>
            <a:pPr algn="ctr"/>
            <a:r>
              <a:rPr sz="1000" b="0" i="0">
                <a:solidFill>
                  <a:srgbClr val="43535F"/>
                </a:solidFill>
              </a:rPr>
              <a:t>providers named verbatim</a:t>
            </a:r>
            <a:endParaRPr sz="1200"/>
          </a:p>
        </p:txBody>
      </p:sp>
      <p:sp>
        <p:nvSpPr>
          <p:cNvPr id="22" name="Gate V6"/>
          <p:cNvSpPr/>
          <p:nvPr/>
        </p:nvSpPr>
        <p:spPr>
          <a:xfrm>
            <a:off x="6766560" y="4818888"/>
            <a:ext cx="1161288" cy="713232"/>
          </a:xfrm>
          <a:prstGeom prst="roundRect">
            <a:avLst>
              <a:gd name="adj" fmla="val 10256"/>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r>
              <a:rPr sz="1100" b="1" i="0">
                <a:solidFill>
                  <a:srgbClr val="861818"/>
                </a:solidFill>
              </a:rPr>
              <a:t>V6</a:t>
            </a:r>
            <a:endParaRPr sz="1200"/>
          </a:p>
          <a:p>
            <a:pPr algn="ctr"/>
            <a:r>
              <a:rPr sz="1000" b="0" i="0">
                <a:solidFill>
                  <a:srgbClr val="43535F"/>
                </a:solidFill>
              </a:rPr>
              <a:t>entity guard passes</a:t>
            </a:r>
            <a:endParaRPr sz="1200"/>
          </a:p>
        </p:txBody>
      </p:sp>
      <p:sp>
        <p:nvSpPr>
          <p:cNvPr id="23" name="Gate V7"/>
          <p:cNvSpPr/>
          <p:nvPr/>
        </p:nvSpPr>
        <p:spPr>
          <a:xfrm>
            <a:off x="8019288" y="4818888"/>
            <a:ext cx="1161288" cy="713232"/>
          </a:xfrm>
          <a:prstGeom prst="roundRect">
            <a:avLst>
              <a:gd name="adj" fmla="val 10256"/>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r>
              <a:rPr sz="1100" b="1" i="0">
                <a:solidFill>
                  <a:srgbClr val="0A5E5D"/>
                </a:solidFill>
              </a:rPr>
              <a:t>V7</a:t>
            </a:r>
            <a:endParaRPr sz="1200"/>
          </a:p>
          <a:p>
            <a:pPr algn="ctr"/>
            <a:r>
              <a:rPr sz="1000" b="0" i="0">
                <a:solidFill>
                  <a:srgbClr val="43535F"/>
                </a:solidFill>
              </a:rPr>
              <a:t>relevance and locus set locally</a:t>
            </a:r>
            <a:endParaRPr sz="1200"/>
          </a:p>
        </p:txBody>
      </p:sp>
      <p:sp>
        <p:nvSpPr>
          <p:cNvPr id="24" name="Gate V8"/>
          <p:cNvSpPr/>
          <p:nvPr/>
        </p:nvSpPr>
        <p:spPr>
          <a:xfrm>
            <a:off x="9272016" y="4818888"/>
            <a:ext cx="1161288" cy="713232"/>
          </a:xfrm>
          <a:prstGeom prst="roundRect">
            <a:avLst>
              <a:gd name="adj" fmla="val 10256"/>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r>
              <a:rPr sz="1100" b="1" i="0">
                <a:solidFill>
                  <a:srgbClr val="0A5E5D"/>
                </a:solidFill>
              </a:rPr>
              <a:t>V8</a:t>
            </a:r>
            <a:endParaRPr sz="1200"/>
          </a:p>
          <a:p>
            <a:pPr algn="ctr"/>
            <a:r>
              <a:rPr sz="1000" b="0" i="0">
                <a:solidFill>
                  <a:srgbClr val="43535F"/>
                </a:solidFill>
              </a:rPr>
              <a:t>rules decide the final labels</a:t>
            </a:r>
            <a:endParaRPr sz="1200"/>
          </a:p>
        </p:txBody>
      </p:sp>
      <p:sp>
        <p:nvSpPr>
          <p:cNvPr id="25" name="Gate V9"/>
          <p:cNvSpPr/>
          <p:nvPr/>
        </p:nvSpPr>
        <p:spPr>
          <a:xfrm>
            <a:off x="10524744" y="4818888"/>
            <a:ext cx="1161288" cy="713232"/>
          </a:xfrm>
          <a:prstGeom prst="roundRect">
            <a:avLst>
              <a:gd name="adj" fmla="val 10256"/>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a:r>
              <a:rPr sz="1100" b="1" i="0">
                <a:solidFill>
                  <a:srgbClr val="861818"/>
                </a:solidFill>
              </a:rPr>
              <a:t>V9</a:t>
            </a:r>
            <a:endParaRPr sz="1200"/>
          </a:p>
          <a:p>
            <a:pPr algn="ctr"/>
            <a:r>
              <a:rPr sz="1000" b="0" i="0">
                <a:solidFill>
                  <a:srgbClr val="43535F"/>
                </a:solidFill>
              </a:rPr>
              <a:t>duplicates removed</a:t>
            </a:r>
            <a:endParaRPr sz="1200"/>
          </a:p>
        </p:txBody>
      </p:sp>
      <p:sp>
        <p:nvSpPr>
          <p:cNvPr id="26" name="Gate legend blocking"/>
          <p:cNvSpPr/>
          <p:nvPr/>
        </p:nvSpPr>
        <p:spPr>
          <a:xfrm>
            <a:off x="502920" y="5632704"/>
            <a:ext cx="201168" cy="164592"/>
          </a:xfrm>
          <a:prstGeom prst="roundRect">
            <a:avLst>
              <a:gd name="adj" fmla="val 16666"/>
            </a:avLst>
          </a:prstGeom>
          <a:solidFill>
            <a:srgbClr val="FBE4E4"/>
          </a:solidFill>
          <a:ln w="9525">
            <a:solidFill>
              <a:srgbClr val="86181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27" name="Gate legend text blocking"/>
          <p:cNvSpPr txBox="1"/>
          <p:nvPr/>
        </p:nvSpPr>
        <p:spPr>
          <a:xfrm>
            <a:off x="777240" y="5577840"/>
            <a:ext cx="2926080" cy="274320"/>
          </a:xfrm>
          <a:prstGeom prst="rect">
            <a:avLst/>
          </a:prstGeom>
          <a:noFill/>
        </p:spPr>
        <p:txBody>
          <a:bodyPr wrap="square" anchor="ctr" lIns="0" tIns="0" rIns="0" bIns="0">
            <a:noAutofit/>
          </a:bodyPr>
          <a:lstStyle/>
          <a:p>
            <a:pPr algn="l"/>
            <a:r>
              <a:rPr sz="1000" b="0" i="0">
                <a:solidFill>
                  <a:srgbClr val="43535F"/>
                </a:solidFill>
              </a:rPr>
              <a:t>rejects the claim</a:t>
            </a:r>
            <a:endParaRPr sz="1200"/>
          </a:p>
        </p:txBody>
      </p:sp>
      <p:sp>
        <p:nvSpPr>
          <p:cNvPr id="28" name="Gate legend repair"/>
          <p:cNvSpPr/>
          <p:nvPr/>
        </p:nvSpPr>
        <p:spPr>
          <a:xfrm>
            <a:off x="3429000" y="5632704"/>
            <a:ext cx="201168" cy="164592"/>
          </a:xfrm>
          <a:prstGeom prst="roundRect">
            <a:avLst>
              <a:gd name="adj" fmla="val 16666"/>
            </a:avLst>
          </a:prstGeom>
          <a:solidFill>
            <a:srgbClr val="FFF4D1"/>
          </a:solidFill>
          <a:ln w="9525">
            <a:solidFill>
              <a:srgbClr val="6B5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29" name="Gate legend text repair"/>
          <p:cNvSpPr txBox="1"/>
          <p:nvPr/>
        </p:nvSpPr>
        <p:spPr>
          <a:xfrm>
            <a:off x="3703320" y="5577840"/>
            <a:ext cx="2926080" cy="274320"/>
          </a:xfrm>
          <a:prstGeom prst="rect">
            <a:avLst/>
          </a:prstGeom>
          <a:noFill/>
        </p:spPr>
        <p:txBody>
          <a:bodyPr wrap="square" anchor="ctr" lIns="0" tIns="0" rIns="0" bIns="0">
            <a:noAutofit/>
          </a:bodyPr>
          <a:lstStyle/>
          <a:p>
            <a:pPr algn="l"/>
            <a:r>
              <a:rPr sz="1000" b="0" i="0">
                <a:solidFill>
                  <a:srgbClr val="43535F"/>
                </a:solidFill>
              </a:rPr>
              <a:t>drops the unverified span or name</a:t>
            </a:r>
            <a:endParaRPr sz="1200"/>
          </a:p>
        </p:txBody>
      </p:sp>
      <p:sp>
        <p:nvSpPr>
          <p:cNvPr id="30" name="Gate legend local"/>
          <p:cNvSpPr/>
          <p:nvPr/>
        </p:nvSpPr>
        <p:spPr>
          <a:xfrm>
            <a:off x="6355080" y="5632704"/>
            <a:ext cx="201168" cy="164592"/>
          </a:xfrm>
          <a:prstGeom prst="roundRect">
            <a:avLst>
              <a:gd name="adj" fmla="val 16666"/>
            </a:avLst>
          </a:prstGeom>
          <a:solidFill>
            <a:srgbClr val="E3F2F0"/>
          </a:solidFill>
          <a:ln w="9525">
            <a:solidFill>
              <a:srgbClr val="0A5E5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31" name="Gate legend text local"/>
          <p:cNvSpPr txBox="1"/>
          <p:nvPr/>
        </p:nvSpPr>
        <p:spPr>
          <a:xfrm>
            <a:off x="6629400" y="5577840"/>
            <a:ext cx="2926080" cy="274320"/>
          </a:xfrm>
          <a:prstGeom prst="rect">
            <a:avLst/>
          </a:prstGeom>
          <a:noFill/>
        </p:spPr>
        <p:txBody>
          <a:bodyPr wrap="square" anchor="ctr" lIns="0" tIns="0" rIns="0" bIns="0">
            <a:noAutofit/>
          </a:bodyPr>
          <a:lstStyle/>
          <a:p>
            <a:pPr algn="l"/>
            <a:r>
              <a:rPr sz="1000" b="0" i="0">
                <a:solidFill>
                  <a:srgbClr val="43535F"/>
                </a:solidFill>
              </a:rPr>
              <a:t>decided by code, not the model</a:t>
            </a:r>
            <a:endParaRPr sz="1200"/>
          </a:p>
        </p:txBody>
      </p:sp>
      <p:sp>
        <p:nvSpPr>
          <p:cNvPr id="32" name="Comparison numbers"/>
          <p:cNvSpPr txBox="1"/>
          <p:nvPr/>
        </p:nvSpPr>
        <p:spPr>
          <a:xfrm>
            <a:off x="502920" y="5897880"/>
            <a:ext cx="11183112" cy="384048"/>
          </a:xfrm>
          <a:prstGeom prst="rect">
            <a:avLst/>
          </a:prstGeom>
          <a:noFill/>
        </p:spPr>
        <p:txBody>
          <a:bodyPr wrap="square" anchor="t" lIns="0" tIns="0" rIns="0" bIns="0">
            <a:noAutofit/>
          </a:bodyPr>
          <a:lstStyle/>
          <a:p>
            <a:pPr algn="l"/>
            <a:r>
              <a:rPr sz="1100" b="1" i="0">
                <a:solidFill>
                  <a:srgbClr val="0C2D36"/>
                </a:solidFill>
              </a:rPr>
              <a:t>Gemini vs rules (frozen run): </a:t>
            </a:r>
            <a:r>
              <a:rPr sz="1100" b="0" i="0">
                <a:solidFill>
                  <a:srgbClr val="43535F"/>
                </a:solidFill>
              </a:rPr>
              <a:t>51 Gemini calls · 67 passages withheld by the guard · 63 items agree · 251 disagree and go to the HC2 queue · 113 Gemini-only proposals wait for an analyst · 0 URLs taken from the model</a:t>
            </a:r>
            <a:endParaRPr sz="12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10896"/>
            <a:ext cx="9509760" cy="640080"/>
          </a:xfrm>
        </p:spPr>
        <p:txBody>
          <a:bodyPr wrap="square" anchor="b" lIns="0" tIns="0" rIns="0" bIns="0">
            <a:noAutofit/>
          </a:bodyPr>
          <a:lstStyle/>
          <a:p>
            <a:pPr algn="l"/>
            <a:r>
              <a:rPr sz="3000" b="1" i="0">
                <a:solidFill>
                  <a:srgbClr val="0C2D36"/>
                </a:solidFill>
              </a:rPr>
              <a:t>Criticality: a profile-only rubric with floors</a:t>
            </a:r>
            <a:endParaRPr sz="1200"/>
          </a:p>
        </p:txBody>
      </p:sp>
      <p:sp>
        <p:nvSpPr>
          <p:cNvPr id="3" name="Corner tag"/>
          <p:cNvSpPr/>
          <p:nvPr/>
        </p:nvSpPr>
        <p:spPr>
          <a:xfrm>
            <a:off x="10241280" y="457200"/>
            <a:ext cx="1444752" cy="310896"/>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OUTCOME 04</a:t>
            </a:r>
            <a:endParaRPr sz="1000"/>
          </a:p>
        </p:txBody>
      </p:sp>
      <p:sp>
        <p:nvSpPr>
          <p:cNvPr id="4" name="Kicker"/>
          <p:cNvSpPr txBox="1"/>
          <p:nvPr/>
        </p:nvSpPr>
        <p:spPr>
          <a:xfrm>
            <a:off x="502920" y="987552"/>
            <a:ext cx="11183112" cy="502920"/>
          </a:xfrm>
          <a:prstGeom prst="rect">
            <a:avLst/>
          </a:prstGeom>
          <a:noFill/>
        </p:spPr>
        <p:txBody>
          <a:bodyPr wrap="square" anchor="t" lIns="0" tIns="0" rIns="0" bIns="0">
            <a:noAutofit/>
          </a:bodyPr>
          <a:lstStyle/>
          <a:p>
            <a:pPr algn="l"/>
            <a:r>
              <a:rPr sz="1500" b="0" i="0">
                <a:solidFill>
                  <a:srgbClr val="0A5E5D"/>
                </a:solidFill>
              </a:rPr>
              <a:t>3 Critical, 3 High. BNY's score of 79 is lifted to Critical by the payment-path floor; 7 of 7 tiers hold under every ±1 weight change.</a:t>
            </a:r>
            <a:endParaRPr sz="1200"/>
          </a:p>
        </p:txBody>
      </p:sp>
      <p:sp>
        <p:nvSpPr>
          <p:cNvPr id="5"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66757F"/>
                </a:solidFill>
              </a:rPr>
              <a:t>Team Osprey · Vendor AI footprint · Confidential case-study material, not for distribution</a:t>
            </a:r>
            <a:endParaRPr sz="1200"/>
          </a:p>
        </p:txBody>
      </p:sp>
      <p:sp>
        <p:nvSpPr>
          <p:cNvPr id="6" name="Slide number"/>
          <p:cNvSpPr txBox="1"/>
          <p:nvPr/>
        </p:nvSpPr>
        <p:spPr>
          <a:xfrm>
            <a:off x="10954512" y="6437376"/>
            <a:ext cx="731520" cy="256032"/>
          </a:xfrm>
          <a:prstGeom prst="rect">
            <a:avLst/>
          </a:prstGeom>
          <a:noFill/>
        </p:spPr>
        <p:txBody>
          <a:bodyPr wrap="square" anchor="ctr" lIns="0" tIns="0" rIns="0" bIns="0">
            <a:noAutofit/>
          </a:bodyPr>
          <a:lstStyle/>
          <a:p>
            <a:pPr algn="r"/>
            <a:fld id="{4B5952CD-7F10-5D02-94DA-1AAC133E7CF0}" type="slidenum">
              <a:rPr lang="en-GB" sz="1000" dirty="0">
                <a:solidFill>
                  <a:srgbClr val="66757F"/>
                </a:solidFill>
              </a:rPr>
              <a:t>9</a:t>
            </a:fld>
            <a:endParaRPr sz="1200"/>
          </a:p>
        </p:txBody>
      </p:sp>
      <p:sp>
        <p:nvSpPr>
          <p:cNvPr id="7" name="Formula card"/>
          <p:cNvSpPr/>
          <p:nvPr/>
        </p:nvSpPr>
        <p:spPr>
          <a:xfrm>
            <a:off x="502920" y="1645920"/>
            <a:ext cx="3703320" cy="1024128"/>
          </a:xfrm>
          <a:prstGeom prst="roundRect">
            <a:avLst>
              <a:gd name="adj" fmla="val 8928"/>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Score (0–100)</a:t>
            </a:r>
            <a:endParaRPr sz="1200"/>
          </a:p>
          <a:p>
            <a:pPr algn="l">
              <a:spcAft>
                <a:spcPts val="300"/>
              </a:spcAft>
            </a:pPr>
            <a:r>
              <a:rPr sz="1500" b="1" i="0">
                <a:solidFill>
                  <a:srgbClr val="0A5E5D"/>
                </a:solidFill>
              </a:rPr>
              <a:t>7·O + 6·D + 5·P + 4·R + 3·V</a:t>
            </a:r>
            <a:endParaRPr sz="1200"/>
          </a:p>
          <a:p>
            <a:pPr algn="l"/>
            <a:r>
              <a:rPr sz="1000" b="0" i="0">
                <a:solidFill>
                  <a:srgbClr val="43535F"/>
                </a:solidFill>
              </a:rPr>
              <a:t>O dependency · D data · P payment flow · R regulation · V volume</a:t>
            </a:r>
            <a:endParaRPr sz="1200"/>
          </a:p>
          <a:p>
            <a:pPr algn="l"/>
            <a:r>
              <a:rPr sz="1000" b="1" i="0">
                <a:solidFill>
                  <a:srgbClr val="0C2D36"/>
                </a:solidFill>
              </a:rPr>
              <a:t>Critical ≥ 80 · High ≥ 50 · Medium ≥ 25 · Low below</a:t>
            </a:r>
            <a:endParaRPr sz="1200"/>
          </a:p>
        </p:txBody>
      </p:sp>
      <p:sp>
        <p:nvSpPr>
          <p:cNvPr id="8" name="Floors card"/>
          <p:cNvSpPr/>
          <p:nvPr/>
        </p:nvSpPr>
        <p:spPr>
          <a:xfrm>
            <a:off x="4389120" y="1645920"/>
            <a:ext cx="4754880" cy="1024128"/>
          </a:xfrm>
          <a:prstGeom prst="roundRect">
            <a:avLst>
              <a:gd name="adj" fmla="val 8928"/>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9" name="Floors title"/>
          <p:cNvSpPr txBox="1"/>
          <p:nvPr/>
        </p:nvSpPr>
        <p:spPr>
          <a:xfrm>
            <a:off x="4517136" y="1719072"/>
            <a:ext cx="4572000" cy="256032"/>
          </a:xfrm>
          <a:prstGeom prst="rect">
            <a:avLst/>
          </a:prstGeom>
          <a:noFill/>
        </p:spPr>
        <p:txBody>
          <a:bodyPr wrap="square" anchor="t" lIns="0" tIns="0" rIns="0" bIns="0">
            <a:noAutofit/>
          </a:bodyPr>
          <a:lstStyle/>
          <a:p>
            <a:pPr algn="l"/>
            <a:r>
              <a:rPr sz="1200" b="1" i="0">
                <a:solidFill>
                  <a:srgbClr val="0C2D36"/>
                </a:solidFill>
              </a:rPr>
              <a:t>Floors only ever lift a tier</a:t>
            </a:r>
            <a:endParaRPr sz="1200"/>
          </a:p>
        </p:txBody>
      </p:sp>
      <p:sp>
        <p:nvSpPr>
          <p:cNvPr id="10" name="Floors column 1"/>
          <p:cNvSpPr txBox="1"/>
          <p:nvPr/>
        </p:nvSpPr>
        <p:spPr>
          <a:xfrm>
            <a:off x="4517136" y="2011680"/>
            <a:ext cx="2286000" cy="640080"/>
          </a:xfrm>
          <a:prstGeom prst="rect">
            <a:avLst/>
          </a:prstGeom>
          <a:noFill/>
        </p:spPr>
        <p:txBody>
          <a:bodyPr wrap="square" anchor="t" lIns="0" tIns="0" rIns="0" bIns="0">
            <a:noAutofit/>
          </a:bodyPr>
          <a:lstStyle/>
          <a:p>
            <a:pPr algn="l">
              <a:spcAft>
                <a:spcPts val="100"/>
              </a:spcAft>
            </a:pPr>
            <a:r>
              <a:rPr sz="1000" b="1" i="0">
                <a:solidFill>
                  <a:srgbClr val="0A5E5D"/>
                </a:solidFill>
              </a:rPr>
              <a:t>F1 </a:t>
            </a:r>
            <a:r>
              <a:rPr sz="1000" b="0" i="0">
                <a:solidFill>
                  <a:srgbClr val="43535F"/>
                </a:solidFill>
              </a:rPr>
              <a:t>O = 4 → Critical</a:t>
            </a:r>
            <a:endParaRPr sz="1200"/>
          </a:p>
          <a:p>
            <a:pPr algn="l">
              <a:spcAft>
                <a:spcPts val="100"/>
              </a:spcAft>
            </a:pPr>
            <a:r>
              <a:rPr sz="1000" b="1" i="0">
                <a:solidFill>
                  <a:srgbClr val="0A5E5D"/>
                </a:solidFill>
              </a:rPr>
              <a:t>F2 </a:t>
            </a:r>
            <a:r>
              <a:rPr sz="1000" b="0" i="0">
                <a:solidFill>
                  <a:srgbClr val="43535F"/>
                </a:solidFill>
              </a:rPr>
              <a:t>P ≥ 3 and O ≥ 3 → Critical</a:t>
            </a:r>
            <a:endParaRPr sz="1200"/>
          </a:p>
          <a:p>
            <a:pPr algn="l">
              <a:spcAft>
                <a:spcPts val="100"/>
              </a:spcAft>
            </a:pPr>
            <a:r>
              <a:rPr sz="1000" b="1" i="0">
                <a:solidFill>
                  <a:srgbClr val="0A5E5D"/>
                </a:solidFill>
              </a:rPr>
              <a:t>F3 </a:t>
            </a:r>
            <a:r>
              <a:rPr sz="1000" b="0" i="0">
                <a:solidFill>
                  <a:srgbClr val="43535F"/>
                </a:solidFill>
              </a:rPr>
              <a:t>D = 4 and V ≥ 3 → at least High</a:t>
            </a:r>
            <a:endParaRPr sz="1200"/>
          </a:p>
        </p:txBody>
      </p:sp>
      <p:sp>
        <p:nvSpPr>
          <p:cNvPr id="11" name="Floors column 2"/>
          <p:cNvSpPr txBox="1"/>
          <p:nvPr/>
        </p:nvSpPr>
        <p:spPr>
          <a:xfrm>
            <a:off x="6848856" y="2011680"/>
            <a:ext cx="2286000" cy="640080"/>
          </a:xfrm>
          <a:prstGeom prst="rect">
            <a:avLst/>
          </a:prstGeom>
          <a:noFill/>
        </p:spPr>
        <p:txBody>
          <a:bodyPr wrap="square" anchor="t" lIns="0" tIns="0" rIns="0" bIns="0">
            <a:noAutofit/>
          </a:bodyPr>
          <a:lstStyle/>
          <a:p>
            <a:pPr algn="l">
              <a:spcAft>
                <a:spcPts val="100"/>
              </a:spcAft>
            </a:pPr>
            <a:r>
              <a:rPr sz="1000" b="1" i="0">
                <a:solidFill>
                  <a:srgbClr val="0A5E5D"/>
                </a:solidFill>
              </a:rPr>
              <a:t>F4 </a:t>
            </a:r>
            <a:r>
              <a:rPr sz="1000" b="0" i="0">
                <a:solidFill>
                  <a:srgbClr val="43535F"/>
                </a:solidFill>
              </a:rPr>
              <a:t>D3-P → at least High</a:t>
            </a:r>
            <a:endParaRPr sz="1200"/>
          </a:p>
          <a:p>
            <a:pPr algn="l">
              <a:spcAft>
                <a:spcPts val="100"/>
              </a:spcAft>
            </a:pPr>
            <a:r>
              <a:rPr sz="1000" b="1" i="0">
                <a:solidFill>
                  <a:srgbClr val="0A5E5D"/>
                </a:solidFill>
              </a:rPr>
              <a:t>F5 </a:t>
            </a:r>
            <a:r>
              <a:rPr sz="1000" b="0" i="0">
                <a:solidFill>
                  <a:srgbClr val="43535F"/>
                </a:solidFill>
              </a:rPr>
              <a:t>D ≥ 3 → at least Medium</a:t>
            </a:r>
            <a:endParaRPr sz="1200"/>
          </a:p>
          <a:p>
            <a:pPr algn="l">
              <a:spcAft>
                <a:spcPts val="100"/>
              </a:spcAft>
            </a:pPr>
            <a:r>
              <a:rPr sz="1000" b="1" i="0">
                <a:solidFill>
                  <a:srgbClr val="0A5E5D"/>
                </a:solidFill>
              </a:rPr>
              <a:t>F6 </a:t>
            </a:r>
            <a:r>
              <a:rPr sz="1000" b="0" i="0">
                <a:solidFill>
                  <a:srgbClr val="43535F"/>
                </a:solidFill>
              </a:rPr>
              <a:t>D = 4 and V ≥ 3 and O ≥ 3 → Critical</a:t>
            </a:r>
            <a:endParaRPr sz="1200"/>
          </a:p>
        </p:txBody>
      </p:sp>
      <p:sp>
        <p:nvSpPr>
          <p:cNvPr id="12" name="Basis card"/>
          <p:cNvSpPr/>
          <p:nvPr/>
        </p:nvSpPr>
        <p:spPr>
          <a:xfrm>
            <a:off x="9326880" y="1645920"/>
            <a:ext cx="2359152" cy="1024128"/>
          </a:xfrm>
          <a:prstGeom prst="roundRect">
            <a:avLst>
              <a:gd name="adj" fmla="val 8928"/>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Basis</a:t>
            </a:r>
            <a:endParaRPr sz="1200"/>
          </a:p>
          <a:p>
            <a:pPr algn="l"/>
            <a:r>
              <a:rPr sz="1000" b="0" i="0">
                <a:solidFill>
                  <a:srgbClr val="43535F"/>
                </a:solidFill>
              </a:rPr>
              <a:t>OCC Bulletin 2023-17 anchors</a:t>
            </a:r>
            <a:endParaRPr sz="1200"/>
          </a:p>
          <a:p>
            <a:pPr algn="l"/>
            <a:r>
              <a:rPr sz="1000" b="0" i="0">
                <a:solidFill>
                  <a:srgbClr val="43535F"/>
                </a:solidFill>
              </a:rPr>
              <a:t>Profile columns B–K only; OSINT never moves a tier</a:t>
            </a:r>
            <a:endParaRPr sz="1200"/>
          </a:p>
          <a:p>
            <a:pPr algn="l"/>
            <a:r>
              <a:rPr sz="1000" b="0" i="0">
                <a:solidFill>
                  <a:srgbClr val="43535F"/>
                </a:solidFill>
              </a:rPr>
              <a:t>Overrides need a reason (HC1)</a:t>
            </a:r>
            <a:endParaRPr sz="1200"/>
          </a:p>
        </p:txBody>
      </p:sp>
      <p:graphicFrame>
        <p:nvGraphicFramePr>
          <p:cNvPr id="13" name="Tier table"/>
          <p:cNvGraphicFramePr>
            <a:graphicFrameLocks noGrp="1"/>
          </p:cNvGraphicFramePr>
          <p:nvPr/>
        </p:nvGraphicFramePr>
        <p:xfrm>
          <a:off x="502920" y="2798064"/>
          <a:ext cx="11183112" cy="3255264"/>
        </p:xfrm>
        <a:graphic>
          <a:graphicData uri="http://schemas.openxmlformats.org/drawingml/2006/table">
            <a:tbl>
              <a:tblPr firstRow="1">
                <a:tableStyleId>{2D5ABB26-0587-4C30-8999-92F81FD0307C}</a:tableStyleId>
              </a:tblPr>
              <a:tblGrid>
                <a:gridCol w="1600200"/>
                <a:gridCol w="365760"/>
                <a:gridCol w="411480"/>
                <a:gridCol w="365760"/>
                <a:gridCol w="365760"/>
                <a:gridCol w="365760"/>
                <a:gridCol w="566928"/>
                <a:gridCol w="1051560"/>
                <a:gridCol w="868680"/>
                <a:gridCol w="5221224"/>
              </a:tblGrid>
              <a:tr h="310896">
                <a:tc>
                  <a:txBody>
                    <a:bodyPr wrap="square" anchor="t" lIns="64008" tIns="32004" rIns="64008" bIns="32004">
                      <a:noAutofit/>
                    </a:bodyPr>
                    <a:lstStyle/>
                    <a:p>
                      <a:pPr algn="l"/>
                      <a:r>
                        <a:rPr sz="1000" b="1" i="0">
                          <a:solidFill>
                            <a:srgbClr val="FFFFFF"/>
                          </a:solidFill>
                        </a:rPr>
                        <a:t>Vendor</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O</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D</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P</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R</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V</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Score</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Floors</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Tier</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Sensitivity (rendered by the engine)</a:t>
                      </a:r>
                      <a:endParaRPr sz="1000"/>
                    </a:p>
                  </a:txBody>
                  <a:tcPr marL="64008" marR="64008" marT="32004" marB="32004" anchor="ctr">
                    <a:solidFill>
                      <a:srgbClr val="0C2D36"/>
                    </a:solidFill>
                  </a:tcPr>
                </a:tc>
              </a:tr>
              <a:tr h="512064">
                <a:tc>
                  <a:txBody>
                    <a:bodyPr wrap="square" anchor="t" lIns="64008" tIns="32004" rIns="64008" bIns="32004">
                      <a:noAutofit/>
                    </a:bodyPr>
                    <a:lstStyle/>
                    <a:p>
                      <a:pPr algn="l"/>
                      <a:r>
                        <a:rPr sz="1050" b="1" i="0">
                          <a:solidFill>
                            <a:srgbClr val="0C2D36"/>
                          </a:solidFill>
                        </a:rPr>
                        <a:t>V-000 worked example</a:t>
                      </a:r>
                      <a:endParaRPr sz="1000"/>
                    </a:p>
                    <a:p>
                      <a:pPr algn="l"/>
                      <a:r>
                        <a:rPr sz="1000" b="0" i="0">
                          <a:solidFill>
                            <a:srgbClr val="66757F"/>
                          </a:solidFill>
                        </a:rPr>
                        <a:t>calibration, fictional</a:t>
                      </a:r>
                      <a:endParaRPr sz="1000"/>
                    </a:p>
                  </a:txBody>
                  <a:tcPr marL="64008" marR="64008" marT="32004" marB="32004" anchor="ctr">
                    <a:lnB w="9525" cap="flat" cmpd="sng" algn="ctr">
                      <a:solidFill>
                        <a:srgbClr val="C8D3D9"/>
                      </a:solidFill>
                      <a:prstDash val="solid"/>
                    </a:lnB>
                    <a:solidFill>
                      <a:srgbClr val="F1F5F7"/>
                    </a:solidFill>
                  </a:tcPr>
                </a:tc>
                <a:tc>
                  <a:txBody>
                    <a:bodyPr wrap="square" anchor="t" lIns="64008" tIns="32004" rIns="64008" bIns="32004">
                      <a:noAutofit/>
                    </a:bodyPr>
                    <a:lstStyle/>
                    <a:p>
                      <a:pPr algn="ctr"/>
                      <a:r>
                        <a:rPr sz="1050" b="1" i="0">
                          <a:solidFill>
                            <a:srgbClr val="0C2D36"/>
                          </a:solidFill>
                        </a:rPr>
                        <a:t>3</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4</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2</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4</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3</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80</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F3, F5, F6</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1" i="0">
                          <a:solidFill>
                            <a:srgbClr val="861818"/>
                          </a:solidFill>
                        </a:rPr>
                        <a:t>Critical</a:t>
                      </a:r>
                      <a:endParaRPr sz="1000"/>
                    </a:p>
                  </a:txBody>
                  <a:tcPr marL="64008" marR="64008" marT="32004" marB="32004" anchor="ctr">
                    <a:lnB w="9525" cap="flat" cmpd="sng" algn="ctr">
                      <a:solidFill>
                        <a:srgbClr val="C8D3D9"/>
                      </a:solidFill>
                      <a:prstDash val="solid"/>
                    </a:lnB>
                    <a:solidFill>
                      <a:srgbClr val="FBE4E4"/>
                    </a:solidFill>
                  </a:tcPr>
                </a:tc>
                <a:tc>
                  <a:txBody>
                    <a:bodyPr wrap="square" anchor="t" lIns="64008" tIns="32004" rIns="64008" bIns="32004">
                      <a:noAutofit/>
                    </a:bodyPr>
                    <a:lstStyle/>
                    <a:p>
                      <a:pPr algn="l"/>
                      <a:r>
                        <a:rPr sz="1000" b="0" i="0">
                          <a:solidFill>
                            <a:srgbClr val="43535F"/>
                          </a:solidFill>
                        </a:rPr>
                        <a:t>Would drop to High if operational dependency were Moderate, if the data were only customer non-public information or if volume were moderate (population-scale floor no longer applies).</a:t>
                      </a:r>
                      <a:endParaRPr sz="1000"/>
                    </a:p>
                  </a:txBody>
                  <a:tcPr marL="64008" marR="64008" marT="32004" marB="32004" anchor="ctr">
                    <a:lnB w="9525" cap="flat" cmpd="sng" algn="ctr">
                      <a:solidFill>
                        <a:srgbClr val="C8D3D9"/>
                      </a:solidFill>
                      <a:prstDash val="solid"/>
                    </a:lnB>
                    <a:solidFill>
                      <a:srgbClr val="FFFFFF"/>
                    </a:solidFill>
                  </a:tcPr>
                </a:tc>
              </a:tr>
              <a:tr h="512064">
                <a:tc>
                  <a:txBody>
                    <a:bodyPr wrap="square" anchor="t" lIns="64008" tIns="32004" rIns="64008" bIns="32004">
                      <a:noAutofit/>
                    </a:bodyPr>
                    <a:lstStyle/>
                    <a:p>
                      <a:pPr algn="l"/>
                      <a:r>
                        <a:rPr sz="1050" b="1" i="0">
                          <a:solidFill>
                            <a:srgbClr val="0C2D36"/>
                          </a:solidFill>
                        </a:rPr>
                        <a:t>AutomWorx</a:t>
                      </a:r>
                      <a:endParaRPr sz="1000"/>
                    </a:p>
                    <a:p>
                      <a:pPr algn="l"/>
                      <a:r>
                        <a:rPr sz="1000" b="0" i="0">
                          <a:solidFill>
                            <a:srgbClr val="66757F"/>
                          </a:solidFill>
                        </a:rPr>
                        <a:t>V-001</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3</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3P</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2</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2</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0</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57</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F4, F5</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1" i="0">
                          <a:solidFill>
                            <a:srgbClr val="8A3A0E"/>
                          </a:solidFill>
                        </a:rPr>
                        <a:t>High</a:t>
                      </a:r>
                      <a:endParaRPr sz="1000"/>
                    </a:p>
                  </a:txBody>
                  <a:tcPr marL="64008" marR="64008" marT="32004" marB="32004" anchor="ctr">
                    <a:lnB w="9525" cap="flat" cmpd="sng" algn="ctr">
                      <a:solidFill>
                        <a:srgbClr val="C8D3D9"/>
                      </a:solidFill>
                      <a:prstDash val="solid"/>
                    </a:lnB>
                    <a:solidFill>
                      <a:srgbClr val="FCEBDF"/>
                    </a:solidFill>
                  </a:tcPr>
                </a:tc>
                <a:tc>
                  <a:txBody>
                    <a:bodyPr wrap="square" anchor="t" lIns="64008" tIns="32004" rIns="64008" bIns="32004">
                      <a:noAutofit/>
                    </a:bodyPr>
                    <a:lstStyle/>
                    <a:p>
                      <a:pPr algn="l"/>
                      <a:r>
                        <a:rPr sz="1000" b="0" i="0">
                          <a:solidFill>
                            <a:srgbClr val="43535F"/>
                          </a:solidFill>
                        </a:rPr>
                        <a:t>Would become Critical if operational dependency were Critical/Total (operational-dependency floor) or if the service transmitted payment messages (payment-path floor). Stays High for any single one-step decrease.</a:t>
                      </a:r>
                      <a:endParaRPr sz="1000"/>
                    </a:p>
                  </a:txBody>
                  <a:tcPr marL="64008" marR="64008" marT="32004" marB="32004" anchor="ctr">
                    <a:lnB w="9525" cap="flat" cmpd="sng" algn="ctr">
                      <a:solidFill>
                        <a:srgbClr val="C8D3D9"/>
                      </a:solidFill>
                      <a:prstDash val="solid"/>
                    </a:lnB>
                    <a:solidFill>
                      <a:srgbClr val="FFFFFF"/>
                    </a:solidFill>
                  </a:tcPr>
                </a:tc>
              </a:tr>
              <a:tr h="384048">
                <a:tc>
                  <a:txBody>
                    <a:bodyPr wrap="square" anchor="t" lIns="64008" tIns="32004" rIns="64008" bIns="32004">
                      <a:noAutofit/>
                    </a:bodyPr>
                    <a:lstStyle/>
                    <a:p>
                      <a:pPr algn="l"/>
                      <a:r>
                        <a:rPr sz="1050" b="1" i="0">
                          <a:solidFill>
                            <a:srgbClr val="0C2D36"/>
                          </a:solidFill>
                        </a:rPr>
                        <a:t>Fiserv</a:t>
                      </a:r>
                      <a:endParaRPr sz="1000"/>
                    </a:p>
                    <a:p>
                      <a:pPr algn="l"/>
                      <a:r>
                        <a:rPr sz="1000" b="0" i="0">
                          <a:solidFill>
                            <a:srgbClr val="66757F"/>
                          </a:solidFill>
                        </a:rPr>
                        <a:t>V-002</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4</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4</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4</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4</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4</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100</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F1, F2, F3, F5, F6</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1" i="0">
                          <a:solidFill>
                            <a:srgbClr val="861818"/>
                          </a:solidFill>
                        </a:rPr>
                        <a:t>Critical</a:t>
                      </a:r>
                      <a:endParaRPr sz="1000"/>
                    </a:p>
                  </a:txBody>
                  <a:tcPr marL="64008" marR="64008" marT="32004" marB="32004" anchor="ctr">
                    <a:lnB w="9525" cap="flat" cmpd="sng" algn="ctr">
                      <a:solidFill>
                        <a:srgbClr val="C8D3D9"/>
                      </a:solidFill>
                      <a:prstDash val="solid"/>
                    </a:lnB>
                    <a:solidFill>
                      <a:srgbClr val="FBE4E4"/>
                    </a:solidFill>
                  </a:tcPr>
                </a:tc>
                <a:tc>
                  <a:txBody>
                    <a:bodyPr wrap="square" anchor="t" lIns="64008" tIns="32004" rIns="64008" bIns="32004">
                      <a:noAutofit/>
                    </a:bodyPr>
                    <a:lstStyle/>
                    <a:p>
                      <a:pPr algn="l"/>
                      <a:r>
                        <a:rPr sz="1000" b="0" i="0">
                          <a:solidFill>
                            <a:srgbClr val="43535F"/>
                          </a:solidFill>
                        </a:rPr>
                        <a:t>Stays Critical for any single one-step decrease.</a:t>
                      </a:r>
                      <a:endParaRPr sz="1000"/>
                    </a:p>
                  </a:txBody>
                  <a:tcPr marL="64008" marR="64008" marT="32004" marB="32004" anchor="ctr">
                    <a:lnB w="9525" cap="flat" cmpd="sng" algn="ctr">
                      <a:solidFill>
                        <a:srgbClr val="C8D3D9"/>
                      </a:solidFill>
                      <a:prstDash val="solid"/>
                    </a:lnB>
                    <a:solidFill>
                      <a:srgbClr val="FFFFFF"/>
                    </a:solidFill>
                  </a:tcPr>
                </a:tc>
              </a:tr>
              <a:tr h="384048">
                <a:tc>
                  <a:txBody>
                    <a:bodyPr wrap="square" anchor="t" lIns="64008" tIns="32004" rIns="64008" bIns="32004">
                      <a:noAutofit/>
                    </a:bodyPr>
                    <a:lstStyle/>
                    <a:p>
                      <a:pPr algn="l"/>
                      <a:r>
                        <a:rPr sz="1050" b="1" i="0">
                          <a:solidFill>
                            <a:srgbClr val="0C2D36"/>
                          </a:solidFill>
                        </a:rPr>
                        <a:t>FSSI</a:t>
                      </a:r>
                      <a:endParaRPr sz="1000"/>
                    </a:p>
                    <a:p>
                      <a:pPr algn="l"/>
                      <a:r>
                        <a:rPr sz="1000" b="0" i="0">
                          <a:solidFill>
                            <a:srgbClr val="66757F"/>
                          </a:solidFill>
                        </a:rPr>
                        <a:t>V-003</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2</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4</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1</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4</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4</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71</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F3, F5</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1" i="0">
                          <a:solidFill>
                            <a:srgbClr val="8A3A0E"/>
                          </a:solidFill>
                        </a:rPr>
                        <a:t>High</a:t>
                      </a:r>
                      <a:endParaRPr sz="1000"/>
                    </a:p>
                  </a:txBody>
                  <a:tcPr marL="64008" marR="64008" marT="32004" marB="32004" anchor="ctr">
                    <a:lnB w="9525" cap="flat" cmpd="sng" algn="ctr">
                      <a:solidFill>
                        <a:srgbClr val="C8D3D9"/>
                      </a:solidFill>
                      <a:prstDash val="solid"/>
                    </a:lnB>
                    <a:solidFill>
                      <a:srgbClr val="FCEBDF"/>
                    </a:solidFill>
                  </a:tcPr>
                </a:tc>
                <a:tc>
                  <a:txBody>
                    <a:bodyPr wrap="square" anchor="t" lIns="64008" tIns="32004" rIns="64008" bIns="32004">
                      <a:noAutofit/>
                    </a:bodyPr>
                    <a:lstStyle/>
                    <a:p>
                      <a:pPr algn="l"/>
                      <a:r>
                        <a:rPr sz="1000" b="0" i="0">
                          <a:solidFill>
                            <a:srgbClr val="43535F"/>
                          </a:solidFill>
                        </a:rPr>
                        <a:t>Would become Critical if operational dependency were High (population-scale floor). Stays High for any single one-step decrease.</a:t>
                      </a:r>
                      <a:endParaRPr sz="1000"/>
                    </a:p>
                  </a:txBody>
                  <a:tcPr marL="64008" marR="64008" marT="32004" marB="32004" anchor="ctr">
                    <a:lnB w="9525" cap="flat" cmpd="sng" algn="ctr">
                      <a:solidFill>
                        <a:srgbClr val="C8D3D9"/>
                      </a:solidFill>
                      <a:prstDash val="solid"/>
                    </a:lnB>
                    <a:solidFill>
                      <a:srgbClr val="FFFFFF"/>
                    </a:solidFill>
                  </a:tcPr>
                </a:tc>
              </a:tr>
              <a:tr h="384048">
                <a:tc>
                  <a:txBody>
                    <a:bodyPr wrap="square" anchor="t" lIns="64008" tIns="32004" rIns="64008" bIns="32004">
                      <a:noAutofit/>
                    </a:bodyPr>
                    <a:lstStyle/>
                    <a:p>
                      <a:pPr algn="l"/>
                      <a:r>
                        <a:rPr sz="1050" b="1" i="0">
                          <a:solidFill>
                            <a:srgbClr val="0C2D36"/>
                          </a:solidFill>
                        </a:rPr>
                        <a:t>Terrapin</a:t>
                      </a:r>
                      <a:endParaRPr sz="1000"/>
                    </a:p>
                    <a:p>
                      <a:pPr algn="l"/>
                      <a:r>
                        <a:rPr sz="1000" b="0" i="0">
                          <a:solidFill>
                            <a:srgbClr val="66757F"/>
                          </a:solidFill>
                        </a:rPr>
                        <a:t>V-004</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2</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3</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2</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3</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2</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60</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F5</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1" i="0">
                          <a:solidFill>
                            <a:srgbClr val="8A3A0E"/>
                          </a:solidFill>
                        </a:rPr>
                        <a:t>High</a:t>
                      </a:r>
                      <a:endParaRPr sz="1000"/>
                    </a:p>
                  </a:txBody>
                  <a:tcPr marL="64008" marR="64008" marT="32004" marB="32004" anchor="ctr">
                    <a:lnB w="9525" cap="flat" cmpd="sng" algn="ctr">
                      <a:solidFill>
                        <a:srgbClr val="C8D3D9"/>
                      </a:solidFill>
                      <a:prstDash val="solid"/>
                    </a:lnB>
                    <a:solidFill>
                      <a:srgbClr val="FCEBDF"/>
                    </a:solidFill>
                  </a:tcPr>
                </a:tc>
                <a:tc>
                  <a:txBody>
                    <a:bodyPr wrap="square" anchor="t" lIns="64008" tIns="32004" rIns="64008" bIns="32004">
                      <a:noAutofit/>
                    </a:bodyPr>
                    <a:lstStyle/>
                    <a:p>
                      <a:pPr algn="l"/>
                      <a:r>
                        <a:rPr sz="1000" b="0" i="0">
                          <a:solidFill>
                            <a:srgbClr val="43535F"/>
                          </a:solidFill>
                        </a:rPr>
                        <a:t>Stays High for any single one-step increase or decrease.</a:t>
                      </a:r>
                      <a:endParaRPr sz="1000"/>
                    </a:p>
                  </a:txBody>
                  <a:tcPr marL="64008" marR="64008" marT="32004" marB="32004" anchor="ctr">
                    <a:lnB w="9525" cap="flat" cmpd="sng" algn="ctr">
                      <a:solidFill>
                        <a:srgbClr val="C8D3D9"/>
                      </a:solidFill>
                      <a:prstDash val="solid"/>
                    </a:lnB>
                    <a:solidFill>
                      <a:srgbClr val="FFFFFF"/>
                    </a:solidFill>
                  </a:tcPr>
                </a:tc>
              </a:tr>
              <a:tr h="384048">
                <a:tc>
                  <a:txBody>
                    <a:bodyPr wrap="square" anchor="t" lIns="64008" tIns="32004" rIns="64008" bIns="32004">
                      <a:noAutofit/>
                    </a:bodyPr>
                    <a:lstStyle/>
                    <a:p>
                      <a:pPr algn="l"/>
                      <a:r>
                        <a:rPr sz="1050" b="1" i="0">
                          <a:solidFill>
                            <a:srgbClr val="0C2D36"/>
                          </a:solidFill>
                        </a:rPr>
                        <a:t>BNY</a:t>
                      </a:r>
                      <a:endParaRPr sz="1000"/>
                    </a:p>
                    <a:p>
                      <a:pPr algn="l"/>
                      <a:r>
                        <a:rPr sz="1000" b="0" i="0">
                          <a:solidFill>
                            <a:srgbClr val="66757F"/>
                          </a:solidFill>
                        </a:rPr>
                        <a:t>V-005</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3</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3</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3</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4</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3</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79</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F2, F5</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1" i="0">
                          <a:solidFill>
                            <a:srgbClr val="861818"/>
                          </a:solidFill>
                        </a:rPr>
                        <a:t>Critical</a:t>
                      </a:r>
                      <a:endParaRPr sz="1000"/>
                    </a:p>
                  </a:txBody>
                  <a:tcPr marL="64008" marR="64008" marT="32004" marB="32004" anchor="ctr">
                    <a:lnB w="9525" cap="flat" cmpd="sng" algn="ctr">
                      <a:solidFill>
                        <a:srgbClr val="C8D3D9"/>
                      </a:solidFill>
                      <a:prstDash val="solid"/>
                    </a:lnB>
                    <a:solidFill>
                      <a:srgbClr val="FBE4E4"/>
                    </a:solidFill>
                  </a:tcPr>
                </a:tc>
                <a:tc>
                  <a:txBody>
                    <a:bodyPr wrap="square" anchor="t" lIns="64008" tIns="32004" rIns="64008" bIns="32004">
                      <a:noAutofit/>
                    </a:bodyPr>
                    <a:lstStyle/>
                    <a:p>
                      <a:pPr algn="l"/>
                      <a:r>
                        <a:rPr sz="1000" b="0" i="0">
                          <a:solidFill>
                            <a:srgbClr val="43535F"/>
                          </a:solidFill>
                        </a:rPr>
                        <a:t>Would drop to High if operational dependency were Moderate or if the service did not transmit payment messages (payment-path floor no longer applies).</a:t>
                      </a:r>
                      <a:endParaRPr sz="1000"/>
                    </a:p>
                  </a:txBody>
                  <a:tcPr marL="64008" marR="64008" marT="32004" marB="32004" anchor="ctr">
                    <a:lnB w="9525" cap="flat" cmpd="sng" algn="ctr">
                      <a:solidFill>
                        <a:srgbClr val="C8D3D9"/>
                      </a:solidFill>
                      <a:prstDash val="solid"/>
                    </a:lnB>
                    <a:solidFill>
                      <a:srgbClr val="FFFFFF"/>
                    </a:solidFill>
                  </a:tcPr>
                </a:tc>
              </a:tr>
              <a:tr h="384048">
                <a:tc>
                  <a:txBody>
                    <a:bodyPr wrap="square" anchor="t" lIns="64008" tIns="32004" rIns="64008" bIns="32004">
                      <a:noAutofit/>
                    </a:bodyPr>
                    <a:lstStyle/>
                    <a:p>
                      <a:pPr algn="l"/>
                      <a:r>
                        <a:rPr sz="1050" b="1" i="0">
                          <a:solidFill>
                            <a:srgbClr val="0C2D36"/>
                          </a:solidFill>
                        </a:rPr>
                        <a:t>TCH</a:t>
                      </a:r>
                      <a:endParaRPr sz="1000"/>
                    </a:p>
                    <a:p>
                      <a:pPr algn="l"/>
                      <a:r>
                        <a:rPr sz="1000" b="0" i="0">
                          <a:solidFill>
                            <a:srgbClr val="66757F"/>
                          </a:solidFill>
                        </a:rPr>
                        <a:t>V-006</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4</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3</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4</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4</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4</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ctr"/>
                      <a:r>
                        <a:rPr sz="1050" b="1" i="0">
                          <a:solidFill>
                            <a:srgbClr val="0C2D36"/>
                          </a:solidFill>
                        </a:rPr>
                        <a:t>94</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F1, F2, F5</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1" i="0">
                          <a:solidFill>
                            <a:srgbClr val="861818"/>
                          </a:solidFill>
                        </a:rPr>
                        <a:t>Critical</a:t>
                      </a:r>
                      <a:endParaRPr sz="1000"/>
                    </a:p>
                  </a:txBody>
                  <a:tcPr marL="64008" marR="64008" marT="32004" marB="32004" anchor="ctr">
                    <a:lnB w="9525" cap="flat" cmpd="sng" algn="ctr">
                      <a:solidFill>
                        <a:srgbClr val="C8D3D9"/>
                      </a:solidFill>
                      <a:prstDash val="solid"/>
                    </a:lnB>
                    <a:solidFill>
                      <a:srgbClr val="FBE4E4"/>
                    </a:solidFill>
                  </a:tcPr>
                </a:tc>
                <a:tc>
                  <a:txBody>
                    <a:bodyPr wrap="square" anchor="t" lIns="64008" tIns="32004" rIns="64008" bIns="32004">
                      <a:noAutofit/>
                    </a:bodyPr>
                    <a:lstStyle/>
                    <a:p>
                      <a:pPr algn="l"/>
                      <a:r>
                        <a:rPr sz="1000" b="0" i="0">
                          <a:solidFill>
                            <a:srgbClr val="43535F"/>
                          </a:solidFill>
                        </a:rPr>
                        <a:t>Stays Critical for any single one-step decrease.</a:t>
                      </a:r>
                      <a:endParaRPr sz="1000"/>
                    </a:p>
                  </a:txBody>
                  <a:tcPr marL="64008" marR="64008" marT="32004" marB="32004" anchor="ctr">
                    <a:lnB w="9525" cap="flat" cmpd="sng" algn="ctr">
                      <a:solidFill>
                        <a:srgbClr val="C8D3D9"/>
                      </a:solidFill>
                      <a:prstDash val="soli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10896"/>
            <a:ext cx="9509760" cy="640080"/>
          </a:xfrm>
        </p:spPr>
        <p:txBody>
          <a:bodyPr wrap="square" anchor="b" lIns="0" tIns="0" rIns="0" bIns="0">
            <a:noAutofit/>
          </a:bodyPr>
          <a:lstStyle/>
          <a:p>
            <a:pPr algn="l"/>
            <a:r>
              <a:rPr sz="3000" b="1" i="0">
                <a:solidFill>
                  <a:srgbClr val="0C2D36"/>
                </a:solidFill>
              </a:rPr>
              <a:t>Depth: the tier decides how far we look</a:t>
            </a:r>
            <a:endParaRPr sz="1200"/>
          </a:p>
        </p:txBody>
      </p:sp>
      <p:sp>
        <p:nvSpPr>
          <p:cNvPr id="3" name="Corner tag"/>
          <p:cNvSpPr/>
          <p:nvPr/>
        </p:nvSpPr>
        <p:spPr>
          <a:xfrm>
            <a:off x="10241280" y="457200"/>
            <a:ext cx="1444752" cy="310896"/>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OUTCOME 04</a:t>
            </a:r>
            <a:endParaRPr sz="1000"/>
          </a:p>
        </p:txBody>
      </p:sp>
      <p:sp>
        <p:nvSpPr>
          <p:cNvPr id="4" name="Kicker"/>
          <p:cNvSpPr txBox="1"/>
          <p:nvPr/>
        </p:nvSpPr>
        <p:spPr>
          <a:xfrm>
            <a:off x="502920" y="987552"/>
            <a:ext cx="11183112" cy="502920"/>
          </a:xfrm>
          <a:prstGeom prst="rect">
            <a:avLst/>
          </a:prstGeom>
          <a:noFill/>
        </p:spPr>
        <p:txBody>
          <a:bodyPr wrap="square" anchor="t" lIns="0" tIns="0" rIns="0" bIns="0">
            <a:noAutofit/>
          </a:bodyPr>
          <a:lstStyle/>
          <a:p>
            <a:pPr algn="l"/>
            <a:r>
              <a:rPr sz="1500" b="0" i="0">
                <a:solidFill>
                  <a:srgbClr val="0A5E5D"/>
                </a:solidFill>
              </a:rPr>
              <a:t>Critical vendors get every family and the largest budgets; below Critical, families thin and the questionnaire takes over.</a:t>
            </a:r>
            <a:endParaRPr sz="1200"/>
          </a:p>
        </p:txBody>
      </p:sp>
      <p:sp>
        <p:nvSpPr>
          <p:cNvPr id="5"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66757F"/>
                </a:solidFill>
              </a:rPr>
              <a:t>Team Osprey · Vendor AI footprint · Confidential case-study material, not for distribution</a:t>
            </a:r>
            <a:endParaRPr sz="1200"/>
          </a:p>
        </p:txBody>
      </p:sp>
      <p:sp>
        <p:nvSpPr>
          <p:cNvPr id="6" name="Slide number"/>
          <p:cNvSpPr txBox="1"/>
          <p:nvPr/>
        </p:nvSpPr>
        <p:spPr>
          <a:xfrm>
            <a:off x="10954512" y="6437376"/>
            <a:ext cx="731520" cy="256032"/>
          </a:xfrm>
          <a:prstGeom prst="rect">
            <a:avLst/>
          </a:prstGeom>
          <a:noFill/>
        </p:spPr>
        <p:txBody>
          <a:bodyPr wrap="square" anchor="ctr" lIns="0" tIns="0" rIns="0" bIns="0">
            <a:noAutofit/>
          </a:bodyPr>
          <a:lstStyle/>
          <a:p>
            <a:pPr algn="r"/>
            <a:fld id="{308DE3B1-631C-5180-9CA0-207F41DD177E}" type="slidenum">
              <a:rPr lang="en-GB" sz="1000" dirty="0">
                <a:solidFill>
                  <a:srgbClr val="66757F"/>
                </a:solidFill>
              </a:rPr>
              <a:t>10</a:t>
            </a:fld>
            <a:endParaRPr sz="1200"/>
          </a:p>
        </p:txBody>
      </p:sp>
      <p:sp>
        <p:nvSpPr>
          <p:cNvPr id="7" name="Depth step Critical"/>
          <p:cNvSpPr/>
          <p:nvPr/>
        </p:nvSpPr>
        <p:spPr>
          <a:xfrm>
            <a:off x="502920" y="1664208"/>
            <a:ext cx="6949440" cy="987552"/>
          </a:xfrm>
          <a:prstGeom prst="roundRect">
            <a:avLst>
              <a:gd name="adj" fmla="val 9259"/>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8" name="Depth tier Critical"/>
          <p:cNvSpPr/>
          <p:nvPr/>
        </p:nvSpPr>
        <p:spPr>
          <a:xfrm>
            <a:off x="612648" y="1773936"/>
            <a:ext cx="960120" cy="310896"/>
          </a:xfrm>
          <a:prstGeom prst="roundRect">
            <a:avLst>
              <a:gd name="adj" fmla="val 50000"/>
            </a:avLst>
          </a:prstGeom>
          <a:solidFill>
            <a:srgbClr val="9B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100" b="1" i="0">
                <a:solidFill>
                  <a:srgbClr val="FFFFFF"/>
                </a:solidFill>
              </a:rPr>
              <a:t>Critical</a:t>
            </a:r>
            <a:endParaRPr sz="1200"/>
          </a:p>
        </p:txBody>
      </p:sp>
      <p:sp>
        <p:nvSpPr>
          <p:cNvPr id="9" name="Depth label Critical"/>
          <p:cNvSpPr txBox="1"/>
          <p:nvPr/>
        </p:nvSpPr>
        <p:spPr>
          <a:xfrm>
            <a:off x="1691640" y="1755648"/>
            <a:ext cx="5669279" cy="347472"/>
          </a:xfrm>
          <a:prstGeom prst="rect">
            <a:avLst/>
          </a:prstGeom>
          <a:noFill/>
        </p:spPr>
        <p:txBody>
          <a:bodyPr wrap="square" anchor="ctr" lIns="0" tIns="0" rIns="0" bIns="0">
            <a:noAutofit/>
          </a:bodyPr>
          <a:lstStyle/>
          <a:p>
            <a:pPr algn="l"/>
            <a:r>
              <a:rPr sz="1200" b="1" i="0">
                <a:solidFill>
                  <a:srgbClr val="861818"/>
                </a:solidFill>
              </a:rPr>
              <a:t>Full review – tier-driven</a:t>
            </a:r>
            <a:r>
              <a:rPr sz="1000" b="0" i="0">
                <a:solidFill>
                  <a:srgbClr val="43535F"/>
                </a:solidFill>
              </a:rPr>
              <a:t>   100 extra fetches · 40 Gemini calls · 3 h analyst</a:t>
            </a:r>
            <a:endParaRPr sz="1200"/>
          </a:p>
        </p:txBody>
      </p:sp>
      <p:sp>
        <p:nvSpPr>
          <p:cNvPr id="10" name="Critical LEG"/>
          <p:cNvSpPr/>
          <p:nvPr/>
        </p:nvSpPr>
        <p:spPr>
          <a:xfrm>
            <a:off x="612648" y="2212848"/>
            <a:ext cx="56692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861818"/>
                </a:solidFill>
              </a:rPr>
              <a:t>LEG</a:t>
            </a:r>
            <a:endParaRPr sz="1000"/>
          </a:p>
        </p:txBody>
      </p:sp>
      <p:sp>
        <p:nvSpPr>
          <p:cNvPr id="11" name="Critical REG*"/>
          <p:cNvSpPr/>
          <p:nvPr/>
        </p:nvSpPr>
        <p:spPr>
          <a:xfrm>
            <a:off x="1234440" y="2212848"/>
            <a:ext cx="56692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861818"/>
                </a:solidFill>
              </a:rPr>
              <a:t>REG*</a:t>
            </a:r>
            <a:endParaRPr sz="1000"/>
          </a:p>
        </p:txBody>
      </p:sp>
      <p:sp>
        <p:nvSpPr>
          <p:cNvPr id="12" name="Critical PRD"/>
          <p:cNvSpPr/>
          <p:nvPr/>
        </p:nvSpPr>
        <p:spPr>
          <a:xfrm>
            <a:off x="1856232" y="2212848"/>
            <a:ext cx="56692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861818"/>
                </a:solidFill>
              </a:rPr>
              <a:t>PRD</a:t>
            </a:r>
            <a:endParaRPr sz="1000"/>
          </a:p>
        </p:txBody>
      </p:sp>
      <p:sp>
        <p:nvSpPr>
          <p:cNvPr id="13" name="Critical JOB"/>
          <p:cNvSpPr/>
          <p:nvPr/>
        </p:nvSpPr>
        <p:spPr>
          <a:xfrm>
            <a:off x="2478024" y="2212848"/>
            <a:ext cx="56692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861818"/>
                </a:solidFill>
              </a:rPr>
              <a:t>JOB</a:t>
            </a:r>
            <a:endParaRPr sz="1000"/>
          </a:p>
        </p:txBody>
      </p:sp>
      <p:sp>
        <p:nvSpPr>
          <p:cNvPr id="14" name="Critical DNS"/>
          <p:cNvSpPr/>
          <p:nvPr/>
        </p:nvSpPr>
        <p:spPr>
          <a:xfrm>
            <a:off x="3099816" y="2212848"/>
            <a:ext cx="56692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861818"/>
                </a:solidFill>
              </a:rPr>
              <a:t>DNS</a:t>
            </a:r>
            <a:endParaRPr sz="1000"/>
          </a:p>
        </p:txBody>
      </p:sp>
      <p:sp>
        <p:nvSpPr>
          <p:cNvPr id="15" name="Critical IND"/>
          <p:cNvSpPr/>
          <p:nvPr/>
        </p:nvSpPr>
        <p:spPr>
          <a:xfrm>
            <a:off x="3721608" y="2212848"/>
            <a:ext cx="56692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861818"/>
                </a:solidFill>
              </a:rPr>
              <a:t>IND</a:t>
            </a:r>
            <a:endParaRPr sz="1000"/>
          </a:p>
        </p:txBody>
      </p:sp>
      <p:sp>
        <p:nvSpPr>
          <p:cNvPr id="16" name="Critical HIST"/>
          <p:cNvSpPr/>
          <p:nvPr/>
        </p:nvSpPr>
        <p:spPr>
          <a:xfrm>
            <a:off x="4343400" y="2212848"/>
            <a:ext cx="56692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861818"/>
                </a:solidFill>
              </a:rPr>
              <a:t>HIST</a:t>
            </a:r>
            <a:endParaRPr sz="1000"/>
          </a:p>
        </p:txBody>
      </p:sp>
      <p:sp>
        <p:nvSpPr>
          <p:cNvPr id="17" name="Depth vendors Critical"/>
          <p:cNvSpPr txBox="1"/>
          <p:nvPr/>
        </p:nvSpPr>
        <p:spPr>
          <a:xfrm>
            <a:off x="5056631" y="2176272"/>
            <a:ext cx="2304288" cy="384048"/>
          </a:xfrm>
          <a:prstGeom prst="rect">
            <a:avLst/>
          </a:prstGeom>
          <a:noFill/>
        </p:spPr>
        <p:txBody>
          <a:bodyPr wrap="square" anchor="ctr" lIns="0" tIns="0" rIns="0" bIns="0">
            <a:noAutofit/>
          </a:bodyPr>
          <a:lstStyle/>
          <a:p>
            <a:pPr algn="l"/>
            <a:r>
              <a:rPr sz="1000" b="1" i="0">
                <a:solidFill>
                  <a:srgbClr val="0C2D36"/>
                </a:solidFill>
              </a:rPr>
              <a:t>Vendors: </a:t>
            </a:r>
            <a:r>
              <a:rPr sz="1000" b="0" i="0">
                <a:solidFill>
                  <a:srgbClr val="43535F"/>
                </a:solidFill>
              </a:rPr>
              <a:t>Fiserv, BNY, TCH</a:t>
            </a:r>
            <a:endParaRPr sz="1200"/>
          </a:p>
        </p:txBody>
      </p:sp>
      <p:sp>
        <p:nvSpPr>
          <p:cNvPr id="18" name="Depth step High"/>
          <p:cNvSpPr/>
          <p:nvPr/>
        </p:nvSpPr>
        <p:spPr>
          <a:xfrm>
            <a:off x="795528" y="2834640"/>
            <a:ext cx="6656831" cy="987552"/>
          </a:xfrm>
          <a:prstGeom prst="roundRect">
            <a:avLst>
              <a:gd name="adj" fmla="val 9259"/>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19" name="Depth tier High"/>
          <p:cNvSpPr/>
          <p:nvPr/>
        </p:nvSpPr>
        <p:spPr>
          <a:xfrm>
            <a:off x="905256" y="2944368"/>
            <a:ext cx="960120" cy="310896"/>
          </a:xfrm>
          <a:prstGeom prst="roundRect">
            <a:avLst>
              <a:gd name="adj" fmla="val 50000"/>
            </a:avLst>
          </a:prstGeom>
          <a:solidFill>
            <a:srgbClr val="B450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100" b="1" i="0">
                <a:solidFill>
                  <a:srgbClr val="FFFFFF"/>
                </a:solidFill>
              </a:rPr>
              <a:t>High</a:t>
            </a:r>
            <a:endParaRPr sz="1200"/>
          </a:p>
        </p:txBody>
      </p:sp>
      <p:sp>
        <p:nvSpPr>
          <p:cNvPr id="20" name="Depth label High"/>
          <p:cNvSpPr txBox="1"/>
          <p:nvPr/>
        </p:nvSpPr>
        <p:spPr>
          <a:xfrm>
            <a:off x="1984248" y="2926080"/>
            <a:ext cx="5376671" cy="347472"/>
          </a:xfrm>
          <a:prstGeom prst="rect">
            <a:avLst/>
          </a:prstGeom>
          <a:noFill/>
        </p:spPr>
        <p:txBody>
          <a:bodyPr wrap="square" anchor="ctr" lIns="0" tIns="0" rIns="0" bIns="0">
            <a:noAutofit/>
          </a:bodyPr>
          <a:lstStyle/>
          <a:p>
            <a:pPr algn="l"/>
            <a:r>
              <a:rPr sz="1200" b="1" i="0">
                <a:solidFill>
                  <a:srgbClr val="8A3A0E"/>
                </a:solidFill>
              </a:rPr>
              <a:t>Standard review – tier-driven</a:t>
            </a:r>
            <a:r>
              <a:rPr sz="1000" b="0" i="0">
                <a:solidFill>
                  <a:srgbClr val="43535F"/>
                </a:solidFill>
              </a:rPr>
              <a:t>   50 extra fetches · 20 Gemini calls · 1.5 h analyst</a:t>
            </a:r>
            <a:endParaRPr sz="1200"/>
          </a:p>
        </p:txBody>
      </p:sp>
      <p:sp>
        <p:nvSpPr>
          <p:cNvPr id="21" name="High LEG"/>
          <p:cNvSpPr/>
          <p:nvPr/>
        </p:nvSpPr>
        <p:spPr>
          <a:xfrm>
            <a:off x="905256" y="3383280"/>
            <a:ext cx="56692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8A3A0E"/>
                </a:solidFill>
              </a:rPr>
              <a:t>LEG</a:t>
            </a:r>
            <a:endParaRPr sz="1000"/>
          </a:p>
        </p:txBody>
      </p:sp>
      <p:sp>
        <p:nvSpPr>
          <p:cNvPr id="22" name="High REG*"/>
          <p:cNvSpPr/>
          <p:nvPr/>
        </p:nvSpPr>
        <p:spPr>
          <a:xfrm>
            <a:off x="1527048" y="3383280"/>
            <a:ext cx="56692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8A3A0E"/>
                </a:solidFill>
              </a:rPr>
              <a:t>REG*</a:t>
            </a:r>
            <a:endParaRPr sz="1000"/>
          </a:p>
        </p:txBody>
      </p:sp>
      <p:sp>
        <p:nvSpPr>
          <p:cNvPr id="23" name="High PRD"/>
          <p:cNvSpPr/>
          <p:nvPr/>
        </p:nvSpPr>
        <p:spPr>
          <a:xfrm>
            <a:off x="2148840" y="3383280"/>
            <a:ext cx="56692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8A3A0E"/>
                </a:solidFill>
              </a:rPr>
              <a:t>PRD</a:t>
            </a:r>
            <a:endParaRPr sz="1000"/>
          </a:p>
        </p:txBody>
      </p:sp>
      <p:sp>
        <p:nvSpPr>
          <p:cNvPr id="24" name="High JOB"/>
          <p:cNvSpPr/>
          <p:nvPr/>
        </p:nvSpPr>
        <p:spPr>
          <a:xfrm>
            <a:off x="2770632" y="3383280"/>
            <a:ext cx="56692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8A3A0E"/>
                </a:solidFill>
              </a:rPr>
              <a:t>JOB</a:t>
            </a:r>
            <a:endParaRPr sz="1000"/>
          </a:p>
        </p:txBody>
      </p:sp>
      <p:sp>
        <p:nvSpPr>
          <p:cNvPr id="25" name="High DNS"/>
          <p:cNvSpPr/>
          <p:nvPr/>
        </p:nvSpPr>
        <p:spPr>
          <a:xfrm>
            <a:off x="3392424" y="3383280"/>
            <a:ext cx="56692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8A3A0E"/>
                </a:solidFill>
              </a:rPr>
              <a:t>DNS</a:t>
            </a:r>
            <a:endParaRPr sz="1000"/>
          </a:p>
        </p:txBody>
      </p:sp>
      <p:sp>
        <p:nvSpPr>
          <p:cNvPr id="26" name="High IND"/>
          <p:cNvSpPr/>
          <p:nvPr/>
        </p:nvSpPr>
        <p:spPr>
          <a:xfrm>
            <a:off x="4014216" y="3383280"/>
            <a:ext cx="56692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8A3A0E"/>
                </a:solidFill>
              </a:rPr>
              <a:t>IND</a:t>
            </a:r>
            <a:endParaRPr sz="1000"/>
          </a:p>
        </p:txBody>
      </p:sp>
      <p:sp>
        <p:nvSpPr>
          <p:cNvPr id="27" name="Depth vendors High"/>
          <p:cNvSpPr txBox="1"/>
          <p:nvPr/>
        </p:nvSpPr>
        <p:spPr>
          <a:xfrm>
            <a:off x="4727448" y="3346704"/>
            <a:ext cx="2633471" cy="384048"/>
          </a:xfrm>
          <a:prstGeom prst="rect">
            <a:avLst/>
          </a:prstGeom>
          <a:noFill/>
        </p:spPr>
        <p:txBody>
          <a:bodyPr wrap="square" anchor="ctr" lIns="0" tIns="0" rIns="0" bIns="0">
            <a:noAutofit/>
          </a:bodyPr>
          <a:lstStyle/>
          <a:p>
            <a:pPr algn="l"/>
            <a:r>
              <a:rPr sz="1000" b="1" i="0">
                <a:solidFill>
                  <a:srgbClr val="0C2D36"/>
                </a:solidFill>
              </a:rPr>
              <a:t>Vendors: </a:t>
            </a:r>
            <a:r>
              <a:rPr sz="1000" b="0" i="0">
                <a:solidFill>
                  <a:srgbClr val="43535F"/>
                </a:solidFill>
              </a:rPr>
              <a:t>AutomWorx (M-D3P), FSSI (M-D4), Terrapin</a:t>
            </a:r>
            <a:endParaRPr sz="1200"/>
          </a:p>
        </p:txBody>
      </p:sp>
      <p:sp>
        <p:nvSpPr>
          <p:cNvPr id="28" name="Depth step Medium"/>
          <p:cNvSpPr/>
          <p:nvPr/>
        </p:nvSpPr>
        <p:spPr>
          <a:xfrm>
            <a:off x="1088136" y="4005072"/>
            <a:ext cx="6364224" cy="987552"/>
          </a:xfrm>
          <a:prstGeom prst="roundRect">
            <a:avLst>
              <a:gd name="adj" fmla="val 9259"/>
            </a:avLst>
          </a:prstGeom>
          <a:solidFill>
            <a:srgbClr val="FFF4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29" name="Depth tier Medium"/>
          <p:cNvSpPr/>
          <p:nvPr/>
        </p:nvSpPr>
        <p:spPr>
          <a:xfrm>
            <a:off x="1197864" y="4114800"/>
            <a:ext cx="960120" cy="310896"/>
          </a:xfrm>
          <a:prstGeom prst="roundRect">
            <a:avLst>
              <a:gd name="adj" fmla="val 50000"/>
            </a:avLst>
          </a:prstGeom>
          <a:solidFill>
            <a:srgbClr val="9A7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100" b="1" i="0">
                <a:solidFill>
                  <a:srgbClr val="FFFFFF"/>
                </a:solidFill>
              </a:rPr>
              <a:t>Medium</a:t>
            </a:r>
            <a:endParaRPr sz="1200"/>
          </a:p>
        </p:txBody>
      </p:sp>
      <p:sp>
        <p:nvSpPr>
          <p:cNvPr id="30" name="Depth label Medium"/>
          <p:cNvSpPr txBox="1"/>
          <p:nvPr/>
        </p:nvSpPr>
        <p:spPr>
          <a:xfrm>
            <a:off x="2276856" y="4096511"/>
            <a:ext cx="5084064" cy="347472"/>
          </a:xfrm>
          <a:prstGeom prst="rect">
            <a:avLst/>
          </a:prstGeom>
          <a:noFill/>
        </p:spPr>
        <p:txBody>
          <a:bodyPr wrap="square" anchor="ctr" lIns="0" tIns="0" rIns="0" bIns="0">
            <a:noAutofit/>
          </a:bodyPr>
          <a:lstStyle/>
          <a:p>
            <a:pPr algn="l"/>
            <a:r>
              <a:rPr sz="1200" b="1" i="0">
                <a:solidFill>
                  <a:srgbClr val="6B5000"/>
                </a:solidFill>
              </a:rPr>
              <a:t>Focused review</a:t>
            </a:r>
            <a:r>
              <a:rPr sz="1000" b="0" i="0">
                <a:solidFill>
                  <a:srgbClr val="43535F"/>
                </a:solidFill>
              </a:rPr>
              <a:t>   0 extra fetches · 6 Gemini calls · 0.5 h analyst</a:t>
            </a:r>
            <a:endParaRPr sz="1200"/>
          </a:p>
        </p:txBody>
      </p:sp>
      <p:sp>
        <p:nvSpPr>
          <p:cNvPr id="31" name="Medium LEG"/>
          <p:cNvSpPr/>
          <p:nvPr/>
        </p:nvSpPr>
        <p:spPr>
          <a:xfrm>
            <a:off x="1197864" y="4553712"/>
            <a:ext cx="56692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6B5000"/>
                </a:solidFill>
              </a:rPr>
              <a:t>LEG</a:t>
            </a:r>
            <a:endParaRPr sz="1000"/>
          </a:p>
        </p:txBody>
      </p:sp>
      <p:sp>
        <p:nvSpPr>
          <p:cNvPr id="32" name="Medium REG*"/>
          <p:cNvSpPr/>
          <p:nvPr/>
        </p:nvSpPr>
        <p:spPr>
          <a:xfrm>
            <a:off x="1819656" y="4553712"/>
            <a:ext cx="56692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6B5000"/>
                </a:solidFill>
              </a:rPr>
              <a:t>REG*</a:t>
            </a:r>
            <a:endParaRPr sz="1000"/>
          </a:p>
        </p:txBody>
      </p:sp>
      <p:sp>
        <p:nvSpPr>
          <p:cNvPr id="33" name="Medium PRD"/>
          <p:cNvSpPr/>
          <p:nvPr/>
        </p:nvSpPr>
        <p:spPr>
          <a:xfrm>
            <a:off x="2441448" y="4553712"/>
            <a:ext cx="56692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6B5000"/>
                </a:solidFill>
              </a:rPr>
              <a:t>PRD</a:t>
            </a:r>
            <a:endParaRPr sz="1000"/>
          </a:p>
        </p:txBody>
      </p:sp>
      <p:sp>
        <p:nvSpPr>
          <p:cNvPr id="34" name="Medium JOB"/>
          <p:cNvSpPr/>
          <p:nvPr/>
        </p:nvSpPr>
        <p:spPr>
          <a:xfrm>
            <a:off x="3063240" y="4553712"/>
            <a:ext cx="56692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6B5000"/>
                </a:solidFill>
              </a:rPr>
              <a:t>JOB</a:t>
            </a:r>
            <a:endParaRPr sz="1000"/>
          </a:p>
        </p:txBody>
      </p:sp>
      <p:sp>
        <p:nvSpPr>
          <p:cNvPr id="35" name="Medium DNS"/>
          <p:cNvSpPr/>
          <p:nvPr/>
        </p:nvSpPr>
        <p:spPr>
          <a:xfrm>
            <a:off x="3685032" y="4553712"/>
            <a:ext cx="56692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6B5000"/>
                </a:solidFill>
              </a:rPr>
              <a:t>DNS</a:t>
            </a:r>
            <a:endParaRPr sz="1000"/>
          </a:p>
        </p:txBody>
      </p:sp>
      <p:sp>
        <p:nvSpPr>
          <p:cNvPr id="36" name="Depth vendors Medium"/>
          <p:cNvSpPr txBox="1"/>
          <p:nvPr/>
        </p:nvSpPr>
        <p:spPr>
          <a:xfrm>
            <a:off x="4398264" y="4517136"/>
            <a:ext cx="2962656" cy="384048"/>
          </a:xfrm>
          <a:prstGeom prst="rect">
            <a:avLst/>
          </a:prstGeom>
          <a:noFill/>
        </p:spPr>
        <p:txBody>
          <a:bodyPr wrap="square" anchor="ctr" lIns="0" tIns="0" rIns="0" bIns="0">
            <a:noAutofit/>
          </a:bodyPr>
          <a:lstStyle/>
          <a:p>
            <a:pPr algn="l"/>
            <a:r>
              <a:rPr sz="1000" b="0" i="1">
                <a:solidFill>
                  <a:srgbClr val="66757F"/>
                </a:solidFill>
              </a:rPr>
              <a:t>No vendor in this inventory at this tier</a:t>
            </a:r>
            <a:endParaRPr sz="1200"/>
          </a:p>
        </p:txBody>
      </p:sp>
      <p:sp>
        <p:nvSpPr>
          <p:cNvPr id="37" name="Depth step Low"/>
          <p:cNvSpPr/>
          <p:nvPr/>
        </p:nvSpPr>
        <p:spPr>
          <a:xfrm>
            <a:off x="1380744" y="5175504"/>
            <a:ext cx="6071616" cy="987552"/>
          </a:xfrm>
          <a:prstGeom prst="roundRect">
            <a:avLst>
              <a:gd name="adj" fmla="val 9259"/>
            </a:avLst>
          </a:prstGeom>
          <a:solidFill>
            <a:srgbClr val="E2F3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38" name="Depth tier Low"/>
          <p:cNvSpPr/>
          <p:nvPr/>
        </p:nvSpPr>
        <p:spPr>
          <a:xfrm>
            <a:off x="1490472" y="5285232"/>
            <a:ext cx="960120" cy="310896"/>
          </a:xfrm>
          <a:prstGeom prst="roundRect">
            <a:avLst>
              <a:gd name="adj" fmla="val 50000"/>
            </a:avLst>
          </a:prstGeom>
          <a:solidFill>
            <a:srgbClr val="2F7D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100" b="1" i="0">
                <a:solidFill>
                  <a:srgbClr val="FFFFFF"/>
                </a:solidFill>
              </a:rPr>
              <a:t>Low</a:t>
            </a:r>
            <a:endParaRPr sz="1200"/>
          </a:p>
        </p:txBody>
      </p:sp>
      <p:sp>
        <p:nvSpPr>
          <p:cNvPr id="39" name="Depth label Low"/>
          <p:cNvSpPr txBox="1"/>
          <p:nvPr/>
        </p:nvSpPr>
        <p:spPr>
          <a:xfrm>
            <a:off x="2569464" y="5266944"/>
            <a:ext cx="4791456" cy="347472"/>
          </a:xfrm>
          <a:prstGeom prst="rect">
            <a:avLst/>
          </a:prstGeom>
          <a:noFill/>
        </p:spPr>
        <p:txBody>
          <a:bodyPr wrap="square" anchor="ctr" lIns="0" tIns="0" rIns="0" bIns="0">
            <a:noAutofit/>
          </a:bodyPr>
          <a:lstStyle/>
          <a:p>
            <a:pPr algn="l"/>
            <a:r>
              <a:rPr sz="1200" b="1" i="0">
                <a:solidFill>
                  <a:srgbClr val="1E5C3B"/>
                </a:solidFill>
              </a:rPr>
              <a:t>Screen</a:t>
            </a:r>
            <a:r>
              <a:rPr sz="1000" b="0" i="0">
                <a:solidFill>
                  <a:srgbClr val="43535F"/>
                </a:solidFill>
              </a:rPr>
              <a:t>   0 extra fetches · 2 Gemini calls · 0.25 h analyst</a:t>
            </a:r>
            <a:endParaRPr sz="1200"/>
          </a:p>
        </p:txBody>
      </p:sp>
      <p:sp>
        <p:nvSpPr>
          <p:cNvPr id="40" name="Low LEG"/>
          <p:cNvSpPr/>
          <p:nvPr/>
        </p:nvSpPr>
        <p:spPr>
          <a:xfrm>
            <a:off x="1490472" y="5724144"/>
            <a:ext cx="56692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1E5C3B"/>
                </a:solidFill>
              </a:rPr>
              <a:t>LEG</a:t>
            </a:r>
            <a:endParaRPr sz="1000"/>
          </a:p>
        </p:txBody>
      </p:sp>
      <p:sp>
        <p:nvSpPr>
          <p:cNvPr id="41" name="Low PRD"/>
          <p:cNvSpPr/>
          <p:nvPr/>
        </p:nvSpPr>
        <p:spPr>
          <a:xfrm>
            <a:off x="2112264" y="5724144"/>
            <a:ext cx="56692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1E5C3B"/>
                </a:solidFill>
              </a:rPr>
              <a:t>PRD</a:t>
            </a:r>
            <a:endParaRPr sz="1000"/>
          </a:p>
        </p:txBody>
      </p:sp>
      <p:sp>
        <p:nvSpPr>
          <p:cNvPr id="42" name="Low DNS"/>
          <p:cNvSpPr/>
          <p:nvPr/>
        </p:nvSpPr>
        <p:spPr>
          <a:xfrm>
            <a:off x="2734056" y="5724144"/>
            <a:ext cx="56692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1E5C3B"/>
                </a:solidFill>
              </a:rPr>
              <a:t>DNS</a:t>
            </a:r>
            <a:endParaRPr sz="1000"/>
          </a:p>
        </p:txBody>
      </p:sp>
      <p:sp>
        <p:nvSpPr>
          <p:cNvPr id="43" name="Depth vendors Low"/>
          <p:cNvSpPr txBox="1"/>
          <p:nvPr/>
        </p:nvSpPr>
        <p:spPr>
          <a:xfrm>
            <a:off x="3447288" y="5687568"/>
            <a:ext cx="3913632" cy="384048"/>
          </a:xfrm>
          <a:prstGeom prst="rect">
            <a:avLst/>
          </a:prstGeom>
          <a:noFill/>
        </p:spPr>
        <p:txBody>
          <a:bodyPr wrap="square" anchor="ctr" lIns="0" tIns="0" rIns="0" bIns="0">
            <a:noAutofit/>
          </a:bodyPr>
          <a:lstStyle/>
          <a:p>
            <a:pPr algn="l"/>
            <a:r>
              <a:rPr sz="1000" b="0" i="1">
                <a:solidFill>
                  <a:srgbClr val="66757F"/>
                </a:solidFill>
              </a:rPr>
              <a:t>No vendor in this inventory at this tier</a:t>
            </a:r>
            <a:endParaRPr sz="1200"/>
          </a:p>
        </p:txBody>
      </p:sp>
      <p:sp>
        <p:nvSpPr>
          <p:cNvPr id="44" name="Stop rules card"/>
          <p:cNvSpPr/>
          <p:nvPr/>
        </p:nvSpPr>
        <p:spPr>
          <a:xfrm>
            <a:off x="7772400" y="1664208"/>
            <a:ext cx="3913632" cy="1481328"/>
          </a:xfrm>
          <a:prstGeom prst="roundRect">
            <a:avLst>
              <a:gd name="adj" fmla="val 6172"/>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Stop when</a:t>
            </a:r>
            <a:endParaRPr sz="1200"/>
          </a:p>
          <a:p>
            <a:pPr algn="l" marL="146304" indent="-146304">
              <a:spcAft>
                <a:spcPts val="200"/>
              </a:spcAft>
              <a:buClr>
                <a:srgbClr val="0E7C7B"/>
              </a:buClr>
              <a:buSzPct val="100000"/>
              <a:buFont typeface="Arial"/>
              <a:buChar char="•"/>
            </a:pPr>
            <a:r>
              <a:rPr sz="1000" b="0" i="0">
                <a:solidFill>
                  <a:srgbClr val="43535F"/>
                </a:solidFill>
              </a:rPr>
              <a:t>usage, sub-processor and data-use questions are answered or logged as gaps</a:t>
            </a:r>
            <a:endParaRPr sz="1200"/>
          </a:p>
          <a:p>
            <a:pPr algn="l" marL="146304" indent="-146304">
              <a:spcAft>
                <a:spcPts val="200"/>
              </a:spcAft>
              <a:buClr>
                <a:srgbClr val="0E7C7B"/>
              </a:buClr>
              <a:buSzPct val="100000"/>
              <a:buFont typeface="Arial"/>
              <a:buChar char="•"/>
            </a:pPr>
            <a:r>
              <a:rPr sz="1000" b="0" i="0">
                <a:solidFill>
                  <a:srgbClr val="43535F"/>
                </a:solidFill>
              </a:rPr>
              <a:t>no new S ≥ 2, R ≥ 2 cluster in the last 10 actions (Critical) or 6 (High)</a:t>
            </a:r>
            <a:endParaRPr sz="1200"/>
          </a:p>
          <a:p>
            <a:pPr algn="l" marL="146304" indent="-146304">
              <a:spcAft>
                <a:spcPts val="200"/>
              </a:spcAft>
              <a:buClr>
                <a:srgbClr val="0E7C7B"/>
              </a:buClr>
              <a:buSzPct val="100000"/>
              <a:buFont typeface="Arial"/>
              <a:buChar char="•"/>
            </a:pPr>
            <a:r>
              <a:rPr sz="1000" b="0" i="0">
                <a:solidFill>
                  <a:srgbClr val="43535F"/>
                </a:solidFill>
              </a:rPr>
              <a:t>the discretionary budget is spent; 3 R1 items in a row stop a family</a:t>
            </a:r>
            <a:endParaRPr sz="1200"/>
          </a:p>
        </p:txBody>
      </p:sp>
      <p:sp>
        <p:nvSpPr>
          <p:cNvPr id="45" name="Modifiers card"/>
          <p:cNvSpPr/>
          <p:nvPr/>
        </p:nvSpPr>
        <p:spPr>
          <a:xfrm>
            <a:off x="7772400" y="3255264"/>
            <a:ext cx="3913632" cy="1024128"/>
          </a:xfrm>
          <a:prstGeom prst="roundRect">
            <a:avLst>
              <a:gd name="adj" fmla="val 8928"/>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Modifiers</a:t>
            </a:r>
            <a:endParaRPr sz="1200"/>
          </a:p>
          <a:p>
            <a:pPr algn="l">
              <a:spcAft>
                <a:spcPts val="200"/>
              </a:spcAft>
            </a:pPr>
            <a:r>
              <a:rPr sz="1000" b="1" i="0">
                <a:solidFill>
                  <a:srgbClr val="0A5E5D"/>
                </a:solidFill>
              </a:rPr>
              <a:t>M-D4 </a:t>
            </a:r>
            <a:r>
              <a:rPr sz="1000" b="0" i="0">
                <a:solidFill>
                  <a:srgbClr val="43535F"/>
                </a:solidFill>
              </a:rPr>
              <a:t>top data sensitivity below the Critical tier</a:t>
            </a:r>
            <a:endParaRPr sz="1200"/>
          </a:p>
          <a:p>
            <a:pPr algn="l">
              <a:spcAft>
                <a:spcPts val="200"/>
              </a:spcAft>
            </a:pPr>
            <a:r>
              <a:rPr sz="1000" b="1" i="0">
                <a:solidFill>
                  <a:srgbClr val="0A5E5D"/>
                </a:solidFill>
              </a:rPr>
              <a:t>M-D3P </a:t>
            </a:r>
            <a:r>
              <a:rPr sz="1000" b="0" i="0">
                <a:solidFill>
                  <a:srgbClr val="43535F"/>
                </a:solidFill>
              </a:rPr>
              <a:t>privileged production access; delivery-AI module</a:t>
            </a:r>
            <a:endParaRPr sz="1200"/>
          </a:p>
          <a:p>
            <a:pPr algn="l">
              <a:spcAft>
                <a:spcPts val="200"/>
              </a:spcAft>
            </a:pPr>
            <a:r>
              <a:rPr sz="1000" b="1" i="0">
                <a:solidFill>
                  <a:srgbClr val="0A5E5D"/>
                </a:solidFill>
              </a:rPr>
              <a:t>M-Private </a:t>
            </a:r>
            <a:r>
              <a:rPr sz="1000" b="0" i="0">
                <a:solidFill>
                  <a:srgbClr val="43535F"/>
                </a:solidFill>
              </a:rPr>
              <a:t>not an SEC registrant, so no filings to draw on</a:t>
            </a:r>
            <a:endParaRPr sz="1200"/>
          </a:p>
        </p:txBody>
      </p:sp>
      <p:sp>
        <p:nvSpPr>
          <p:cNvPr id="46" name="Manual card"/>
          <p:cNvSpPr/>
          <p:nvPr/>
        </p:nvSpPr>
        <p:spPr>
          <a:xfrm>
            <a:off x="7772400" y="4389120"/>
            <a:ext cx="3913632" cy="749808"/>
          </a:xfrm>
          <a:prstGeom prst="roundRect">
            <a:avLst>
              <a:gd name="adj" fmla="val 12195"/>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Manual capture only</a:t>
            </a:r>
            <a:endParaRPr sz="1200"/>
          </a:p>
          <a:p>
            <a:pPr algn="l"/>
            <a:r>
              <a:rPr sz="1000" b="0" i="0">
                <a:solidFill>
                  <a:srgbClr val="43535F"/>
                </a:solidFill>
              </a:rPr>
              <a:t>fiserv.com, bny.com, openai.com and linkedin.com (+3 more): analyst capture under a sampling protocol, never sent to Gemini</a:t>
            </a:r>
            <a:endParaRPr sz="1200"/>
          </a:p>
        </p:txBody>
      </p:sp>
      <p:sp>
        <p:nvSpPr>
          <p:cNvPr id="47" name="Reserved card"/>
          <p:cNvSpPr/>
          <p:nvPr/>
        </p:nvSpPr>
        <p:spPr>
          <a:xfrm>
            <a:off x="7772400" y="5248656"/>
            <a:ext cx="3913632" cy="969264"/>
          </a:xfrm>
          <a:prstGeom prst="roundRect">
            <a:avLst>
              <a:gd name="adj" fmla="val 9433"/>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Reserved for Meridian (non-OSINT)</a:t>
            </a:r>
            <a:endParaRPr sz="1200"/>
          </a:p>
          <a:p>
            <a:pPr algn="l"/>
            <a:r>
              <a:rPr sz="1000" b="0" i="0">
                <a:solidFill>
                  <a:srgbClr val="43535F"/>
                </a:solidFill>
              </a:rPr>
              <a:t>AI due-diligence questionnaire (FS-ISAC Level 3 equivalent); contract and AI-clause review; SOC 2 Type II scope and ISO/IEC 42001 validation; AI system and sub-processor inventory request</a:t>
            </a:r>
            <a:endParaRPr sz="12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10896"/>
            <a:ext cx="9509760" cy="640080"/>
          </a:xfrm>
        </p:spPr>
        <p:txBody>
          <a:bodyPr wrap="square" anchor="b" lIns="0" tIns="0" rIns="0" bIns="0">
            <a:noAutofit/>
          </a:bodyPr>
          <a:lstStyle/>
          <a:p>
            <a:pPr algn="l"/>
            <a:r>
              <a:rPr sz="3000" b="1" i="0">
                <a:solidFill>
                  <a:srgbClr val="0C2D36"/>
                </a:solidFill>
              </a:rPr>
              <a:t>Findings and risk: from excerpt to action</a:t>
            </a:r>
            <a:endParaRPr sz="1200"/>
          </a:p>
        </p:txBody>
      </p:sp>
      <p:sp>
        <p:nvSpPr>
          <p:cNvPr id="3" name="Corner tag"/>
          <p:cNvSpPr/>
          <p:nvPr/>
        </p:nvSpPr>
        <p:spPr>
          <a:xfrm>
            <a:off x="10241280" y="457200"/>
            <a:ext cx="1444752" cy="310896"/>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FINDINGS</a:t>
            </a:r>
            <a:endParaRPr sz="1000"/>
          </a:p>
        </p:txBody>
      </p:sp>
      <p:sp>
        <p:nvSpPr>
          <p:cNvPr id="4" name="Kicker"/>
          <p:cNvSpPr txBox="1"/>
          <p:nvPr/>
        </p:nvSpPr>
        <p:spPr>
          <a:xfrm>
            <a:off x="502920" y="987552"/>
            <a:ext cx="11183112" cy="502920"/>
          </a:xfrm>
          <a:prstGeom prst="rect">
            <a:avLst/>
          </a:prstGeom>
          <a:noFill/>
        </p:spPr>
        <p:txBody>
          <a:bodyPr wrap="square" anchor="t" lIns="0" tIns="0" rIns="0" bIns="0">
            <a:noAutofit/>
          </a:bodyPr>
          <a:lstStyle/>
          <a:p>
            <a:pPr algn="l"/>
            <a:r>
              <a:rPr sz="1500" b="0" i="0">
                <a:solidFill>
                  <a:srgbClr val="0A5E5D"/>
                </a:solidFill>
              </a:rPr>
              <a:t>Fiserv: Yes (Probable) from a moderate sec form defa14a; exposure 2/3, decision impact 3/3, tier 3, transparency gap 2 → 15 of 18 = High.</a:t>
            </a:r>
            <a:endParaRPr sz="1200"/>
          </a:p>
        </p:txBody>
      </p:sp>
      <p:sp>
        <p:nvSpPr>
          <p:cNvPr id="5"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66757F"/>
                </a:solidFill>
              </a:rPr>
              <a:t>Team Osprey · Vendor AI footprint · Confidential case-study material, not for distribution</a:t>
            </a:r>
            <a:endParaRPr sz="1200"/>
          </a:p>
        </p:txBody>
      </p:sp>
      <p:sp>
        <p:nvSpPr>
          <p:cNvPr id="6" name="Slide number"/>
          <p:cNvSpPr txBox="1"/>
          <p:nvPr/>
        </p:nvSpPr>
        <p:spPr>
          <a:xfrm>
            <a:off x="10954512" y="6437376"/>
            <a:ext cx="731520" cy="256032"/>
          </a:xfrm>
          <a:prstGeom prst="rect">
            <a:avLst/>
          </a:prstGeom>
          <a:noFill/>
        </p:spPr>
        <p:txBody>
          <a:bodyPr wrap="square" anchor="ctr" lIns="0" tIns="0" rIns="0" bIns="0">
            <a:noAutofit/>
          </a:bodyPr>
          <a:lstStyle/>
          <a:p>
            <a:pPr algn="r"/>
            <a:fld id="{EE45278E-57F4-5036-8C03-FBEB5D56A2EA}" type="slidenum">
              <a:rPr lang="en-GB" sz="1000" dirty="0">
                <a:solidFill>
                  <a:srgbClr val="66757F"/>
                </a:solidFill>
              </a:rPr>
              <a:t>11</a:t>
            </a:fld>
            <a:endParaRPr sz="1200"/>
          </a:p>
        </p:txBody>
      </p:sp>
      <p:sp>
        <p:nvSpPr>
          <p:cNvPr id="7" name="Chain Excerpt · V-002-E-0001"/>
          <p:cNvSpPr/>
          <p:nvPr/>
        </p:nvSpPr>
        <p:spPr>
          <a:xfrm>
            <a:off x="502920" y="1691640"/>
            <a:ext cx="2606040" cy="1325880"/>
          </a:xfrm>
          <a:prstGeom prst="roundRect">
            <a:avLst>
              <a:gd name="adj" fmla="val 6896"/>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050" b="1" i="0">
                <a:solidFill>
                  <a:srgbClr val="0A5E5D"/>
                </a:solidFill>
              </a:rPr>
              <a:t>Excerpt · V-002-E-0001</a:t>
            </a:r>
            <a:endParaRPr sz="1200"/>
          </a:p>
          <a:p>
            <a:pPr algn="l"/>
            <a:r>
              <a:rPr sz="1000" b="0" i="1">
                <a:solidFill>
                  <a:srgbClr val="43535F"/>
                </a:solidFill>
              </a:rPr>
              <a:t>“Two weeks ago, we re-architected our client service portal to drive more self-service and agentic AI capabilities […]”</a:t>
            </a:r>
            <a:endParaRPr sz="1200"/>
          </a:p>
          <a:p>
            <a:pPr algn="l">
              <a:spcBef>
                <a:spcPts val="200"/>
              </a:spcBef>
            </a:pPr>
            <a:r>
              <a:rPr sz="1000" b="0" i="0">
                <a:solidFill>
                  <a:srgbClr val="66757F"/>
                </a:solidFill>
              </a:rPr>
              <a:t>SEC Form DEFA14A, Fiserv, 2026-05-15</a:t>
            </a:r>
            <a:endParaRPr sz="1200"/>
          </a:p>
        </p:txBody>
      </p:sp>
      <p:sp>
        <p:nvSpPr>
          <p:cNvPr id="8" name="Chain Tags"/>
          <p:cNvSpPr/>
          <p:nvPr/>
        </p:nvSpPr>
        <p:spPr>
          <a:xfrm>
            <a:off x="3291840" y="1691640"/>
            <a:ext cx="1691640" cy="1325880"/>
          </a:xfrm>
          <a:prstGeom prst="roundRect">
            <a:avLst>
              <a:gd name="adj" fmla="val 6896"/>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050" b="1" i="0">
                <a:solidFill>
                  <a:srgbClr val="0A5E5D"/>
                </a:solidFill>
              </a:rPr>
              <a:t>Tags</a:t>
            </a:r>
            <a:endParaRPr sz="1200"/>
          </a:p>
          <a:p>
            <a:pPr algn="l"/>
            <a:r>
              <a:rPr sz="1000" b="0" i="0">
                <a:solidFill>
                  <a:srgbClr val="0C2D36"/>
                </a:solidFill>
              </a:rPr>
              <a:t>U3 · SR:A · SP:S3</a:t>
            </a:r>
            <a:endParaRPr sz="1200"/>
          </a:p>
          <a:p>
            <a:pPr algn="l"/>
            <a:r>
              <a:rPr sz="1000" b="0" i="0">
                <a:solidFill>
                  <a:srgbClr val="0C2D36"/>
                </a:solidFill>
              </a:rPr>
              <a:t>RL:R2 · RC:T3 · IC:2</a:t>
            </a:r>
            <a:endParaRPr sz="1200"/>
          </a:p>
          <a:p>
            <a:pPr algn="l"/>
            <a:r>
              <a:rPr sz="1000" b="0" i="0">
                <a:solidFill>
                  <a:srgbClr val="0C2D36"/>
                </a:solidFill>
              </a:rPr>
              <a:t>locus: delivery ops</a:t>
            </a:r>
            <a:endParaRPr sz="1200"/>
          </a:p>
          <a:p>
            <a:pPr algn="l">
              <a:spcBef>
                <a:spcPts val="200"/>
              </a:spcBef>
            </a:pPr>
            <a:r>
              <a:rPr sz="1000" b="1" i="0">
                <a:solidFill>
                  <a:srgbClr val="0A5E5D"/>
                </a:solidFill>
              </a:rPr>
              <a:t>→ Moderate</a:t>
            </a:r>
            <a:endParaRPr sz="1200"/>
          </a:p>
        </p:txBody>
      </p:sp>
      <p:cxnSp>
        <p:nvCxnSpPr>
          <p:cNvPr id="9" name="chain to Tags"/>
          <p:cNvCxnSpPr>
            <a:stCxn id="7" idx="3"/>
            <a:endCxn id="8" idx="1"/>
          </p:cNvCxnSpPr>
          <p:nvPr/>
        </p:nvCxnSpPr>
        <p:spPr>
          <a:xfrm flipV="1">
            <a:off x="3108960" y="2354580"/>
            <a:ext cx="182880" cy="0"/>
          </a:xfrm>
          <a:prstGeom prst="line">
            <a:avLst/>
          </a:prstGeom>
          <a:ln w="19050">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Chain Verdict"/>
          <p:cNvSpPr/>
          <p:nvPr/>
        </p:nvSpPr>
        <p:spPr>
          <a:xfrm>
            <a:off x="5166360" y="1691640"/>
            <a:ext cx="1371600" cy="1325880"/>
          </a:xfrm>
          <a:prstGeom prst="roundRect">
            <a:avLst>
              <a:gd name="adj" fmla="val 6896"/>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050" b="1" i="0">
                <a:solidFill>
                  <a:srgbClr val="0A5E5D"/>
                </a:solidFill>
              </a:rPr>
              <a:t>Verdict</a:t>
            </a:r>
            <a:endParaRPr sz="1200"/>
          </a:p>
          <a:p>
            <a:pPr algn="l"/>
            <a:r>
              <a:rPr sz="1100" b="1" i="0">
                <a:solidFill>
                  <a:srgbClr val="0C2D36"/>
                </a:solidFill>
              </a:rPr>
              <a:t>Yes · Probable</a:t>
            </a:r>
            <a:endParaRPr sz="1200"/>
          </a:p>
          <a:p>
            <a:pPr algn="l"/>
            <a:r>
              <a:rPr sz="1000" b="0" i="0">
                <a:solidFill>
                  <a:srgbClr val="43535F"/>
                </a:solidFill>
              </a:rPr>
              <a:t>likely; confidence low</a:t>
            </a:r>
            <a:endParaRPr sz="1200"/>
          </a:p>
        </p:txBody>
      </p:sp>
      <p:cxnSp>
        <p:nvCxnSpPr>
          <p:cNvPr id="11" name="chain to Verdict"/>
          <p:cNvCxnSpPr>
            <a:stCxn id="8" idx="3"/>
            <a:endCxn id="10" idx="1"/>
          </p:cNvCxnSpPr>
          <p:nvPr/>
        </p:nvCxnSpPr>
        <p:spPr>
          <a:xfrm flipV="1">
            <a:off x="4983480" y="2354580"/>
            <a:ext cx="182880" cy="0"/>
          </a:xfrm>
          <a:prstGeom prst="line">
            <a:avLst/>
          </a:prstGeom>
          <a:ln w="19050">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Chain Risk inputs"/>
          <p:cNvSpPr/>
          <p:nvPr/>
        </p:nvSpPr>
        <p:spPr>
          <a:xfrm>
            <a:off x="6720840" y="1691640"/>
            <a:ext cx="1463040" cy="1325880"/>
          </a:xfrm>
          <a:prstGeom prst="roundRect">
            <a:avLst>
              <a:gd name="adj" fmla="val 6896"/>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050" b="1" i="0">
                <a:solidFill>
                  <a:srgbClr val="0A5E5D"/>
                </a:solidFill>
              </a:rPr>
              <a:t>Risk inputs</a:t>
            </a:r>
            <a:endParaRPr sz="1200"/>
          </a:p>
          <a:p>
            <a:pPr algn="l"/>
            <a:r>
              <a:rPr sz="1000" b="0" i="0">
                <a:solidFill>
                  <a:srgbClr val="43535F"/>
                </a:solidFill>
              </a:rPr>
              <a:t>exposure 2/3</a:t>
            </a:r>
            <a:endParaRPr sz="1200"/>
          </a:p>
          <a:p>
            <a:pPr algn="l"/>
            <a:r>
              <a:rPr sz="1000" b="0" i="0">
                <a:solidFill>
                  <a:srgbClr val="43535F"/>
                </a:solidFill>
              </a:rPr>
              <a:t>decision impact 3/3 (assumed)</a:t>
            </a:r>
            <a:endParaRPr sz="1200"/>
          </a:p>
          <a:p>
            <a:pPr algn="l"/>
            <a:r>
              <a:rPr sz="1000" b="0" i="0">
                <a:solidFill>
                  <a:srgbClr val="43535F"/>
                </a:solidFill>
              </a:rPr>
              <a:t>tier 3 · gap 2</a:t>
            </a:r>
            <a:endParaRPr sz="1200"/>
          </a:p>
        </p:txBody>
      </p:sp>
      <p:cxnSp>
        <p:nvCxnSpPr>
          <p:cNvPr id="13" name="chain to Risk inputs"/>
          <p:cNvCxnSpPr>
            <a:stCxn id="10" idx="3"/>
            <a:endCxn id="12" idx="1"/>
          </p:cNvCxnSpPr>
          <p:nvPr/>
        </p:nvCxnSpPr>
        <p:spPr>
          <a:xfrm flipV="1">
            <a:off x="6537960" y="2354580"/>
            <a:ext cx="182880" cy="0"/>
          </a:xfrm>
          <a:prstGeom prst="line">
            <a:avLst/>
          </a:prstGeom>
          <a:ln w="19050">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Chain Score"/>
          <p:cNvSpPr/>
          <p:nvPr/>
        </p:nvSpPr>
        <p:spPr>
          <a:xfrm>
            <a:off x="8366760" y="1691640"/>
            <a:ext cx="1188720" cy="1325880"/>
          </a:xfrm>
          <a:prstGeom prst="roundRect">
            <a:avLst>
              <a:gd name="adj" fmla="val 7692"/>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050" b="1" i="0">
                <a:solidFill>
                  <a:srgbClr val="0A5E5D"/>
                </a:solidFill>
              </a:rPr>
              <a:t>Score</a:t>
            </a:r>
            <a:endParaRPr sz="1200"/>
          </a:p>
          <a:p>
            <a:pPr algn="l"/>
            <a:r>
              <a:rPr sz="1600" b="1" i="0">
                <a:solidFill>
                  <a:srgbClr val="0C2D36"/>
                </a:solidFill>
              </a:rPr>
              <a:t>15 of 18</a:t>
            </a:r>
            <a:endParaRPr sz="1200"/>
          </a:p>
          <a:p>
            <a:pPr algn="l"/>
            <a:r>
              <a:rPr sz="1100" b="1" i="0">
                <a:solidFill>
                  <a:srgbClr val="8A3A0E"/>
                </a:solidFill>
              </a:rPr>
              <a:t>High</a:t>
            </a:r>
            <a:endParaRPr sz="1200"/>
          </a:p>
        </p:txBody>
      </p:sp>
      <p:cxnSp>
        <p:nvCxnSpPr>
          <p:cNvPr id="15" name="chain to Score"/>
          <p:cNvCxnSpPr>
            <a:stCxn id="12" idx="3"/>
            <a:endCxn id="14" idx="1"/>
          </p:cNvCxnSpPr>
          <p:nvPr/>
        </p:nvCxnSpPr>
        <p:spPr>
          <a:xfrm flipV="1">
            <a:off x="8183880" y="2354580"/>
            <a:ext cx="182880" cy="0"/>
          </a:xfrm>
          <a:prstGeom prst="line">
            <a:avLst/>
          </a:prstGeom>
          <a:ln w="19050">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Chain Flips if"/>
          <p:cNvSpPr/>
          <p:nvPr/>
        </p:nvSpPr>
        <p:spPr>
          <a:xfrm>
            <a:off x="9738360" y="1691640"/>
            <a:ext cx="1947672" cy="1325880"/>
          </a:xfrm>
          <a:prstGeom prst="roundRect">
            <a:avLst>
              <a:gd name="adj" fmla="val 6896"/>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050" b="1" i="0">
                <a:solidFill>
                  <a:srgbClr val="0A5E5D"/>
                </a:solidFill>
              </a:rPr>
              <a:t>Flips if</a:t>
            </a:r>
            <a:endParaRPr sz="1200"/>
          </a:p>
          <a:p>
            <a:pPr algn="l"/>
            <a:r>
              <a:rPr sz="1000" b="0" i="0">
                <a:solidFill>
                  <a:srgbClr val="43535F"/>
                </a:solidFill>
              </a:rPr>
              <a:t>Independent confirmation of AI use in the service itself would lift the Probable cap and raise the class to…</a:t>
            </a:r>
            <a:endParaRPr sz="1200"/>
          </a:p>
          <a:p>
            <a:pPr algn="l">
              <a:spcBef>
                <a:spcPts val="200"/>
              </a:spcBef>
            </a:pPr>
            <a:r>
              <a:rPr sz="1000" b="1" i="0">
                <a:solidFill>
                  <a:srgbClr val="861818"/>
                </a:solidFill>
              </a:rPr>
              <a:t>→ Critical</a:t>
            </a:r>
            <a:endParaRPr sz="1200"/>
          </a:p>
        </p:txBody>
      </p:sp>
      <p:cxnSp>
        <p:nvCxnSpPr>
          <p:cNvPr id="17" name="chain to Flips if"/>
          <p:cNvCxnSpPr>
            <a:stCxn id="14" idx="3"/>
            <a:endCxn id="16" idx="1"/>
          </p:cNvCxnSpPr>
          <p:nvPr/>
        </p:nvCxnSpPr>
        <p:spPr>
          <a:xfrm flipV="1">
            <a:off x="9555480" y="2354580"/>
            <a:ext cx="182880" cy="0"/>
          </a:xfrm>
          <a:prstGeom prst="line">
            <a:avLst/>
          </a:prstGeom>
          <a:ln w="19050">
            <a:solidFill>
              <a:srgbClr val="4F5F6B"/>
            </a:solidFill>
            <a:tailEnd type="triangle" w="med" len="med"/>
          </a:ln>
          <a:effectLst/>
        </p:spPr>
        <p:style>
          <a:lnRef idx="2">
            <a:schemeClr val="accent1"/>
          </a:lnRef>
          <a:fillRef idx="0">
            <a:schemeClr val="accent1"/>
          </a:fillRef>
          <a:effectRef idx="1">
            <a:schemeClr val="accent1"/>
          </a:effectRef>
          <a:fontRef idx="minor">
            <a:schemeClr val="tx1"/>
          </a:fontRef>
        </p:style>
      </p:cxnSp>
      <p:graphicFrame>
        <p:nvGraphicFramePr>
          <p:cNvPr id="18" name="Verdict table"/>
          <p:cNvGraphicFramePr>
            <a:graphicFrameLocks noGrp="1"/>
          </p:cNvGraphicFramePr>
          <p:nvPr/>
        </p:nvGraphicFramePr>
        <p:xfrm>
          <a:off x="502920" y="3200400"/>
          <a:ext cx="7269479" cy="3054096"/>
        </p:xfrm>
        <a:graphic>
          <a:graphicData uri="http://schemas.openxmlformats.org/drawingml/2006/table">
            <a:tbl>
              <a:tblPr firstRow="1">
                <a:tableStyleId>{2D5ABB26-0587-4C30-8999-92F81FD0307C}</a:tableStyleId>
              </a:tblPr>
              <a:tblGrid>
                <a:gridCol w="1143000"/>
                <a:gridCol w="1417320"/>
                <a:gridCol w="3749039"/>
                <a:gridCol w="960120"/>
              </a:tblGrid>
              <a:tr h="310896">
                <a:tc>
                  <a:txBody>
                    <a:bodyPr wrap="square" anchor="t" lIns="64008" tIns="32004" rIns="64008" bIns="32004">
                      <a:noAutofit/>
                    </a:bodyPr>
                    <a:lstStyle/>
                    <a:p>
                      <a:pPr algn="l"/>
                      <a:r>
                        <a:rPr sz="1000" b="1" i="0">
                          <a:solidFill>
                            <a:srgbClr val="FFFFFF"/>
                          </a:solidFill>
                        </a:rPr>
                        <a:t>Vendor</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Verdict</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Strongest evidence</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AI risk</a:t>
                      </a:r>
                      <a:endParaRPr sz="1000"/>
                    </a:p>
                  </a:txBody>
                  <a:tcPr marL="64008" marR="64008" marT="32004" marB="32004" anchor="ctr">
                    <a:solidFill>
                      <a:srgbClr val="0C2D36"/>
                    </a:solidFill>
                  </a:tcPr>
                </a:tc>
              </a:tr>
              <a:tr h="457200">
                <a:tc>
                  <a:txBody>
                    <a:bodyPr wrap="square" anchor="t" lIns="64008" tIns="32004" rIns="64008" bIns="32004">
                      <a:noAutofit/>
                    </a:bodyPr>
                    <a:lstStyle/>
                    <a:p>
                      <a:pPr algn="l"/>
                      <a:r>
                        <a:rPr sz="1050" b="1" i="0">
                          <a:solidFill>
                            <a:srgbClr val="0C2D36"/>
                          </a:solidFill>
                        </a:rPr>
                        <a:t>AutomWorx</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Inconclusive</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A5E5D"/>
                          </a:solidFill>
                        </a:rPr>
                        <a:t>V-001-E-0001 </a:t>
                      </a:r>
                      <a:r>
                        <a:rPr sz="1000" b="0" i="0">
                          <a:solidFill>
                            <a:srgbClr val="43535F"/>
                          </a:solidFill>
                        </a:rPr>
                        <a:t>Affiliate website, Labarum AI: </a:t>
                      </a:r>
                      <a:r>
                        <a:rPr sz="1000" b="0" i="1">
                          <a:solidFill>
                            <a:srgbClr val="43535F"/>
                          </a:solidFill>
                        </a:rPr>
                        <a:t>“Twenty years of platform depth across 250+ Fortune 1000 accounts gets […]”</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1" i="0">
                          <a:solidFill>
                            <a:srgbClr val="6B5000"/>
                          </a:solidFill>
                        </a:rPr>
                        <a:t>Medium</a:t>
                      </a:r>
                      <a:endParaRPr sz="1000"/>
                    </a:p>
                    <a:p>
                      <a:pPr algn="l"/>
                      <a:r>
                        <a:rPr sz="1000" b="0" i="0">
                          <a:solidFill>
                            <a:srgbClr val="43535F"/>
                          </a:solidFill>
                        </a:rPr>
                        <a:t>provisional</a:t>
                      </a:r>
                      <a:endParaRPr sz="1000"/>
                    </a:p>
                  </a:txBody>
                  <a:tcPr marL="64008" marR="64008" marT="32004" marB="32004" anchor="ctr">
                    <a:lnB w="9525" cap="flat" cmpd="sng" algn="ctr">
                      <a:solidFill>
                        <a:srgbClr val="C8D3D9"/>
                      </a:solidFill>
                      <a:prstDash val="solid"/>
                    </a:lnB>
                    <a:solidFill>
                      <a:srgbClr val="FFF4D1"/>
                    </a:solidFill>
                  </a:tcPr>
                </a:tc>
              </a:tr>
              <a:tr h="457200">
                <a:tc>
                  <a:txBody>
                    <a:bodyPr wrap="square" anchor="t" lIns="64008" tIns="32004" rIns="64008" bIns="32004">
                      <a:noAutofit/>
                    </a:bodyPr>
                    <a:lstStyle/>
                    <a:p>
                      <a:pPr algn="l"/>
                      <a:r>
                        <a:rPr sz="1050" b="1" i="0">
                          <a:solidFill>
                            <a:srgbClr val="0C2D36"/>
                          </a:solidFill>
                        </a:rPr>
                        <a:t>Fiserv</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Yes · Probable</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A5E5D"/>
                          </a:solidFill>
                        </a:rPr>
                        <a:t>V-002-E-0001 </a:t>
                      </a:r>
                      <a:r>
                        <a:rPr sz="1000" b="0" i="0">
                          <a:solidFill>
                            <a:srgbClr val="43535F"/>
                          </a:solidFill>
                        </a:rPr>
                        <a:t>SEC Form DEFA14A, Fiserv: </a:t>
                      </a:r>
                      <a:r>
                        <a:rPr sz="1000" b="0" i="1">
                          <a:solidFill>
                            <a:srgbClr val="43535F"/>
                          </a:solidFill>
                        </a:rPr>
                        <a:t>“Two weeks ago, we re-architected our client service portal to drive more […]”</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1" i="0">
                          <a:solidFill>
                            <a:srgbClr val="8A3A0E"/>
                          </a:solidFill>
                        </a:rPr>
                        <a:t>High</a:t>
                      </a:r>
                      <a:endParaRPr sz="1000"/>
                    </a:p>
                  </a:txBody>
                  <a:tcPr marL="64008" marR="64008" marT="32004" marB="32004" anchor="ctr">
                    <a:lnB w="9525" cap="flat" cmpd="sng" algn="ctr">
                      <a:solidFill>
                        <a:srgbClr val="C8D3D9"/>
                      </a:solidFill>
                      <a:prstDash val="solid"/>
                    </a:lnB>
                    <a:solidFill>
                      <a:srgbClr val="FCEBDF"/>
                    </a:solidFill>
                  </a:tcPr>
                </a:tc>
              </a:tr>
              <a:tr h="457200">
                <a:tc>
                  <a:txBody>
                    <a:bodyPr wrap="square" anchor="t" lIns="64008" tIns="32004" rIns="64008" bIns="32004">
                      <a:noAutofit/>
                    </a:bodyPr>
                    <a:lstStyle/>
                    <a:p>
                      <a:pPr algn="l"/>
                      <a:r>
                        <a:rPr sz="1050" b="1" i="0">
                          <a:solidFill>
                            <a:srgbClr val="0C2D36"/>
                          </a:solidFill>
                        </a:rPr>
                        <a:t>FSSI</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No · Not detected</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A5E5D"/>
                          </a:solidFill>
                        </a:rPr>
                        <a:t>V-003-E-0001 </a:t>
                      </a:r>
                      <a:r>
                        <a:rPr sz="1000" b="0" i="0">
                          <a:solidFill>
                            <a:srgbClr val="43535F"/>
                          </a:solidFill>
                        </a:rPr>
                        <a:t>Platform supplier blog, OpenText: </a:t>
                      </a:r>
                      <a:r>
                        <a:rPr sz="1000" b="0" i="1">
                          <a:solidFill>
                            <a:srgbClr val="43535F"/>
                          </a:solidFill>
                        </a:rPr>
                        <a:t>“In the same research, 69% of mature adopters reported being satisfied with […]”</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1" i="0">
                          <a:solidFill>
                            <a:srgbClr val="3F4D57"/>
                          </a:solidFill>
                        </a:rPr>
                        <a:t>None identified</a:t>
                      </a:r>
                      <a:endParaRPr sz="1000"/>
                    </a:p>
                  </a:txBody>
                  <a:tcPr marL="64008" marR="64008" marT="32004" marB="32004" anchor="ctr">
                    <a:lnB w="9525" cap="flat" cmpd="sng" algn="ctr">
                      <a:solidFill>
                        <a:srgbClr val="C8D3D9"/>
                      </a:solidFill>
                      <a:prstDash val="solid"/>
                    </a:lnB>
                    <a:solidFill>
                      <a:srgbClr val="EDF1F4"/>
                    </a:solidFill>
                  </a:tcPr>
                </a:tc>
              </a:tr>
              <a:tr h="457200">
                <a:tc>
                  <a:txBody>
                    <a:bodyPr wrap="square" anchor="t" lIns="64008" tIns="32004" rIns="64008" bIns="32004">
                      <a:noAutofit/>
                    </a:bodyPr>
                    <a:lstStyle/>
                    <a:p>
                      <a:pPr algn="l"/>
                      <a:r>
                        <a:rPr sz="1050" b="1" i="0">
                          <a:solidFill>
                            <a:srgbClr val="0C2D36"/>
                          </a:solidFill>
                        </a:rPr>
                        <a:t>Terrapin</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Inconclusive</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A5E5D"/>
                          </a:solidFill>
                        </a:rPr>
                        <a:t>V-004-E-0001 </a:t>
                      </a:r>
                      <a:r>
                        <a:rPr sz="1000" b="0" i="0">
                          <a:solidFill>
                            <a:srgbClr val="43535F"/>
                          </a:solidFill>
                        </a:rPr>
                        <a:t>DNS TXT record, Terrapin Technologies: </a:t>
                      </a:r>
                      <a:r>
                        <a:rPr sz="1000" b="0" i="1">
                          <a:solidFill>
                            <a:srgbClr val="43535F"/>
                          </a:solidFill>
                        </a:rPr>
                        <a:t>“anthropic-domain-verification-9aq3kr=73tzcSxHSSLJVpJGhNo7EEOXN”</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1" i="0">
                          <a:solidFill>
                            <a:srgbClr val="6B5000"/>
                          </a:solidFill>
                        </a:rPr>
                        <a:t>Medium</a:t>
                      </a:r>
                      <a:endParaRPr sz="1000"/>
                    </a:p>
                    <a:p>
                      <a:pPr algn="l"/>
                      <a:r>
                        <a:rPr sz="1000" b="0" i="0">
                          <a:solidFill>
                            <a:srgbClr val="43535F"/>
                          </a:solidFill>
                        </a:rPr>
                        <a:t>provisional</a:t>
                      </a:r>
                      <a:endParaRPr sz="1000"/>
                    </a:p>
                  </a:txBody>
                  <a:tcPr marL="64008" marR="64008" marT="32004" marB="32004" anchor="ctr">
                    <a:lnB w="9525" cap="flat" cmpd="sng" algn="ctr">
                      <a:solidFill>
                        <a:srgbClr val="C8D3D9"/>
                      </a:solidFill>
                      <a:prstDash val="solid"/>
                    </a:lnB>
                    <a:solidFill>
                      <a:srgbClr val="FFF4D1"/>
                    </a:solidFill>
                  </a:tcPr>
                </a:tc>
              </a:tr>
              <a:tr h="457200">
                <a:tc>
                  <a:txBody>
                    <a:bodyPr wrap="square" anchor="t" lIns="64008" tIns="32004" rIns="64008" bIns="32004">
                      <a:noAutofit/>
                    </a:bodyPr>
                    <a:lstStyle/>
                    <a:p>
                      <a:pPr algn="l"/>
                      <a:r>
                        <a:rPr sz="1050" b="1" i="0">
                          <a:solidFill>
                            <a:srgbClr val="0C2D36"/>
                          </a:solidFill>
                        </a:rPr>
                        <a:t>BNY</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Yes · Probable</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A5E5D"/>
                          </a:solidFill>
                        </a:rPr>
                        <a:t>V-005-E-0001 </a:t>
                      </a:r>
                      <a:r>
                        <a:rPr sz="1000" b="0" i="0">
                          <a:solidFill>
                            <a:srgbClr val="43535F"/>
                          </a:solidFill>
                        </a:rPr>
                        <a:t>SEC Form 8-K exhibit, BNY: </a:t>
                      </a:r>
                      <a:r>
                        <a:rPr sz="1000" b="0" i="1">
                          <a:solidFill>
                            <a:srgbClr val="43535F"/>
                          </a:solidFill>
                        </a:rPr>
                        <a:t>“• ~220 enterprise AI solutions in production, and ~140 digital employees • […]”</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1" i="0">
                          <a:solidFill>
                            <a:srgbClr val="8A3A0E"/>
                          </a:solidFill>
                        </a:rPr>
                        <a:t>High</a:t>
                      </a:r>
                      <a:endParaRPr sz="1000"/>
                    </a:p>
                  </a:txBody>
                  <a:tcPr marL="64008" marR="64008" marT="32004" marB="32004" anchor="ctr">
                    <a:lnB w="9525" cap="flat" cmpd="sng" algn="ctr">
                      <a:solidFill>
                        <a:srgbClr val="C8D3D9"/>
                      </a:solidFill>
                      <a:prstDash val="solid"/>
                    </a:lnB>
                    <a:solidFill>
                      <a:srgbClr val="FCEBDF"/>
                    </a:solidFill>
                  </a:tcPr>
                </a:tc>
              </a:tr>
              <a:tr h="457200">
                <a:tc>
                  <a:txBody>
                    <a:bodyPr wrap="square" anchor="t" lIns="64008" tIns="32004" rIns="64008" bIns="32004">
                      <a:noAutofit/>
                    </a:bodyPr>
                    <a:lstStyle/>
                    <a:p>
                      <a:pPr algn="l"/>
                      <a:r>
                        <a:rPr sz="1050" b="1" i="0">
                          <a:solidFill>
                            <a:srgbClr val="0C2D36"/>
                          </a:solidFill>
                        </a:rPr>
                        <a:t>TCH</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Yes · Probable</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A5E5D"/>
                          </a:solidFill>
                        </a:rPr>
                        <a:t>V-006-E-0001 </a:t>
                      </a:r>
                      <a:r>
                        <a:rPr sz="1000" b="0" i="0">
                          <a:solidFill>
                            <a:srgbClr val="43535F"/>
                          </a:solidFill>
                        </a:rPr>
                        <a:t>Job posting, The Clearing House: </a:t>
                      </a:r>
                      <a:r>
                        <a:rPr sz="1000" b="0" i="1">
                          <a:solidFill>
                            <a:srgbClr val="43535F"/>
                          </a:solidFill>
                        </a:rPr>
                        <a:t>“Utilize AI-powered tools such as Microsoft Copilot, ChatGPT, ServiceNow AI […]”</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1" i="0">
                          <a:solidFill>
                            <a:srgbClr val="8A3A0E"/>
                          </a:solidFill>
                        </a:rPr>
                        <a:t>High</a:t>
                      </a:r>
                      <a:endParaRPr sz="1000"/>
                    </a:p>
                  </a:txBody>
                  <a:tcPr marL="64008" marR="64008" marT="32004" marB="32004" anchor="ctr">
                    <a:lnB w="9525" cap="flat" cmpd="sng" algn="ctr">
                      <a:solidFill>
                        <a:srgbClr val="C8D3D9"/>
                      </a:solidFill>
                      <a:prstDash val="solid"/>
                    </a:lnB>
                    <a:solidFill>
                      <a:srgbClr val="FCEBDF"/>
                    </a:solidFill>
                  </a:tcPr>
                </a:tc>
              </a:tr>
            </a:tbl>
          </a:graphicData>
        </a:graphic>
      </p:graphicFrame>
      <p:sp>
        <p:nvSpPr>
          <p:cNvPr id="19" name="Concentration title"/>
          <p:cNvSpPr txBox="1"/>
          <p:nvPr/>
        </p:nvSpPr>
        <p:spPr>
          <a:xfrm>
            <a:off x="8001000" y="3200400"/>
            <a:ext cx="3685032" cy="274320"/>
          </a:xfrm>
          <a:prstGeom prst="rect">
            <a:avLst/>
          </a:prstGeom>
          <a:noFill/>
        </p:spPr>
        <p:txBody>
          <a:bodyPr wrap="square" anchor="t" lIns="0" tIns="0" rIns="0" bIns="0">
            <a:noAutofit/>
          </a:bodyPr>
          <a:lstStyle/>
          <a:p>
            <a:pPr algn="l"/>
            <a:r>
              <a:rPr sz="1200" b="1" i="0">
                <a:solidFill>
                  <a:srgbClr val="0C2D36"/>
                </a:solidFill>
              </a:rPr>
              <a:t>Fourth-party AI concentration</a:t>
            </a:r>
            <a:endParaRPr sz="1200"/>
          </a:p>
        </p:txBody>
      </p:sp>
      <p:sp>
        <p:nvSpPr>
          <p:cNvPr id="20" name="Provider OpenAI"/>
          <p:cNvSpPr txBox="1"/>
          <p:nvPr/>
        </p:nvSpPr>
        <p:spPr>
          <a:xfrm>
            <a:off x="8001000" y="3584448"/>
            <a:ext cx="1005840" cy="274320"/>
          </a:xfrm>
          <a:prstGeom prst="rect">
            <a:avLst/>
          </a:prstGeom>
          <a:noFill/>
        </p:spPr>
        <p:txBody>
          <a:bodyPr wrap="square" anchor="ctr" lIns="0" tIns="0" rIns="0" bIns="0">
            <a:noAutofit/>
          </a:bodyPr>
          <a:lstStyle/>
          <a:p>
            <a:pPr algn="l"/>
            <a:r>
              <a:rPr sz="1050" b="1" i="0">
                <a:solidFill>
                  <a:srgbClr val="0C2D36"/>
                </a:solidFill>
              </a:rPr>
              <a:t>OpenAI</a:t>
            </a:r>
            <a:endParaRPr sz="1200"/>
          </a:p>
        </p:txBody>
      </p:sp>
      <p:sp>
        <p:nvSpPr>
          <p:cNvPr id="21" name="Bar OpenAI named"/>
          <p:cNvSpPr/>
          <p:nvPr/>
        </p:nvSpPr>
        <p:spPr>
          <a:xfrm>
            <a:off x="9052560" y="3611879"/>
            <a:ext cx="1516075" cy="219456"/>
          </a:xfrm>
          <a:prstGeom prst="roundRect">
            <a:avLst>
              <a:gd name="adj" fmla="val 125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i="0">
                <a:solidFill>
                  <a:srgbClr val="FFFFFF"/>
                </a:solidFill>
              </a:rPr>
              <a:t>3</a:t>
            </a:r>
            <a:endParaRPr sz="1200"/>
          </a:p>
        </p:txBody>
      </p:sp>
      <p:sp>
        <p:nvSpPr>
          <p:cNvPr id="22" name="Bar OpenAI third parties"/>
          <p:cNvSpPr/>
          <p:nvPr/>
        </p:nvSpPr>
        <p:spPr>
          <a:xfrm>
            <a:off x="10605211" y="3611879"/>
            <a:ext cx="480974" cy="219456"/>
          </a:xfrm>
          <a:prstGeom prst="roundRect">
            <a:avLst>
              <a:gd name="adj" fmla="val 12500"/>
            </a:avLst>
          </a:prstGeom>
          <a:solidFill>
            <a:srgbClr val="86D4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i="0">
                <a:solidFill>
                  <a:srgbClr val="0C2D36"/>
                </a:solidFill>
              </a:rPr>
              <a:t>1</a:t>
            </a:r>
            <a:endParaRPr sz="1200"/>
          </a:p>
        </p:txBody>
      </p:sp>
      <p:sp>
        <p:nvSpPr>
          <p:cNvPr id="23" name="Bar OpenAI DNS only"/>
          <p:cNvSpPr/>
          <p:nvPr/>
        </p:nvSpPr>
        <p:spPr>
          <a:xfrm>
            <a:off x="11122761" y="3611879"/>
            <a:ext cx="480974" cy="219456"/>
          </a:xfrm>
          <a:prstGeom prst="roundRect">
            <a:avLst>
              <a:gd name="adj" fmla="val 12500"/>
            </a:avLst>
          </a:prstGeom>
          <a:solidFill>
            <a:srgbClr val="FFFFFF"/>
          </a:solidFill>
          <a:ln w="9525">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i="0">
                <a:solidFill>
                  <a:srgbClr val="0A5E5D"/>
                </a:solidFill>
              </a:rPr>
              <a:t>1</a:t>
            </a:r>
            <a:endParaRPr sz="1200"/>
          </a:p>
        </p:txBody>
      </p:sp>
      <p:sp>
        <p:nvSpPr>
          <p:cNvPr id="24" name="Provider Microsoft"/>
          <p:cNvSpPr txBox="1"/>
          <p:nvPr/>
        </p:nvSpPr>
        <p:spPr>
          <a:xfrm>
            <a:off x="8001000" y="3950208"/>
            <a:ext cx="1005840" cy="274320"/>
          </a:xfrm>
          <a:prstGeom prst="rect">
            <a:avLst/>
          </a:prstGeom>
          <a:noFill/>
        </p:spPr>
        <p:txBody>
          <a:bodyPr wrap="square" anchor="ctr" lIns="0" tIns="0" rIns="0" bIns="0">
            <a:noAutofit/>
          </a:bodyPr>
          <a:lstStyle/>
          <a:p>
            <a:pPr algn="l"/>
            <a:r>
              <a:rPr sz="1050" b="1" i="0">
                <a:solidFill>
                  <a:srgbClr val="0C2D36"/>
                </a:solidFill>
              </a:rPr>
              <a:t>Microsoft</a:t>
            </a:r>
            <a:endParaRPr sz="1200"/>
          </a:p>
        </p:txBody>
      </p:sp>
      <p:sp>
        <p:nvSpPr>
          <p:cNvPr id="25" name="Bar Microsoft named"/>
          <p:cNvSpPr/>
          <p:nvPr/>
        </p:nvSpPr>
        <p:spPr>
          <a:xfrm>
            <a:off x="9052560" y="3977640"/>
            <a:ext cx="998524" cy="219456"/>
          </a:xfrm>
          <a:prstGeom prst="roundRect">
            <a:avLst>
              <a:gd name="adj" fmla="val 125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i="0">
                <a:solidFill>
                  <a:srgbClr val="FFFFFF"/>
                </a:solidFill>
              </a:rPr>
              <a:t>2</a:t>
            </a:r>
            <a:endParaRPr sz="1200"/>
          </a:p>
        </p:txBody>
      </p:sp>
      <p:sp>
        <p:nvSpPr>
          <p:cNvPr id="26" name="Bar Microsoft third parties"/>
          <p:cNvSpPr/>
          <p:nvPr/>
        </p:nvSpPr>
        <p:spPr>
          <a:xfrm>
            <a:off x="10087660" y="3977640"/>
            <a:ext cx="480974" cy="219456"/>
          </a:xfrm>
          <a:prstGeom prst="roundRect">
            <a:avLst>
              <a:gd name="adj" fmla="val 12500"/>
            </a:avLst>
          </a:prstGeom>
          <a:solidFill>
            <a:srgbClr val="86D4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i="0">
                <a:solidFill>
                  <a:srgbClr val="0C2D36"/>
                </a:solidFill>
              </a:rPr>
              <a:t>1</a:t>
            </a:r>
            <a:endParaRPr sz="1200"/>
          </a:p>
        </p:txBody>
      </p:sp>
      <p:sp>
        <p:nvSpPr>
          <p:cNvPr id="27" name="Provider Anthropic"/>
          <p:cNvSpPr txBox="1"/>
          <p:nvPr/>
        </p:nvSpPr>
        <p:spPr>
          <a:xfrm>
            <a:off x="8001000" y="4315968"/>
            <a:ext cx="1005840" cy="274320"/>
          </a:xfrm>
          <a:prstGeom prst="rect">
            <a:avLst/>
          </a:prstGeom>
          <a:noFill/>
        </p:spPr>
        <p:txBody>
          <a:bodyPr wrap="square" anchor="ctr" lIns="0" tIns="0" rIns="0" bIns="0">
            <a:noAutofit/>
          </a:bodyPr>
          <a:lstStyle/>
          <a:p>
            <a:pPr algn="l"/>
            <a:r>
              <a:rPr sz="1050" b="1" i="0">
                <a:solidFill>
                  <a:srgbClr val="0C2D36"/>
                </a:solidFill>
              </a:rPr>
              <a:t>Anthropic</a:t>
            </a:r>
            <a:endParaRPr sz="1200"/>
          </a:p>
        </p:txBody>
      </p:sp>
      <p:sp>
        <p:nvSpPr>
          <p:cNvPr id="28" name="Bar Anthropic named"/>
          <p:cNvSpPr/>
          <p:nvPr/>
        </p:nvSpPr>
        <p:spPr>
          <a:xfrm>
            <a:off x="9052560" y="4343400"/>
            <a:ext cx="480974" cy="219456"/>
          </a:xfrm>
          <a:prstGeom prst="roundRect">
            <a:avLst>
              <a:gd name="adj" fmla="val 125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i="0">
                <a:solidFill>
                  <a:srgbClr val="FFFFFF"/>
                </a:solidFill>
              </a:rPr>
              <a:t>1</a:t>
            </a:r>
            <a:endParaRPr sz="1200"/>
          </a:p>
        </p:txBody>
      </p:sp>
      <p:sp>
        <p:nvSpPr>
          <p:cNvPr id="29" name="Bar Anthropic DNS only"/>
          <p:cNvSpPr/>
          <p:nvPr/>
        </p:nvSpPr>
        <p:spPr>
          <a:xfrm>
            <a:off x="9570110" y="4343400"/>
            <a:ext cx="998524" cy="219456"/>
          </a:xfrm>
          <a:prstGeom prst="roundRect">
            <a:avLst>
              <a:gd name="adj" fmla="val 12500"/>
            </a:avLst>
          </a:prstGeom>
          <a:solidFill>
            <a:srgbClr val="FFFFFF"/>
          </a:solidFill>
          <a:ln w="9525">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i="0">
                <a:solidFill>
                  <a:srgbClr val="0A5E5D"/>
                </a:solidFill>
              </a:rPr>
              <a:t>2</a:t>
            </a:r>
            <a:endParaRPr sz="1200"/>
          </a:p>
        </p:txBody>
      </p:sp>
      <p:sp>
        <p:nvSpPr>
          <p:cNvPr id="30" name="Provider NVIDIA"/>
          <p:cNvSpPr txBox="1"/>
          <p:nvPr/>
        </p:nvSpPr>
        <p:spPr>
          <a:xfrm>
            <a:off x="8001000" y="4681728"/>
            <a:ext cx="1005840" cy="274320"/>
          </a:xfrm>
          <a:prstGeom prst="rect">
            <a:avLst/>
          </a:prstGeom>
          <a:noFill/>
        </p:spPr>
        <p:txBody>
          <a:bodyPr wrap="square" anchor="ctr" lIns="0" tIns="0" rIns="0" bIns="0">
            <a:noAutofit/>
          </a:bodyPr>
          <a:lstStyle/>
          <a:p>
            <a:pPr algn="l"/>
            <a:r>
              <a:rPr sz="1050" b="1" i="0">
                <a:solidFill>
                  <a:srgbClr val="0C2D36"/>
                </a:solidFill>
              </a:rPr>
              <a:t>NVIDIA</a:t>
            </a:r>
            <a:endParaRPr sz="1200"/>
          </a:p>
        </p:txBody>
      </p:sp>
      <p:sp>
        <p:nvSpPr>
          <p:cNvPr id="31" name="Bar NVIDIA named"/>
          <p:cNvSpPr/>
          <p:nvPr/>
        </p:nvSpPr>
        <p:spPr>
          <a:xfrm>
            <a:off x="9052560" y="4709160"/>
            <a:ext cx="998524" cy="219456"/>
          </a:xfrm>
          <a:prstGeom prst="roundRect">
            <a:avLst>
              <a:gd name="adj" fmla="val 125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i="0">
                <a:solidFill>
                  <a:srgbClr val="FFFFFF"/>
                </a:solidFill>
              </a:rPr>
              <a:t>2</a:t>
            </a:r>
            <a:endParaRPr sz="1200"/>
          </a:p>
        </p:txBody>
      </p:sp>
      <p:sp>
        <p:nvSpPr>
          <p:cNvPr id="32" name="Provider Google"/>
          <p:cNvSpPr txBox="1"/>
          <p:nvPr/>
        </p:nvSpPr>
        <p:spPr>
          <a:xfrm>
            <a:off x="8001000" y="5047488"/>
            <a:ext cx="1005840" cy="274320"/>
          </a:xfrm>
          <a:prstGeom prst="rect">
            <a:avLst/>
          </a:prstGeom>
          <a:noFill/>
        </p:spPr>
        <p:txBody>
          <a:bodyPr wrap="square" anchor="ctr" lIns="0" tIns="0" rIns="0" bIns="0">
            <a:noAutofit/>
          </a:bodyPr>
          <a:lstStyle/>
          <a:p>
            <a:pPr algn="l"/>
            <a:r>
              <a:rPr sz="1050" b="1" i="0">
                <a:solidFill>
                  <a:srgbClr val="0C2D36"/>
                </a:solidFill>
              </a:rPr>
              <a:t>Google</a:t>
            </a:r>
            <a:endParaRPr sz="1200"/>
          </a:p>
        </p:txBody>
      </p:sp>
      <p:sp>
        <p:nvSpPr>
          <p:cNvPr id="33" name="Bar Google named"/>
          <p:cNvSpPr/>
          <p:nvPr/>
        </p:nvSpPr>
        <p:spPr>
          <a:xfrm>
            <a:off x="9052560" y="5074920"/>
            <a:ext cx="480974" cy="219456"/>
          </a:xfrm>
          <a:prstGeom prst="roundRect">
            <a:avLst>
              <a:gd name="adj" fmla="val 125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i="0">
                <a:solidFill>
                  <a:srgbClr val="FFFFFF"/>
                </a:solidFill>
              </a:rPr>
              <a:t>1</a:t>
            </a:r>
            <a:endParaRPr sz="1200"/>
          </a:p>
        </p:txBody>
      </p:sp>
      <p:sp>
        <p:nvSpPr>
          <p:cNvPr id="34" name="Bar Google third parties"/>
          <p:cNvSpPr/>
          <p:nvPr/>
        </p:nvSpPr>
        <p:spPr>
          <a:xfrm>
            <a:off x="9570110" y="5074920"/>
            <a:ext cx="480974" cy="219456"/>
          </a:xfrm>
          <a:prstGeom prst="roundRect">
            <a:avLst>
              <a:gd name="adj" fmla="val 12500"/>
            </a:avLst>
          </a:prstGeom>
          <a:solidFill>
            <a:srgbClr val="86D4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i="0">
                <a:solidFill>
                  <a:srgbClr val="0C2D36"/>
                </a:solidFill>
              </a:rPr>
              <a:t>1</a:t>
            </a:r>
            <a:endParaRPr sz="1200"/>
          </a:p>
        </p:txBody>
      </p:sp>
      <p:sp>
        <p:nvSpPr>
          <p:cNvPr id="35" name="Provider agentOS"/>
          <p:cNvSpPr txBox="1"/>
          <p:nvPr/>
        </p:nvSpPr>
        <p:spPr>
          <a:xfrm>
            <a:off x="8001000" y="5413248"/>
            <a:ext cx="1005840" cy="274320"/>
          </a:xfrm>
          <a:prstGeom prst="rect">
            <a:avLst/>
          </a:prstGeom>
          <a:noFill/>
        </p:spPr>
        <p:txBody>
          <a:bodyPr wrap="square" anchor="ctr" lIns="0" tIns="0" rIns="0" bIns="0">
            <a:noAutofit/>
          </a:bodyPr>
          <a:lstStyle/>
          <a:p>
            <a:pPr algn="l"/>
            <a:r>
              <a:rPr sz="1050" b="1" i="0">
                <a:solidFill>
                  <a:srgbClr val="0C2D36"/>
                </a:solidFill>
              </a:rPr>
              <a:t>agentOS</a:t>
            </a:r>
            <a:endParaRPr sz="1200"/>
          </a:p>
        </p:txBody>
      </p:sp>
      <p:sp>
        <p:nvSpPr>
          <p:cNvPr id="36" name="Bar agentOS named"/>
          <p:cNvSpPr/>
          <p:nvPr/>
        </p:nvSpPr>
        <p:spPr>
          <a:xfrm>
            <a:off x="9052560" y="5440680"/>
            <a:ext cx="480974" cy="219456"/>
          </a:xfrm>
          <a:prstGeom prst="roundRect">
            <a:avLst>
              <a:gd name="adj" fmla="val 125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000" b="1" i="0">
                <a:solidFill>
                  <a:srgbClr val="FFFFFF"/>
                </a:solidFill>
              </a:rPr>
              <a:t>1</a:t>
            </a:r>
            <a:endParaRPr sz="1200"/>
          </a:p>
        </p:txBody>
      </p:sp>
      <p:sp>
        <p:nvSpPr>
          <p:cNvPr id="37" name="Concentration legend"/>
          <p:cNvSpPr txBox="1"/>
          <p:nvPr/>
        </p:nvSpPr>
        <p:spPr>
          <a:xfrm>
            <a:off x="8001000" y="5852160"/>
            <a:ext cx="3685032" cy="457200"/>
          </a:xfrm>
          <a:prstGeom prst="rect">
            <a:avLst/>
          </a:prstGeom>
          <a:noFill/>
        </p:spPr>
        <p:txBody>
          <a:bodyPr wrap="square" anchor="t" lIns="0" tIns="0" rIns="0" bIns="0">
            <a:noAutofit/>
          </a:bodyPr>
          <a:lstStyle/>
          <a:p>
            <a:pPr algn="l"/>
            <a:r>
              <a:rPr sz="1000" b="1" i="0">
                <a:solidFill>
                  <a:srgbClr val="0C2D36"/>
                </a:solidFill>
              </a:rPr>
              <a:t>Vendors per provider:  </a:t>
            </a:r>
            <a:r>
              <a:rPr sz="1000" b="0" i="0">
                <a:solidFill>
                  <a:srgbClr val="0E7C7B"/>
                </a:solidFill>
              </a:rPr>
              <a:t>■ </a:t>
            </a:r>
            <a:r>
              <a:rPr sz="1000" b="0" i="0">
                <a:solidFill>
                  <a:srgbClr val="43535F"/>
                </a:solidFill>
              </a:rPr>
              <a:t>named by the vendor   </a:t>
            </a:r>
            <a:r>
              <a:rPr sz="1000" b="0" i="0">
                <a:solidFill>
                  <a:srgbClr val="86D4CA"/>
                </a:solidFill>
              </a:rPr>
              <a:t>■ </a:t>
            </a:r>
            <a:r>
              <a:rPr sz="1000" b="0" i="0">
                <a:solidFill>
                  <a:srgbClr val="43535F"/>
                </a:solidFill>
              </a:rPr>
              <a:t>third parties only</a:t>
            </a:r>
            <a:endParaRPr sz="1200"/>
          </a:p>
          <a:p>
            <a:pPr algn="l"/>
            <a:r>
              <a:rPr sz="1000" b="0" i="0">
                <a:solidFill>
                  <a:srgbClr val="0E7C7B"/>
                </a:solidFill>
              </a:rPr>
              <a:t>□ </a:t>
            </a:r>
            <a:r>
              <a:rPr sz="1000" b="0" i="0">
                <a:solidFill>
                  <a:srgbClr val="43535F"/>
                </a:solidFill>
              </a:rPr>
              <a:t>DNS verification token only: a relationship, not use</a:t>
            </a:r>
            <a:endParaRPr sz="12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10896"/>
            <a:ext cx="9509760" cy="640080"/>
          </a:xfrm>
        </p:spPr>
        <p:txBody>
          <a:bodyPr wrap="square" anchor="b" lIns="0" tIns="0" rIns="0" bIns="0">
            <a:noAutofit/>
          </a:bodyPr>
          <a:lstStyle/>
          <a:p>
            <a:pPr algn="l"/>
            <a:r>
              <a:rPr sz="3000" b="1" i="0">
                <a:solidFill>
                  <a:srgbClr val="0C2D36"/>
                </a:solidFill>
              </a:rPr>
              <a:t>Live demo: upload, analyse, classify</a:t>
            </a:r>
            <a:endParaRPr sz="1200"/>
          </a:p>
        </p:txBody>
      </p:sp>
      <p:sp>
        <p:nvSpPr>
          <p:cNvPr id="3" name="Corner tag"/>
          <p:cNvSpPr/>
          <p:nvPr/>
        </p:nvSpPr>
        <p:spPr>
          <a:xfrm>
            <a:off x="10241280" y="457200"/>
            <a:ext cx="1444752" cy="310896"/>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OUTCOME 05</a:t>
            </a:r>
            <a:endParaRPr sz="1000"/>
          </a:p>
        </p:txBody>
      </p:sp>
      <p:sp>
        <p:nvSpPr>
          <p:cNvPr id="4" name="Kicker"/>
          <p:cNvSpPr txBox="1"/>
          <p:nvPr/>
        </p:nvSpPr>
        <p:spPr>
          <a:xfrm>
            <a:off x="502920" y="987552"/>
            <a:ext cx="11183112" cy="502920"/>
          </a:xfrm>
          <a:prstGeom prst="rect">
            <a:avLst/>
          </a:prstGeom>
          <a:noFill/>
        </p:spPr>
        <p:txBody>
          <a:bodyPr wrap="square" anchor="t" lIns="0" tIns="0" rIns="0" bIns="0">
            <a:noAutofit/>
          </a:bodyPr>
          <a:lstStyle/>
          <a:p>
            <a:pPr algn="l"/>
            <a:r>
              <a:rPr sz="1500" b="0" i="0">
                <a:solidFill>
                  <a:srgbClr val="0A5E5D"/>
                </a:solidFill>
              </a:rPr>
              <a:t>Offline replay from the frozen evidence pack, under 60 seconds from upload to export, plus one allowlisted live DNS lookup.</a:t>
            </a:r>
            <a:endParaRPr sz="1200"/>
          </a:p>
        </p:txBody>
      </p:sp>
      <p:sp>
        <p:nvSpPr>
          <p:cNvPr id="5"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66757F"/>
                </a:solidFill>
              </a:rPr>
              <a:t>Team Osprey · Vendor AI footprint · Confidential case-study material, not for distribution</a:t>
            </a:r>
            <a:endParaRPr sz="1200"/>
          </a:p>
        </p:txBody>
      </p:sp>
      <p:sp>
        <p:nvSpPr>
          <p:cNvPr id="6" name="Slide number"/>
          <p:cNvSpPr txBox="1"/>
          <p:nvPr/>
        </p:nvSpPr>
        <p:spPr>
          <a:xfrm>
            <a:off x="10954512" y="6437376"/>
            <a:ext cx="731520" cy="256032"/>
          </a:xfrm>
          <a:prstGeom prst="rect">
            <a:avLst/>
          </a:prstGeom>
          <a:noFill/>
        </p:spPr>
        <p:txBody>
          <a:bodyPr wrap="square" anchor="ctr" lIns="0" tIns="0" rIns="0" bIns="0">
            <a:noAutofit/>
          </a:bodyPr>
          <a:lstStyle/>
          <a:p>
            <a:pPr algn="r"/>
            <a:fld id="{B61D9A99-EB46-5C45-A13F-71069DDE6492}" type="slidenum">
              <a:rPr lang="en-GB" sz="1000" dirty="0">
                <a:solidFill>
                  <a:srgbClr val="66757F"/>
                </a:solidFill>
              </a:rPr>
              <a:t>12</a:t>
            </a:fld>
            <a:endParaRPr sz="1200"/>
          </a:p>
        </p:txBody>
      </p:sp>
      <p:cxnSp>
        <p:nvCxnSpPr>
          <p:cNvPr id="7" name="Timeline spine"/>
          <p:cNvCxnSpPr/>
          <p:nvPr/>
        </p:nvCxnSpPr>
        <p:spPr>
          <a:xfrm>
            <a:off x="731520" y="1965960"/>
            <a:ext cx="0" cy="3730752"/>
          </a:xfrm>
          <a:prstGeom prst="line">
            <a:avLst/>
          </a:prstGeom>
          <a:ln w="25400">
            <a:solidFill>
              <a:srgbClr val="C8D3D9"/>
            </a:solidFill>
          </a:ln>
          <a:effectLst/>
        </p:spPr>
        <p:style>
          <a:lnRef idx="2">
            <a:schemeClr val="accent1"/>
          </a:lnRef>
          <a:fillRef idx="0">
            <a:schemeClr val="accent1"/>
          </a:fillRef>
          <a:effectRef idx="1">
            <a:schemeClr val="accent1"/>
          </a:effectRef>
          <a:fontRef idx="minor">
            <a:schemeClr val="tx1"/>
          </a:fontRef>
        </p:style>
      </p:cxnSp>
      <p:sp>
        <p:nvSpPr>
          <p:cNvPr id="8" name="Demo step 1"/>
          <p:cNvSpPr/>
          <p:nvPr/>
        </p:nvSpPr>
        <p:spPr>
          <a:xfrm>
            <a:off x="530352" y="1764792"/>
            <a:ext cx="402336" cy="402336"/>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i="0">
                <a:solidFill>
                  <a:srgbClr val="FFFFFF"/>
                </a:solidFill>
              </a:rPr>
              <a:t>1</a:t>
            </a:r>
            <a:endParaRPr sz="1200"/>
          </a:p>
        </p:txBody>
      </p:sp>
      <p:sp>
        <p:nvSpPr>
          <p:cNvPr id="9" name="Demo text 1"/>
          <p:cNvSpPr txBox="1"/>
          <p:nvPr/>
        </p:nvSpPr>
        <p:spPr>
          <a:xfrm>
            <a:off x="1097280" y="1709928"/>
            <a:ext cx="6035040" cy="566928"/>
          </a:xfrm>
          <a:prstGeom prst="rect">
            <a:avLst/>
          </a:prstGeom>
          <a:noFill/>
        </p:spPr>
        <p:txBody>
          <a:bodyPr wrap="square" anchor="t" lIns="0" tIns="0" rIns="0" bIns="0">
            <a:noAutofit/>
          </a:bodyPr>
          <a:lstStyle/>
          <a:p>
            <a:pPr algn="l"/>
            <a:r>
              <a:rPr sz="1200" b="1" i="0">
                <a:solidFill>
                  <a:srgbClr val="0C2D36"/>
                </a:solidFill>
              </a:rPr>
              <a:t>Upload the workbook</a:t>
            </a:r>
            <a:endParaRPr sz="1200"/>
          </a:p>
          <a:p>
            <a:pPr algn="l"/>
            <a:r>
              <a:rPr sz="1050" b="0" i="0">
                <a:solidFill>
                  <a:srgbClr val="43535F"/>
                </a:solidFill>
              </a:rPr>
              <a:t>Header typos are tolerated; V-000 is recognised as the worked example and is never written.</a:t>
            </a:r>
            <a:endParaRPr sz="1200"/>
          </a:p>
        </p:txBody>
      </p:sp>
      <p:sp>
        <p:nvSpPr>
          <p:cNvPr id="10" name="Demo time 1"/>
          <p:cNvSpPr txBox="1"/>
          <p:nvPr/>
        </p:nvSpPr>
        <p:spPr>
          <a:xfrm>
            <a:off x="6903720" y="1737360"/>
            <a:ext cx="685800" cy="292608"/>
          </a:xfrm>
          <a:prstGeom prst="rect">
            <a:avLst/>
          </a:prstGeom>
          <a:noFill/>
        </p:spPr>
        <p:txBody>
          <a:bodyPr wrap="square" anchor="t" lIns="0" tIns="0" rIns="0" bIns="0">
            <a:noAutofit/>
          </a:bodyPr>
          <a:lstStyle/>
          <a:p>
            <a:pPr algn="r"/>
            <a:r>
              <a:rPr sz="1200" b="1" i="0">
                <a:solidFill>
                  <a:srgbClr val="0A5E5D"/>
                </a:solidFill>
              </a:rPr>
              <a:t>0:15</a:t>
            </a:r>
            <a:endParaRPr sz="1200"/>
          </a:p>
        </p:txBody>
      </p:sp>
      <p:sp>
        <p:nvSpPr>
          <p:cNvPr id="11" name="Demo step 2"/>
          <p:cNvSpPr/>
          <p:nvPr/>
        </p:nvSpPr>
        <p:spPr>
          <a:xfrm>
            <a:off x="530352" y="2386584"/>
            <a:ext cx="402336" cy="402336"/>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i="0">
                <a:solidFill>
                  <a:srgbClr val="FFFFFF"/>
                </a:solidFill>
              </a:rPr>
              <a:t>2</a:t>
            </a:r>
            <a:endParaRPr sz="1200"/>
          </a:p>
        </p:txBody>
      </p:sp>
      <p:sp>
        <p:nvSpPr>
          <p:cNvPr id="12" name="Demo text 2"/>
          <p:cNvSpPr txBox="1"/>
          <p:nvPr/>
        </p:nvSpPr>
        <p:spPr>
          <a:xfrm>
            <a:off x="1097280" y="2331720"/>
            <a:ext cx="6035040" cy="566928"/>
          </a:xfrm>
          <a:prstGeom prst="rect">
            <a:avLst/>
          </a:prstGeom>
          <a:noFill/>
        </p:spPr>
        <p:txBody>
          <a:bodyPr wrap="square" anchor="t" lIns="0" tIns="0" rIns="0" bIns="0">
            <a:noAutofit/>
          </a:bodyPr>
          <a:lstStyle/>
          <a:p>
            <a:pPr algn="l"/>
            <a:r>
              <a:rPr sz="1200" b="1" i="0">
                <a:solidFill>
                  <a:srgbClr val="0C2D36"/>
                </a:solidFill>
              </a:rPr>
              <a:t>Criticality and HC1</a:t>
            </a:r>
            <a:endParaRPr sz="1200"/>
          </a:p>
          <a:p>
            <a:pPr algn="l"/>
            <a:r>
              <a:rPr sz="1050" b="0" i="0">
                <a:solidFill>
                  <a:srgbClr val="43535F"/>
                </a:solidFill>
              </a:rPr>
              <a:t>BNY scores 79 and the payment-path floor makes it Critical; FSSI's sensitivity line shows why it stays High.</a:t>
            </a:r>
            <a:endParaRPr sz="1200"/>
          </a:p>
        </p:txBody>
      </p:sp>
      <p:sp>
        <p:nvSpPr>
          <p:cNvPr id="13" name="Demo time 2"/>
          <p:cNvSpPr txBox="1"/>
          <p:nvPr/>
        </p:nvSpPr>
        <p:spPr>
          <a:xfrm>
            <a:off x="6903720" y="2359152"/>
            <a:ext cx="685800" cy="292608"/>
          </a:xfrm>
          <a:prstGeom prst="rect">
            <a:avLst/>
          </a:prstGeom>
          <a:noFill/>
        </p:spPr>
        <p:txBody>
          <a:bodyPr wrap="square" anchor="t" lIns="0" tIns="0" rIns="0" bIns="0">
            <a:noAutofit/>
          </a:bodyPr>
          <a:lstStyle/>
          <a:p>
            <a:pPr algn="r"/>
            <a:r>
              <a:rPr sz="1200" b="1" i="0">
                <a:solidFill>
                  <a:srgbClr val="0A5E5D"/>
                </a:solidFill>
              </a:rPr>
              <a:t>0:30</a:t>
            </a:r>
            <a:endParaRPr sz="1200"/>
          </a:p>
        </p:txBody>
      </p:sp>
      <p:sp>
        <p:nvSpPr>
          <p:cNvPr id="14" name="Demo step 3"/>
          <p:cNvSpPr/>
          <p:nvPr/>
        </p:nvSpPr>
        <p:spPr>
          <a:xfrm>
            <a:off x="530352" y="3008375"/>
            <a:ext cx="402336" cy="402336"/>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i="0">
                <a:solidFill>
                  <a:srgbClr val="FFFFFF"/>
                </a:solidFill>
              </a:rPr>
              <a:t>3</a:t>
            </a:r>
            <a:endParaRPr sz="1200"/>
          </a:p>
        </p:txBody>
      </p:sp>
      <p:sp>
        <p:nvSpPr>
          <p:cNvPr id="15" name="Demo text 3"/>
          <p:cNvSpPr txBox="1"/>
          <p:nvPr/>
        </p:nvSpPr>
        <p:spPr>
          <a:xfrm>
            <a:off x="1097280" y="2953512"/>
            <a:ext cx="6035040" cy="566928"/>
          </a:xfrm>
          <a:prstGeom prst="rect">
            <a:avLst/>
          </a:prstGeom>
          <a:noFill/>
        </p:spPr>
        <p:txBody>
          <a:bodyPr wrap="square" anchor="t" lIns="0" tIns="0" rIns="0" bIns="0">
            <a:noAutofit/>
          </a:bodyPr>
          <a:lstStyle/>
          <a:p>
            <a:pPr algn="l"/>
            <a:r>
              <a:rPr sz="1200" b="1" i="0">
                <a:solidFill>
                  <a:srgbClr val="0C2D36"/>
                </a:solidFill>
              </a:rPr>
              <a:t>Replay, then one live check</a:t>
            </a:r>
            <a:endParaRPr sz="1200"/>
          </a:p>
          <a:p>
            <a:pPr algn="l"/>
            <a:r>
              <a:rPr sz="1050" b="0" i="0">
                <a:solidFill>
                  <a:srgbClr val="43535F"/>
                </a:solidFill>
              </a:rPr>
              <a:t>Replay the frozen run offline, then the allowlisted live DNS lookup against the captured record (Evidence page).</a:t>
            </a:r>
            <a:endParaRPr sz="1200"/>
          </a:p>
        </p:txBody>
      </p:sp>
      <p:sp>
        <p:nvSpPr>
          <p:cNvPr id="16" name="Demo time 3"/>
          <p:cNvSpPr txBox="1"/>
          <p:nvPr/>
        </p:nvSpPr>
        <p:spPr>
          <a:xfrm>
            <a:off x="6903720" y="2980944"/>
            <a:ext cx="685800" cy="292608"/>
          </a:xfrm>
          <a:prstGeom prst="rect">
            <a:avLst/>
          </a:prstGeom>
          <a:noFill/>
        </p:spPr>
        <p:txBody>
          <a:bodyPr wrap="square" anchor="t" lIns="0" tIns="0" rIns="0" bIns="0">
            <a:noAutofit/>
          </a:bodyPr>
          <a:lstStyle/>
          <a:p>
            <a:pPr algn="r"/>
            <a:r>
              <a:rPr sz="1200" b="1" i="0">
                <a:solidFill>
                  <a:srgbClr val="0A5E5D"/>
                </a:solidFill>
              </a:rPr>
              <a:t>0:25</a:t>
            </a:r>
            <a:endParaRPr sz="1200"/>
          </a:p>
        </p:txBody>
      </p:sp>
      <p:sp>
        <p:nvSpPr>
          <p:cNvPr id="17" name="Demo step 4"/>
          <p:cNvSpPr/>
          <p:nvPr/>
        </p:nvSpPr>
        <p:spPr>
          <a:xfrm>
            <a:off x="530352" y="3630168"/>
            <a:ext cx="402336" cy="402336"/>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i="0">
                <a:solidFill>
                  <a:srgbClr val="FFFFFF"/>
                </a:solidFill>
              </a:rPr>
              <a:t>4</a:t>
            </a:r>
            <a:endParaRPr sz="1200"/>
          </a:p>
        </p:txBody>
      </p:sp>
      <p:sp>
        <p:nvSpPr>
          <p:cNvPr id="18" name="Demo text 4"/>
          <p:cNvSpPr txBox="1"/>
          <p:nvPr/>
        </p:nvSpPr>
        <p:spPr>
          <a:xfrm>
            <a:off x="1097280" y="3575304"/>
            <a:ext cx="6035040" cy="566928"/>
          </a:xfrm>
          <a:prstGeom prst="rect">
            <a:avLst/>
          </a:prstGeom>
          <a:noFill/>
        </p:spPr>
        <p:txBody>
          <a:bodyPr wrap="square" anchor="t" lIns="0" tIns="0" rIns="0" bIns="0">
            <a:noAutofit/>
          </a:bodyPr>
          <a:lstStyle/>
          <a:p>
            <a:pPr algn="l"/>
            <a:r>
              <a:rPr sz="1200" b="1" i="0">
                <a:solidFill>
                  <a:srgbClr val="0C2D36"/>
                </a:solidFill>
              </a:rPr>
              <a:t>Evidence review (HC2)</a:t>
            </a:r>
            <a:endParaRPr sz="1200"/>
          </a:p>
          <a:p>
            <a:pPr algn="l"/>
            <a:r>
              <a:rPr sz="1000" b="0" i="0">
                <a:solidFill>
                  <a:srgbClr val="43535F"/>
                </a:solidFill>
              </a:rPr>
              <a:t>Fiserv's excerpt V-002-E-0002 with its screenshot, then Re-verify; reject AutomWorx's trap V-001-E-0138, which fails the definition test; compare Gemini with the rules on AutomWorx (90 disagreements).</a:t>
            </a:r>
            <a:endParaRPr sz="1200"/>
          </a:p>
        </p:txBody>
      </p:sp>
      <p:sp>
        <p:nvSpPr>
          <p:cNvPr id="19" name="Demo time 4"/>
          <p:cNvSpPr txBox="1"/>
          <p:nvPr/>
        </p:nvSpPr>
        <p:spPr>
          <a:xfrm>
            <a:off x="6903720" y="3602736"/>
            <a:ext cx="685800" cy="292608"/>
          </a:xfrm>
          <a:prstGeom prst="rect">
            <a:avLst/>
          </a:prstGeom>
          <a:noFill/>
        </p:spPr>
        <p:txBody>
          <a:bodyPr wrap="square" anchor="t" lIns="0" tIns="0" rIns="0" bIns="0">
            <a:noAutofit/>
          </a:bodyPr>
          <a:lstStyle/>
          <a:p>
            <a:pPr algn="r"/>
            <a:r>
              <a:rPr sz="1200" b="1" i="0">
                <a:solidFill>
                  <a:srgbClr val="0A5E5D"/>
                </a:solidFill>
              </a:rPr>
              <a:t>0:40</a:t>
            </a:r>
            <a:endParaRPr sz="1200"/>
          </a:p>
        </p:txBody>
      </p:sp>
      <p:sp>
        <p:nvSpPr>
          <p:cNvPr id="20" name="Demo step 5"/>
          <p:cNvSpPr/>
          <p:nvPr/>
        </p:nvSpPr>
        <p:spPr>
          <a:xfrm>
            <a:off x="530352" y="4251960"/>
            <a:ext cx="402336" cy="402336"/>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i="0">
                <a:solidFill>
                  <a:srgbClr val="FFFFFF"/>
                </a:solidFill>
              </a:rPr>
              <a:t>5</a:t>
            </a:r>
            <a:endParaRPr sz="1200"/>
          </a:p>
        </p:txBody>
      </p:sp>
      <p:sp>
        <p:nvSpPr>
          <p:cNvPr id="21" name="Demo text 5"/>
          <p:cNvSpPr txBox="1"/>
          <p:nvPr/>
        </p:nvSpPr>
        <p:spPr>
          <a:xfrm>
            <a:off x="1097280" y="4197096"/>
            <a:ext cx="6035040" cy="566928"/>
          </a:xfrm>
          <a:prstGeom prst="rect">
            <a:avLst/>
          </a:prstGeom>
          <a:noFill/>
        </p:spPr>
        <p:txBody>
          <a:bodyPr wrap="square" anchor="t" lIns="0" tIns="0" rIns="0" bIns="0">
            <a:noAutofit/>
          </a:bodyPr>
          <a:lstStyle/>
          <a:p>
            <a:pPr algn="l"/>
            <a:r>
              <a:rPr sz="1200" b="1" i="0">
                <a:solidFill>
                  <a:srgbClr val="0C2D36"/>
                </a:solidFill>
              </a:rPr>
              <a:t>Risk, then sign-off (HC2)</a:t>
            </a:r>
            <a:endParaRPr sz="1200"/>
          </a:p>
          <a:p>
            <a:pPr algn="l"/>
            <a:r>
              <a:rPr sz="1050" b="0" i="0">
                <a:solidFill>
                  <a:srgbClr val="43535F"/>
                </a:solidFill>
              </a:rPr>
              <a:t>Fiserv: exposure 2/3, decision impact 3/3, tier 3, transparency gap 2 → 15 of 18 = High, with its flip condition; then Approve accepts its remaining cited excerpts.</a:t>
            </a:r>
            <a:endParaRPr sz="1200"/>
          </a:p>
        </p:txBody>
      </p:sp>
      <p:sp>
        <p:nvSpPr>
          <p:cNvPr id="22" name="Demo time 5"/>
          <p:cNvSpPr txBox="1"/>
          <p:nvPr/>
        </p:nvSpPr>
        <p:spPr>
          <a:xfrm>
            <a:off x="6903720" y="4224528"/>
            <a:ext cx="685800" cy="292608"/>
          </a:xfrm>
          <a:prstGeom prst="rect">
            <a:avLst/>
          </a:prstGeom>
          <a:noFill/>
        </p:spPr>
        <p:txBody>
          <a:bodyPr wrap="square" anchor="t" lIns="0" tIns="0" rIns="0" bIns="0">
            <a:noAutofit/>
          </a:bodyPr>
          <a:lstStyle/>
          <a:p>
            <a:pPr algn="r"/>
            <a:r>
              <a:rPr sz="1200" b="1" i="0">
                <a:solidFill>
                  <a:srgbClr val="0A5E5D"/>
                </a:solidFill>
              </a:rPr>
              <a:t>0:30</a:t>
            </a:r>
            <a:endParaRPr sz="1200"/>
          </a:p>
        </p:txBody>
      </p:sp>
      <p:sp>
        <p:nvSpPr>
          <p:cNvPr id="23" name="Demo step 6"/>
          <p:cNvSpPr/>
          <p:nvPr/>
        </p:nvSpPr>
        <p:spPr>
          <a:xfrm>
            <a:off x="530352" y="4873752"/>
            <a:ext cx="402336" cy="402336"/>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i="0">
                <a:solidFill>
                  <a:srgbClr val="FFFFFF"/>
                </a:solidFill>
              </a:rPr>
              <a:t>6</a:t>
            </a:r>
            <a:endParaRPr sz="1200"/>
          </a:p>
        </p:txBody>
      </p:sp>
      <p:sp>
        <p:nvSpPr>
          <p:cNvPr id="24" name="Demo text 6"/>
          <p:cNvSpPr txBox="1"/>
          <p:nvPr/>
        </p:nvSpPr>
        <p:spPr>
          <a:xfrm>
            <a:off x="1097280" y="4818888"/>
            <a:ext cx="6035040" cy="566928"/>
          </a:xfrm>
          <a:prstGeom prst="rect">
            <a:avLst/>
          </a:prstGeom>
          <a:noFill/>
        </p:spPr>
        <p:txBody>
          <a:bodyPr wrap="square" anchor="t" lIns="0" tIns="0" rIns="0" bIns="0">
            <a:noAutofit/>
          </a:bodyPr>
          <a:lstStyle/>
          <a:p>
            <a:pPr algn="l"/>
            <a:r>
              <a:rPr sz="1200" b="1" i="0">
                <a:solidFill>
                  <a:srgbClr val="0C2D36"/>
                </a:solidFill>
              </a:rPr>
              <a:t>Export and check</a:t>
            </a:r>
            <a:endParaRPr sz="1200"/>
          </a:p>
          <a:p>
            <a:pPr algn="l"/>
            <a:r>
              <a:rPr sz="1050" b="0" i="0">
                <a:solidFill>
                  <a:srgbClr val="43535F"/>
                </a:solidFill>
              </a:rPr>
              <a:t>Build and open the workbook: V-000 untouched, Evidence Log and Coverage Log appended, with 14 screenshots in Evidence Images; the integrity check passes.</a:t>
            </a:r>
            <a:endParaRPr sz="1200"/>
          </a:p>
        </p:txBody>
      </p:sp>
      <p:sp>
        <p:nvSpPr>
          <p:cNvPr id="25" name="Demo time 6"/>
          <p:cNvSpPr txBox="1"/>
          <p:nvPr/>
        </p:nvSpPr>
        <p:spPr>
          <a:xfrm>
            <a:off x="6903720" y="4846320"/>
            <a:ext cx="685800" cy="292608"/>
          </a:xfrm>
          <a:prstGeom prst="rect">
            <a:avLst/>
          </a:prstGeom>
          <a:noFill/>
        </p:spPr>
        <p:txBody>
          <a:bodyPr wrap="square" anchor="t" lIns="0" tIns="0" rIns="0" bIns="0">
            <a:noAutofit/>
          </a:bodyPr>
          <a:lstStyle/>
          <a:p>
            <a:pPr algn="r"/>
            <a:r>
              <a:rPr sz="1200" b="1" i="0">
                <a:solidFill>
                  <a:srgbClr val="0A5E5D"/>
                </a:solidFill>
              </a:rPr>
              <a:t>0:30</a:t>
            </a:r>
            <a:endParaRPr sz="1200"/>
          </a:p>
        </p:txBody>
      </p:sp>
      <p:sp>
        <p:nvSpPr>
          <p:cNvPr id="26" name="Demo step 7"/>
          <p:cNvSpPr/>
          <p:nvPr/>
        </p:nvSpPr>
        <p:spPr>
          <a:xfrm>
            <a:off x="530352" y="5495544"/>
            <a:ext cx="402336" cy="402336"/>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i="0">
                <a:solidFill>
                  <a:srgbClr val="FFFFFF"/>
                </a:solidFill>
              </a:rPr>
              <a:t>7</a:t>
            </a:r>
            <a:endParaRPr sz="1200"/>
          </a:p>
        </p:txBody>
      </p:sp>
      <p:sp>
        <p:nvSpPr>
          <p:cNvPr id="27" name="Demo text 7"/>
          <p:cNvSpPr txBox="1"/>
          <p:nvPr/>
        </p:nvSpPr>
        <p:spPr>
          <a:xfrm>
            <a:off x="1097280" y="5440679"/>
            <a:ext cx="6035040" cy="566928"/>
          </a:xfrm>
          <a:prstGeom prst="rect">
            <a:avLst/>
          </a:prstGeom>
          <a:noFill/>
        </p:spPr>
        <p:txBody>
          <a:bodyPr wrap="square" anchor="t" lIns="0" tIns="0" rIns="0" bIns="0">
            <a:noAutofit/>
          </a:bodyPr>
          <a:lstStyle/>
          <a:p>
            <a:pPr algn="l"/>
            <a:r>
              <a:rPr sz="1200" b="1" i="0">
                <a:solidFill>
                  <a:srgbClr val="0C2D36"/>
                </a:solidFill>
              </a:rPr>
              <a:t>Spare time</a:t>
            </a:r>
            <a:endParaRPr sz="1200"/>
          </a:p>
          <a:p>
            <a:pPr algn="l"/>
            <a:r>
              <a:rPr sz="1050" b="0" i="0">
                <a:solidFill>
                  <a:srgbClr val="43535F"/>
                </a:solidFill>
              </a:rPr>
              <a:t>The V-000 worked example on Findings &amp; Risk: a calibration check the export never writes.</a:t>
            </a:r>
            <a:endParaRPr sz="1200"/>
          </a:p>
        </p:txBody>
      </p:sp>
      <p:sp>
        <p:nvSpPr>
          <p:cNvPr id="28" name="Demo time 7"/>
          <p:cNvSpPr txBox="1"/>
          <p:nvPr/>
        </p:nvSpPr>
        <p:spPr>
          <a:xfrm>
            <a:off x="6903720" y="5468112"/>
            <a:ext cx="685800" cy="292608"/>
          </a:xfrm>
          <a:prstGeom prst="rect">
            <a:avLst/>
          </a:prstGeom>
          <a:noFill/>
        </p:spPr>
        <p:txBody>
          <a:bodyPr wrap="square" anchor="t" lIns="0" tIns="0" rIns="0" bIns="0">
            <a:noAutofit/>
          </a:bodyPr>
          <a:lstStyle/>
          <a:p>
            <a:pPr algn="r"/>
            <a:r>
              <a:rPr sz="1200" b="1" i="0">
                <a:solidFill>
                  <a:srgbClr val="0A5E5D"/>
                </a:solidFill>
              </a:rPr>
              <a:t>0:10</a:t>
            </a:r>
            <a:endParaRPr sz="1200"/>
          </a:p>
        </p:txBody>
      </p:sp>
      <p:sp>
        <p:nvSpPr>
          <p:cNvPr id="29" name="Demo total"/>
          <p:cNvSpPr txBox="1"/>
          <p:nvPr/>
        </p:nvSpPr>
        <p:spPr>
          <a:xfrm>
            <a:off x="5760720" y="6062472"/>
            <a:ext cx="1828800" cy="274320"/>
          </a:xfrm>
          <a:prstGeom prst="rect">
            <a:avLst/>
          </a:prstGeom>
          <a:noFill/>
        </p:spPr>
        <p:txBody>
          <a:bodyPr wrap="square" anchor="t" lIns="0" tIns="0" rIns="0" bIns="0">
            <a:noAutofit/>
          </a:bodyPr>
          <a:lstStyle/>
          <a:p>
            <a:pPr algn="r"/>
            <a:r>
              <a:rPr sz="1100" b="1" i="0">
                <a:solidFill>
                  <a:srgbClr val="0C2D36"/>
                </a:solidFill>
              </a:rPr>
              <a:t>total 3:00</a:t>
            </a:r>
            <a:endParaRPr sz="1200"/>
          </a:p>
        </p:txBody>
      </p:sp>
      <p:sp>
        <p:nvSpPr>
          <p:cNvPr id="30" name="Brief card"/>
          <p:cNvSpPr/>
          <p:nvPr/>
        </p:nvSpPr>
        <p:spPr>
          <a:xfrm>
            <a:off x="8001000" y="1691640"/>
            <a:ext cx="3685032" cy="1426464"/>
          </a:xfrm>
          <a:prstGeom prst="roundRect">
            <a:avLst>
              <a:gd name="adj" fmla="val 6410"/>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What the brief asks the demo to show</a:t>
            </a:r>
            <a:endParaRPr sz="1200"/>
          </a:p>
          <a:p>
            <a:pPr algn="l" marL="146304" indent="-146304">
              <a:spcAft>
                <a:spcPts val="300"/>
              </a:spcAft>
              <a:buClr>
                <a:srgbClr val="0E7C7B"/>
              </a:buClr>
              <a:buSzPct val="100000"/>
              <a:buFont typeface="Arial"/>
              <a:buChar char="•"/>
            </a:pPr>
            <a:r>
              <a:rPr sz="1150" b="0" i="0">
                <a:solidFill>
                  <a:srgbClr val="43535F"/>
                </a:solidFill>
              </a:rPr>
              <a:t>upload Meridian's vendor list</a:t>
            </a:r>
            <a:endParaRPr sz="1200"/>
          </a:p>
          <a:p>
            <a:pPr algn="l" marL="146304" indent="-146304">
              <a:spcAft>
                <a:spcPts val="300"/>
              </a:spcAft>
              <a:buClr>
                <a:srgbClr val="0E7C7B"/>
              </a:buClr>
              <a:buSzPct val="100000"/>
              <a:buFont typeface="Arial"/>
              <a:buChar char="•"/>
            </a:pPr>
            <a:r>
              <a:rPr sz="1150" b="0" i="0">
                <a:solidFill>
                  <a:srgbClr val="43535F"/>
                </a:solidFill>
              </a:rPr>
              <a:t>analyse every vendor from public evidence</a:t>
            </a:r>
            <a:endParaRPr sz="1200"/>
          </a:p>
          <a:p>
            <a:pPr algn="l" marL="146304" indent="-146304">
              <a:spcAft>
                <a:spcPts val="300"/>
              </a:spcAft>
              <a:buClr>
                <a:srgbClr val="0E7C7B"/>
              </a:buClr>
              <a:buSzPct val="100000"/>
              <a:buFont typeface="Arial"/>
              <a:buChar char="•"/>
            </a:pPr>
            <a:r>
              <a:rPr sz="1150" b="0" i="0">
                <a:solidFill>
                  <a:srgbClr val="43535F"/>
                </a:solidFill>
              </a:rPr>
              <a:t>classify the AI security risk per vendor</a:t>
            </a:r>
            <a:endParaRPr sz="1200"/>
          </a:p>
        </p:txBody>
      </p:sp>
      <p:sp>
        <p:nvSpPr>
          <p:cNvPr id="31" name="Safety card"/>
          <p:cNvSpPr/>
          <p:nvPr/>
        </p:nvSpPr>
        <p:spPr>
          <a:xfrm>
            <a:off x="8001000" y="3264408"/>
            <a:ext cx="3685032" cy="1426464"/>
          </a:xfrm>
          <a:prstGeom prst="roundRect">
            <a:avLst>
              <a:gd name="adj" fmla="val 6410"/>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Safety net</a:t>
            </a:r>
            <a:endParaRPr sz="1200"/>
          </a:p>
          <a:p>
            <a:pPr algn="l" marL="146304" indent="-146304">
              <a:spcAft>
                <a:spcPts val="300"/>
              </a:spcAft>
              <a:buClr>
                <a:srgbClr val="0E7C7B"/>
              </a:buClr>
              <a:buSzPct val="100000"/>
              <a:buFont typeface="Arial"/>
              <a:buChar char="•"/>
            </a:pPr>
            <a:r>
              <a:rPr sz="1150" b="0" i="0">
                <a:solidFill>
                  <a:srgbClr val="43535F"/>
                </a:solidFill>
              </a:rPr>
              <a:t>default: offline replay, no network or quota</a:t>
            </a:r>
            <a:endParaRPr sz="1200"/>
          </a:p>
          <a:p>
            <a:pPr algn="l" marL="146304" indent="-146304">
              <a:spcAft>
                <a:spcPts val="300"/>
              </a:spcAft>
              <a:buClr>
                <a:srgbClr val="0E7C7B"/>
              </a:buClr>
              <a:buSzPct val="100000"/>
              <a:buFont typeface="Arial"/>
              <a:buChar char="•"/>
            </a:pPr>
            <a:r>
              <a:rPr sz="1150" b="0" i="0">
                <a:solidFill>
                  <a:srgbClr val="43535F"/>
                </a:solidFill>
              </a:rPr>
              <a:t>Plan B: the same engine in local Jupyter</a:t>
            </a:r>
            <a:endParaRPr sz="1200"/>
          </a:p>
          <a:p>
            <a:pPr algn="l" marL="146304" indent="-146304">
              <a:spcAft>
                <a:spcPts val="300"/>
              </a:spcAft>
              <a:buClr>
                <a:srgbClr val="0E7C7B"/>
              </a:buClr>
              <a:buSzPct val="100000"/>
              <a:buFont typeface="Arial"/>
              <a:buChar char="•"/>
            </a:pPr>
            <a:r>
              <a:rPr sz="1150" b="0" i="0">
                <a:solidFill>
                  <a:srgbClr val="43535F"/>
                </a:solidFill>
              </a:rPr>
              <a:t>Plan C: a recorded run of these steps</a:t>
            </a:r>
            <a:endParaRPr sz="1200"/>
          </a:p>
        </p:txBody>
      </p:sp>
      <p:sp>
        <p:nvSpPr>
          <p:cNvPr id="32" name="Watch card"/>
          <p:cNvSpPr/>
          <p:nvPr/>
        </p:nvSpPr>
        <p:spPr>
          <a:xfrm>
            <a:off x="8001000" y="4837176"/>
            <a:ext cx="3685032" cy="1426464"/>
          </a:xfrm>
          <a:prstGeom prst="roundRect">
            <a:avLst>
              <a:gd name="adj" fmla="val 6410"/>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Watch for</a:t>
            </a:r>
            <a:endParaRPr sz="1200"/>
          </a:p>
          <a:p>
            <a:pPr algn="l" marL="146304" indent="-146304">
              <a:spcAft>
                <a:spcPts val="300"/>
              </a:spcAft>
              <a:buClr>
                <a:srgbClr val="0E7C7B"/>
              </a:buClr>
              <a:buSzPct val="100000"/>
              <a:buFont typeface="Arial"/>
              <a:buChar char="•"/>
            </a:pPr>
            <a:r>
              <a:rPr sz="1150" b="0" i="0">
                <a:solidFill>
                  <a:srgbClr val="43535F"/>
                </a:solidFill>
              </a:rPr>
              <a:t>each excerpt re-verifies against its SHA-256 capture</a:t>
            </a:r>
            <a:endParaRPr sz="1200"/>
          </a:p>
          <a:p>
            <a:pPr algn="l" marL="146304" indent="-146304">
              <a:spcAft>
                <a:spcPts val="300"/>
              </a:spcAft>
              <a:buClr>
                <a:srgbClr val="0E7C7B"/>
              </a:buClr>
              <a:buSzPct val="100000"/>
              <a:buFont typeface="Arial"/>
              <a:buChar char="•"/>
            </a:pPr>
            <a:r>
              <a:rPr sz="1150" b="0" i="0">
                <a:solidFill>
                  <a:srgbClr val="43535F"/>
                </a:solidFill>
              </a:rPr>
              <a:t>Gemini and rule labels side by side</a:t>
            </a:r>
            <a:endParaRPr sz="1200"/>
          </a:p>
          <a:p>
            <a:pPr algn="l" marL="146304" indent="-146304">
              <a:spcAft>
                <a:spcPts val="300"/>
              </a:spcAft>
              <a:buClr>
                <a:srgbClr val="0E7C7B"/>
              </a:buClr>
              <a:buSzPct val="100000"/>
              <a:buFont typeface="Arial"/>
              <a:buChar char="•"/>
            </a:pPr>
            <a:r>
              <a:rPr sz="1150" b="0" i="0">
                <a:solidFill>
                  <a:srgbClr val="43535F"/>
                </a:solidFill>
              </a:rPr>
              <a:t>V-000 and every provided cell untouched</a:t>
            </a:r>
            <a:endParaRPr sz="12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10896"/>
            <a:ext cx="9509760" cy="640080"/>
          </a:xfrm>
        </p:spPr>
        <p:txBody>
          <a:bodyPr wrap="square" anchor="b" lIns="0" tIns="0" rIns="0" bIns="0">
            <a:noAutofit/>
          </a:bodyPr>
          <a:lstStyle/>
          <a:p>
            <a:pPr algn="l"/>
            <a:r>
              <a:rPr sz="3000" b="1" i="0">
                <a:solidFill>
                  <a:srgbClr val="0C2D36"/>
                </a:solidFill>
              </a:rPr>
              <a:t>Recommendations, controls and limits</a:t>
            </a:r>
            <a:endParaRPr sz="1200"/>
          </a:p>
        </p:txBody>
      </p:sp>
      <p:sp>
        <p:nvSpPr>
          <p:cNvPr id="3" name="Corner tag"/>
          <p:cNvSpPr/>
          <p:nvPr/>
        </p:nvSpPr>
        <p:spPr>
          <a:xfrm>
            <a:off x="10241280" y="457200"/>
            <a:ext cx="1444752" cy="310896"/>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NEXT STEPS</a:t>
            </a:r>
            <a:endParaRPr sz="1000"/>
          </a:p>
        </p:txBody>
      </p:sp>
      <p:sp>
        <p:nvSpPr>
          <p:cNvPr id="4" name="Kicker"/>
          <p:cNvSpPr txBox="1"/>
          <p:nvPr/>
        </p:nvSpPr>
        <p:spPr>
          <a:xfrm>
            <a:off x="502920" y="987552"/>
            <a:ext cx="11183112" cy="502920"/>
          </a:xfrm>
          <a:prstGeom prst="rect">
            <a:avLst/>
          </a:prstGeom>
          <a:noFill/>
        </p:spPr>
        <p:txBody>
          <a:bodyPr wrap="square" anchor="t" lIns="0" tIns="0" rIns="0" bIns="0">
            <a:noAutofit/>
          </a:bodyPr>
          <a:lstStyle/>
          <a:p>
            <a:pPr algn="l"/>
            <a:r>
              <a:rPr sz="1500" b="0" i="0">
                <a:solidFill>
                  <a:srgbClr val="0A5E5D"/>
                </a:solidFill>
              </a:rPr>
              <a:t>What Meridian should do next, how we kept the work confidential and reproducible, and what public evidence cannot tell us.</a:t>
            </a:r>
            <a:endParaRPr sz="1200"/>
          </a:p>
        </p:txBody>
      </p:sp>
      <p:sp>
        <p:nvSpPr>
          <p:cNvPr id="5"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66757F"/>
                </a:solidFill>
              </a:rPr>
              <a:t>Team Osprey · Vendor AI footprint · Confidential case-study material, not for distribution</a:t>
            </a:r>
            <a:endParaRPr sz="1200"/>
          </a:p>
        </p:txBody>
      </p:sp>
      <p:sp>
        <p:nvSpPr>
          <p:cNvPr id="6" name="Slide number"/>
          <p:cNvSpPr txBox="1"/>
          <p:nvPr/>
        </p:nvSpPr>
        <p:spPr>
          <a:xfrm>
            <a:off x="10954512" y="6437376"/>
            <a:ext cx="731520" cy="256032"/>
          </a:xfrm>
          <a:prstGeom prst="rect">
            <a:avLst/>
          </a:prstGeom>
          <a:noFill/>
        </p:spPr>
        <p:txBody>
          <a:bodyPr wrap="square" anchor="ctr" lIns="0" tIns="0" rIns="0" bIns="0">
            <a:noAutofit/>
          </a:bodyPr>
          <a:lstStyle/>
          <a:p>
            <a:pPr algn="r"/>
            <a:fld id="{7DC0731F-BBB3-5065-A5CC-7A95D23BA429}" type="slidenum">
              <a:rPr lang="en-GB" sz="1000" dirty="0">
                <a:solidFill>
                  <a:srgbClr val="66757F"/>
                </a:solidFill>
              </a:rPr>
              <a:t>13</a:t>
            </a:fld>
            <a:endParaRPr sz="1200"/>
          </a:p>
        </p:txBody>
      </p:sp>
      <p:sp>
        <p:nvSpPr>
          <p:cNvPr id="7" name="Column Next 30 days"/>
          <p:cNvSpPr/>
          <p:nvPr/>
        </p:nvSpPr>
        <p:spPr>
          <a:xfrm>
            <a:off x="502920" y="1691640"/>
            <a:ext cx="2658618" cy="3840480"/>
          </a:xfrm>
          <a:prstGeom prst="roundRect">
            <a:avLst>
              <a:gd name="adj" fmla="val 4127"/>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8" name="Column badge Next 30 days"/>
          <p:cNvSpPr/>
          <p:nvPr/>
        </p:nvSpPr>
        <p:spPr>
          <a:xfrm>
            <a:off x="640080" y="1819656"/>
            <a:ext cx="384048" cy="384048"/>
          </a:xfrm>
          <a:prstGeom prst="ellipse">
            <a:avLst/>
          </a:prstGeom>
          <a:solidFill>
            <a:srgbClr val="0C2D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i="0">
                <a:solidFill>
                  <a:srgbClr val="FFFFFF"/>
                </a:solidFill>
              </a:rPr>
              <a:t>1</a:t>
            </a:r>
            <a:endParaRPr sz="1200"/>
          </a:p>
        </p:txBody>
      </p:sp>
      <p:sp>
        <p:nvSpPr>
          <p:cNvPr id="9" name="Column title Next 30 days"/>
          <p:cNvSpPr txBox="1"/>
          <p:nvPr/>
        </p:nvSpPr>
        <p:spPr>
          <a:xfrm>
            <a:off x="1124712" y="1828800"/>
            <a:ext cx="1945386" cy="384048"/>
          </a:xfrm>
          <a:prstGeom prst="rect">
            <a:avLst/>
          </a:prstGeom>
          <a:noFill/>
        </p:spPr>
        <p:txBody>
          <a:bodyPr wrap="square" anchor="ctr" lIns="0" tIns="0" rIns="0" bIns="0">
            <a:noAutofit/>
          </a:bodyPr>
          <a:lstStyle/>
          <a:p>
            <a:pPr algn="l"/>
            <a:r>
              <a:rPr sz="1300" b="1" i="0">
                <a:solidFill>
                  <a:srgbClr val="0C2D36"/>
                </a:solidFill>
              </a:rPr>
              <a:t>Next 30 days</a:t>
            </a:r>
            <a:endParaRPr sz="1200"/>
          </a:p>
        </p:txBody>
      </p:sp>
      <p:sp>
        <p:nvSpPr>
          <p:cNvPr id="10" name="Column text Next 30 days"/>
          <p:cNvSpPr txBox="1"/>
          <p:nvPr/>
        </p:nvSpPr>
        <p:spPr>
          <a:xfrm>
            <a:off x="649224" y="2395728"/>
            <a:ext cx="2384298" cy="3063240"/>
          </a:xfrm>
          <a:prstGeom prst="rect">
            <a:avLst/>
          </a:prstGeom>
          <a:noFill/>
        </p:spPr>
        <p:txBody>
          <a:bodyPr wrap="square" anchor="t" lIns="0" tIns="0" rIns="0" bIns="0">
            <a:noAutofit/>
          </a:bodyPr>
          <a:lstStyle/>
          <a:p>
            <a:pPr algn="l" marL="146304" indent="-146304">
              <a:spcAft>
                <a:spcPts val="600"/>
              </a:spcAft>
              <a:buClr>
                <a:srgbClr val="0E7C7B"/>
              </a:buClr>
              <a:buSzPct val="100000"/>
              <a:buFont typeface="Arial"/>
              <a:buChar char="•"/>
            </a:pPr>
            <a:r>
              <a:rPr sz="1100" b="0" i="0">
                <a:solidFill>
                  <a:srgbClr val="43535F"/>
                </a:solidFill>
              </a:rPr>
              <a:t>Send a targeted AI questionnaire to Fiserv, BNY and TCH within 15 business days.</a:t>
            </a:r>
            <a:endParaRPr sz="1200"/>
          </a:p>
          <a:p>
            <a:pPr algn="l" marL="146304" indent="-146304">
              <a:spcAft>
                <a:spcPts val="600"/>
              </a:spcAft>
              <a:buClr>
                <a:srgbClr val="0E7C7B"/>
              </a:buClr>
              <a:buSzPct val="100000"/>
              <a:buFont typeface="Arial"/>
              <a:buChar char="•"/>
            </a:pPr>
            <a:r>
              <a:rPr sz="1100" b="0" i="0">
                <a:solidFill>
                  <a:srgbClr val="43535F"/>
                </a:solidFill>
              </a:rPr>
              <a:t>Put questions Q1–Q4 to AutomWorx and Terrapin within 15 business days, then reclassify on the answers.</a:t>
            </a:r>
            <a:endParaRPr sz="1200"/>
          </a:p>
          <a:p>
            <a:pPr algn="l" marL="146304" indent="-146304">
              <a:spcAft>
                <a:spcPts val="600"/>
              </a:spcAft>
              <a:buClr>
                <a:srgbClr val="0E7C7B"/>
              </a:buClr>
              <a:buSzPct val="100000"/>
              <a:buFont typeface="Arial"/>
              <a:buChar char="•"/>
            </a:pPr>
            <a:r>
              <a:rPr sz="1100" b="0" i="0">
                <a:solidFill>
                  <a:srgbClr val="43535F"/>
                </a:solidFill>
              </a:rPr>
              <a:t>Register AI sub-processors on Meridian's inventory (agentOS, AI Hub, Anthropic, Eliza, Eliza 2.0, Eliza AI platform and 7 more), flagging unresolved providers.</a:t>
            </a:r>
            <a:endParaRPr sz="1200"/>
          </a:p>
          <a:p>
            <a:pPr algn="l" marL="146304" indent="-146304">
              <a:spcAft>
                <a:spcPts val="600"/>
              </a:spcAft>
              <a:buClr>
                <a:srgbClr val="0E7C7B"/>
              </a:buClr>
              <a:buSzPct val="100000"/>
              <a:buFont typeface="Arial"/>
              <a:buChar char="•"/>
            </a:pPr>
            <a:r>
              <a:rPr sz="1100" b="0" i="0">
                <a:solidFill>
                  <a:srgbClr val="43535F"/>
                </a:solidFill>
              </a:rPr>
              <a:t>Ask FSSI for a written no-AI attestation and an AI change-notification clause.</a:t>
            </a:r>
            <a:endParaRPr sz="1200"/>
          </a:p>
        </p:txBody>
      </p:sp>
      <p:sp>
        <p:nvSpPr>
          <p:cNvPr id="11" name="Column 30–90 days"/>
          <p:cNvSpPr/>
          <p:nvPr/>
        </p:nvSpPr>
        <p:spPr>
          <a:xfrm>
            <a:off x="3344418" y="1691640"/>
            <a:ext cx="2658618" cy="3840480"/>
          </a:xfrm>
          <a:prstGeom prst="roundRect">
            <a:avLst>
              <a:gd name="adj" fmla="val 4127"/>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12" name="Column badge 30–90 days"/>
          <p:cNvSpPr/>
          <p:nvPr/>
        </p:nvSpPr>
        <p:spPr>
          <a:xfrm>
            <a:off x="3481578" y="1819656"/>
            <a:ext cx="384048" cy="384048"/>
          </a:xfrm>
          <a:prstGeom prst="ellipse">
            <a:avLst/>
          </a:prstGeom>
          <a:solidFill>
            <a:srgbClr val="0C2D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i="0">
                <a:solidFill>
                  <a:srgbClr val="FFFFFF"/>
                </a:solidFill>
              </a:rPr>
              <a:t>2</a:t>
            </a:r>
            <a:endParaRPr sz="1200"/>
          </a:p>
        </p:txBody>
      </p:sp>
      <p:sp>
        <p:nvSpPr>
          <p:cNvPr id="13" name="Column title 30–90 days"/>
          <p:cNvSpPr txBox="1"/>
          <p:nvPr/>
        </p:nvSpPr>
        <p:spPr>
          <a:xfrm>
            <a:off x="3966210" y="1828800"/>
            <a:ext cx="1945386" cy="384048"/>
          </a:xfrm>
          <a:prstGeom prst="rect">
            <a:avLst/>
          </a:prstGeom>
          <a:noFill/>
        </p:spPr>
        <p:txBody>
          <a:bodyPr wrap="square" anchor="ctr" lIns="0" tIns="0" rIns="0" bIns="0">
            <a:noAutofit/>
          </a:bodyPr>
          <a:lstStyle/>
          <a:p>
            <a:pPr algn="l"/>
            <a:r>
              <a:rPr sz="1300" b="1" i="0">
                <a:solidFill>
                  <a:srgbClr val="0C2D36"/>
                </a:solidFill>
              </a:rPr>
              <a:t>30–90 days</a:t>
            </a:r>
            <a:endParaRPr sz="1200"/>
          </a:p>
        </p:txBody>
      </p:sp>
      <p:sp>
        <p:nvSpPr>
          <p:cNvPr id="14" name="Column text 30–90 days"/>
          <p:cNvSpPr txBox="1"/>
          <p:nvPr/>
        </p:nvSpPr>
        <p:spPr>
          <a:xfrm>
            <a:off x="3490722" y="2395728"/>
            <a:ext cx="2384298" cy="3063240"/>
          </a:xfrm>
          <a:prstGeom prst="rect">
            <a:avLst/>
          </a:prstGeom>
          <a:noFill/>
        </p:spPr>
        <p:txBody>
          <a:bodyPr wrap="square" anchor="t" lIns="0" tIns="0" rIns="0" bIns="0">
            <a:noAutofit/>
          </a:bodyPr>
          <a:lstStyle/>
          <a:p>
            <a:pPr algn="l" marL="146304" indent="-146304">
              <a:spcAft>
                <a:spcPts val="600"/>
              </a:spcAft>
              <a:buClr>
                <a:srgbClr val="0E7C7B"/>
              </a:buClr>
              <a:buSzPct val="100000"/>
              <a:buFont typeface="Arial"/>
              <a:buChar char="•"/>
            </a:pPr>
            <a:r>
              <a:rPr sz="1100" b="0" i="0">
                <a:solidFill>
                  <a:srgbClr val="43535F"/>
                </a:solidFill>
              </a:rPr>
              <a:t>Add AI clauses at the next contract review: training limits, sub-processor change notice, human-oversight thresholds, attestation rights.</a:t>
            </a:r>
            <a:endParaRPr sz="1200"/>
          </a:p>
          <a:p>
            <a:pPr algn="l" marL="146304" indent="-146304">
              <a:spcAft>
                <a:spcPts val="600"/>
              </a:spcAft>
              <a:buClr>
                <a:srgbClr val="0E7C7B"/>
              </a:buClr>
              <a:buSzPct val="100000"/>
              <a:buFont typeface="Arial"/>
              <a:buChar char="•"/>
            </a:pPr>
            <a:r>
              <a:rPr sz="1100" b="0" i="0">
                <a:solidFill>
                  <a:srgbClr val="43535F"/>
                </a:solidFill>
              </a:rPr>
              <a:t>Escalate vendors that do not answer to the Third-Party Risk Committee.</a:t>
            </a:r>
            <a:endParaRPr sz="1200"/>
          </a:p>
          <a:p>
            <a:pPr algn="l" marL="146304" indent="-146304">
              <a:spcAft>
                <a:spcPts val="600"/>
              </a:spcAft>
              <a:buClr>
                <a:srgbClr val="0E7C7B"/>
              </a:buClr>
              <a:buSzPct val="100000"/>
              <a:buFont typeface="Arial"/>
              <a:buChar char="•"/>
            </a:pPr>
            <a:r>
              <a:rPr sz="1100" b="0" i="0">
                <a:solidFill>
                  <a:srgbClr val="43535F"/>
                </a:solidFill>
              </a:rPr>
              <a:t>Re-scan annually or on material change; replay keeps runs comparable.</a:t>
            </a:r>
            <a:endParaRPr sz="1200"/>
          </a:p>
        </p:txBody>
      </p:sp>
      <p:sp>
        <p:nvSpPr>
          <p:cNvPr id="15" name="Column Controls we practised"/>
          <p:cNvSpPr/>
          <p:nvPr/>
        </p:nvSpPr>
        <p:spPr>
          <a:xfrm>
            <a:off x="6185916" y="1691640"/>
            <a:ext cx="2658618" cy="3840480"/>
          </a:xfrm>
          <a:prstGeom prst="roundRect">
            <a:avLst>
              <a:gd name="adj" fmla="val 4127"/>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16" name="Column badge Controls we practised"/>
          <p:cNvSpPr/>
          <p:nvPr/>
        </p:nvSpPr>
        <p:spPr>
          <a:xfrm>
            <a:off x="6323076" y="1819656"/>
            <a:ext cx="384048" cy="384048"/>
          </a:xfrm>
          <a:prstGeom prst="ellipse">
            <a:avLst/>
          </a:prstGeom>
          <a:solidFill>
            <a:srgbClr val="0C2D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i="0">
                <a:solidFill>
                  <a:srgbClr val="FFFFFF"/>
                </a:solidFill>
              </a:rPr>
              <a:t>✓</a:t>
            </a:r>
            <a:endParaRPr sz="1200"/>
          </a:p>
        </p:txBody>
      </p:sp>
      <p:sp>
        <p:nvSpPr>
          <p:cNvPr id="17" name="Column title Controls we practised"/>
          <p:cNvSpPr txBox="1"/>
          <p:nvPr/>
        </p:nvSpPr>
        <p:spPr>
          <a:xfrm>
            <a:off x="6807708" y="1828800"/>
            <a:ext cx="1945386" cy="384048"/>
          </a:xfrm>
          <a:prstGeom prst="rect">
            <a:avLst/>
          </a:prstGeom>
          <a:noFill/>
        </p:spPr>
        <p:txBody>
          <a:bodyPr wrap="square" anchor="ctr" lIns="0" tIns="0" rIns="0" bIns="0">
            <a:noAutofit/>
          </a:bodyPr>
          <a:lstStyle/>
          <a:p>
            <a:pPr algn="l"/>
            <a:r>
              <a:rPr sz="1300" b="1" i="0">
                <a:solidFill>
                  <a:srgbClr val="0C2D36"/>
                </a:solidFill>
              </a:rPr>
              <a:t>Controls we practised</a:t>
            </a:r>
            <a:endParaRPr sz="1200"/>
          </a:p>
        </p:txBody>
      </p:sp>
      <p:sp>
        <p:nvSpPr>
          <p:cNvPr id="18" name="Column text Controls we practised"/>
          <p:cNvSpPr txBox="1"/>
          <p:nvPr/>
        </p:nvSpPr>
        <p:spPr>
          <a:xfrm>
            <a:off x="6332220" y="2395728"/>
            <a:ext cx="2384298" cy="3063240"/>
          </a:xfrm>
          <a:prstGeom prst="rect">
            <a:avLst/>
          </a:prstGeom>
          <a:noFill/>
        </p:spPr>
        <p:txBody>
          <a:bodyPr wrap="square" anchor="t" lIns="0" tIns="0" rIns="0" bIns="0">
            <a:noAutofit/>
          </a:bodyPr>
          <a:lstStyle/>
          <a:p>
            <a:pPr algn="l" marL="146304" indent="-146304">
              <a:spcAft>
                <a:spcPts val="600"/>
              </a:spcAft>
              <a:buClr>
                <a:srgbClr val="0E7C7B"/>
              </a:buClr>
              <a:buSzPct val="100000"/>
              <a:buFont typeface="Arial"/>
              <a:buChar char="•"/>
            </a:pPr>
            <a:r>
              <a:rPr sz="1100" b="0" i="0">
                <a:solidFill>
                  <a:srgbClr val="43535F"/>
                </a:solidFill>
              </a:rPr>
              <a:t>Private repository; nothing published; no vendor contacted; GET requests only.</a:t>
            </a:r>
            <a:endParaRPr sz="1200"/>
          </a:p>
          <a:p>
            <a:pPr algn="l" marL="146304" indent="-146304">
              <a:spcAft>
                <a:spcPts val="600"/>
              </a:spcAft>
              <a:buClr>
                <a:srgbClr val="0E7C7B"/>
              </a:buClr>
              <a:buSzPct val="100000"/>
              <a:buFont typeface="Arial"/>
              <a:buChar char="•"/>
            </a:pPr>
            <a:r>
              <a:rPr sz="1100" b="0" i="0">
                <a:solidFill>
                  <a:srgbClr val="43535F"/>
                </a:solidFill>
              </a:rPr>
              <a:t>Terms register, robots.txt and rate limits before every request; barred sites captured by hand.</a:t>
            </a:r>
            <a:endParaRPr sz="1200"/>
          </a:p>
          <a:p>
            <a:pPr algn="l" marL="146304" indent="-146304">
              <a:spcAft>
                <a:spcPts val="600"/>
              </a:spcAft>
              <a:buClr>
                <a:srgbClr val="0E7C7B"/>
              </a:buClr>
              <a:buSzPct val="100000"/>
              <a:buFont typeface="Arial"/>
              <a:buChar char="•"/>
            </a:pPr>
            <a:r>
              <a:rPr sz="1100" b="0" i="0">
                <a:solidFill>
                  <a:srgbClr val="43535F"/>
                </a:solidFill>
              </a:rPr>
              <a:t>Only public vendor text reaches Gemini, through the payload guard, with an audit log.</a:t>
            </a:r>
            <a:endParaRPr sz="1200"/>
          </a:p>
          <a:p>
            <a:pPr algn="l" marL="146304" indent="-146304">
              <a:spcAft>
                <a:spcPts val="600"/>
              </a:spcAft>
              <a:buClr>
                <a:srgbClr val="0E7C7B"/>
              </a:buClr>
              <a:buSzPct val="100000"/>
              <a:buFont typeface="Arial"/>
              <a:buChar char="•"/>
            </a:pPr>
            <a:r>
              <a:rPr sz="1100" b="0" i="0">
                <a:solidFill>
                  <a:srgbClr val="43535F"/>
                </a:solidFill>
              </a:rPr>
              <a:t>Replay reproduces identical L–V cells from the SHA-256 evidence pack.</a:t>
            </a:r>
            <a:endParaRPr sz="1200"/>
          </a:p>
        </p:txBody>
      </p:sp>
      <p:sp>
        <p:nvSpPr>
          <p:cNvPr id="19" name="Column Limits of OSINT"/>
          <p:cNvSpPr/>
          <p:nvPr/>
        </p:nvSpPr>
        <p:spPr>
          <a:xfrm>
            <a:off x="9027414" y="1691640"/>
            <a:ext cx="2658618" cy="3840480"/>
          </a:xfrm>
          <a:prstGeom prst="roundRect">
            <a:avLst>
              <a:gd name="adj" fmla="val 4127"/>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36576" rIns="54864" bIns="36576">
            <a:noAutofit/>
          </a:bodyPr>
          <a:lstStyle/>
          <a:p>
            <a:pPr algn="ctr"/>
          </a:p>
        </p:txBody>
      </p:sp>
      <p:sp>
        <p:nvSpPr>
          <p:cNvPr id="20" name="Column badge Limits of OSINT"/>
          <p:cNvSpPr/>
          <p:nvPr/>
        </p:nvSpPr>
        <p:spPr>
          <a:xfrm>
            <a:off x="9164574" y="1819656"/>
            <a:ext cx="384048" cy="384048"/>
          </a:xfrm>
          <a:prstGeom prst="ellipse">
            <a:avLst/>
          </a:prstGeom>
          <a:solidFill>
            <a:srgbClr val="8A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r>
              <a:rPr sz="1200" b="1" i="0">
                <a:solidFill>
                  <a:srgbClr val="FFFFFF"/>
                </a:solidFill>
              </a:rPr>
              <a:t>!</a:t>
            </a:r>
            <a:endParaRPr sz="1200"/>
          </a:p>
        </p:txBody>
      </p:sp>
      <p:sp>
        <p:nvSpPr>
          <p:cNvPr id="21" name="Column title Limits of OSINT"/>
          <p:cNvSpPr txBox="1"/>
          <p:nvPr/>
        </p:nvSpPr>
        <p:spPr>
          <a:xfrm>
            <a:off x="9649206" y="1828800"/>
            <a:ext cx="1945386" cy="384048"/>
          </a:xfrm>
          <a:prstGeom prst="rect">
            <a:avLst/>
          </a:prstGeom>
          <a:noFill/>
        </p:spPr>
        <p:txBody>
          <a:bodyPr wrap="square" anchor="ctr" lIns="0" tIns="0" rIns="0" bIns="0">
            <a:noAutofit/>
          </a:bodyPr>
          <a:lstStyle/>
          <a:p>
            <a:pPr algn="l"/>
            <a:r>
              <a:rPr sz="1300" b="1" i="0">
                <a:solidFill>
                  <a:srgbClr val="0C2D36"/>
                </a:solidFill>
              </a:rPr>
              <a:t>Limits of OSINT</a:t>
            </a:r>
            <a:endParaRPr sz="1200"/>
          </a:p>
        </p:txBody>
      </p:sp>
      <p:sp>
        <p:nvSpPr>
          <p:cNvPr id="22" name="Column text Limits of OSINT"/>
          <p:cNvSpPr txBox="1"/>
          <p:nvPr/>
        </p:nvSpPr>
        <p:spPr>
          <a:xfrm>
            <a:off x="9173718" y="2395728"/>
            <a:ext cx="2384298" cy="3063240"/>
          </a:xfrm>
          <a:prstGeom prst="rect">
            <a:avLst/>
          </a:prstGeom>
          <a:noFill/>
        </p:spPr>
        <p:txBody>
          <a:bodyPr wrap="square" anchor="t" lIns="0" tIns="0" rIns="0" bIns="0">
            <a:noAutofit/>
          </a:bodyPr>
          <a:lstStyle/>
          <a:p>
            <a:pPr algn="l" marL="146304" indent="-146304">
              <a:spcAft>
                <a:spcPts val="600"/>
              </a:spcAft>
              <a:buClr>
                <a:srgbClr val="0E7C7B"/>
              </a:buClr>
              <a:buSzPct val="100000"/>
              <a:buFont typeface="Arial"/>
              <a:buChar char="•"/>
            </a:pPr>
            <a:r>
              <a:rPr sz="1100" b="0" i="0">
                <a:solidFill>
                  <a:srgbClr val="43535F"/>
                </a:solidFill>
              </a:rPr>
              <a:t>Absence of public evidence is not proof of no AI: a 'No (Not detected)' still needs an attestation.</a:t>
            </a:r>
            <a:endParaRPr sz="1200"/>
          </a:p>
          <a:p>
            <a:pPr algn="l" marL="146304" indent="-146304">
              <a:spcAft>
                <a:spcPts val="600"/>
              </a:spcAft>
              <a:buClr>
                <a:srgbClr val="0E7C7B"/>
              </a:buClr>
              <a:buSzPct val="100000"/>
              <a:buFont typeface="Arial"/>
              <a:buChar char="•"/>
            </a:pPr>
            <a:r>
              <a:rPr sz="1100" b="0" i="0">
                <a:solidFill>
                  <a:srgbClr val="43535F"/>
                </a:solidFill>
              </a:rPr>
              <a:t>Public claims can overstate (marketing) or lag (unannounced tools).</a:t>
            </a:r>
            <a:endParaRPr sz="1200"/>
          </a:p>
          <a:p>
            <a:pPr algn="l" marL="146304" indent="-146304">
              <a:spcAft>
                <a:spcPts val="600"/>
              </a:spcAft>
              <a:buClr>
                <a:srgbClr val="0E7C7B"/>
              </a:buClr>
              <a:buSzPct val="100000"/>
              <a:buFont typeface="Arial"/>
              <a:buChar char="•"/>
            </a:pPr>
            <a:r>
              <a:rPr sz="1100" b="0" i="0">
                <a:solidFill>
                  <a:srgbClr val="43535F"/>
                </a:solidFill>
              </a:rPr>
              <a:t>A DNS token proves a relationship, not processing of Meridian data.</a:t>
            </a:r>
            <a:endParaRPr sz="1200"/>
          </a:p>
          <a:p>
            <a:pPr algn="l" marL="146304" indent="-146304">
              <a:spcAft>
                <a:spcPts val="600"/>
              </a:spcAft>
              <a:buClr>
                <a:srgbClr val="0E7C7B"/>
              </a:buClr>
              <a:buSzPct val="100000"/>
              <a:buFont typeface="Arial"/>
              <a:buChar char="•"/>
            </a:pPr>
            <a:r>
              <a:rPr sz="1100" b="0" i="0">
                <a:solidFill>
                  <a:srgbClr val="43535F"/>
                </a:solidFill>
              </a:rPr>
              <a:t>Contracts, internal tools and data flows are invisible; the questionnaire closes the gap.</a:t>
            </a:r>
            <a:endParaRPr sz="1200"/>
          </a:p>
          <a:p>
            <a:pPr algn="l" marL="146304" indent="-146304">
              <a:spcAft>
                <a:spcPts val="600"/>
              </a:spcAft>
              <a:buClr>
                <a:srgbClr val="0E7C7B"/>
              </a:buClr>
              <a:buSzPct val="100000"/>
              <a:buFont typeface="Arial"/>
              <a:buChar char="•"/>
            </a:pPr>
            <a:r>
              <a:rPr sz="1100" b="0" i="0">
                <a:solidFill>
                  <a:srgbClr val="43535F"/>
                </a:solidFill>
              </a:rPr>
              <a:t>A point-in-time snapshot, as of 3 October 2026.</a:t>
            </a:r>
            <a:endParaRPr sz="1200"/>
          </a:p>
        </p:txBody>
      </p:sp>
      <p:sp>
        <p:nvSpPr>
          <p:cNvPr id="23" name="Bottom line"/>
          <p:cNvSpPr/>
          <p:nvPr/>
        </p:nvSpPr>
        <p:spPr>
          <a:xfrm>
            <a:off x="502920" y="5669280"/>
            <a:ext cx="11183112" cy="566928"/>
          </a:xfrm>
          <a:prstGeom prst="roundRect">
            <a:avLst>
              <a:gd name="adj" fmla="val 16129"/>
            </a:avLst>
          </a:prstGeom>
          <a:solidFill>
            <a:srgbClr val="0C2D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36576" rIns="182880" bIns="36576">
            <a:noAutofit/>
          </a:bodyPr>
          <a:lstStyle/>
          <a:p>
            <a:pPr algn="l"/>
            <a:r>
              <a:rPr sz="1200" b="1" i="0">
                <a:solidFill>
                  <a:srgbClr val="F2B705"/>
                </a:solidFill>
              </a:rPr>
              <a:t>Bottom line  </a:t>
            </a:r>
            <a:r>
              <a:rPr sz="1200" b="0" i="0">
                <a:solidFill>
                  <a:srgbClr val="FFFFFF"/>
                </a:solidFill>
              </a:rPr>
              <a:t>Every rating in the workbook traces to a captured, hashed source; whatever public evidence cannot settle goes to Meridian's questionnaire, never to a guess.</a:t>
            </a:r>
            <a:endParaRPr sz="12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C2D36"/>
        </a:solidFill>
        <a:effectLst/>
      </p:bgPr>
    </p:bg>
    <p:spTree>
      <p:nvGrpSpPr>
        <p:cNvPr id="1" name=""/>
        <p:cNvGrpSpPr/>
        <p:nvPr/>
      </p:nvGrpSpPr>
      <p:grpSpPr/>
      <p:sp>
        <p:nvSpPr>
          <p:cNvPr id="2"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9FB3BA"/>
                </a:solidFill>
              </a:rPr>
              <a:t>Team Osprey · Vendor AI footprint · Confidential case-study material, not for distribution</a:t>
            </a:r>
            <a:endParaRPr sz="1200"/>
          </a:p>
        </p:txBody>
      </p:sp>
      <p:sp>
        <p:nvSpPr>
          <p:cNvPr id="3" name="Slide number"/>
          <p:cNvSpPr txBox="1"/>
          <p:nvPr/>
        </p:nvSpPr>
        <p:spPr>
          <a:xfrm>
            <a:off x="10954512" y="6437376"/>
            <a:ext cx="731520" cy="256032"/>
          </a:xfrm>
          <a:prstGeom prst="rect">
            <a:avLst/>
          </a:prstGeom>
          <a:noFill/>
        </p:spPr>
        <p:txBody>
          <a:bodyPr wrap="square" anchor="ctr" lIns="0" tIns="0" rIns="0" bIns="0">
            <a:noAutofit/>
          </a:bodyPr>
          <a:lstStyle/>
          <a:p>
            <a:pPr algn="r"/>
            <a:fld id="{3B72D1A1-B611-548B-B854-4F86CBF22451}" type="slidenum">
              <a:rPr lang="en-GB" sz="1000" dirty="0">
                <a:solidFill>
                  <a:srgbClr val="9FB3BA"/>
                </a:solidFill>
              </a:rPr>
              <a:t>14</a:t>
            </a:fld>
            <a:endParaRPr sz="1200"/>
          </a:p>
        </p:txBody>
      </p:sp>
      <p:sp>
        <p:nvSpPr>
          <p:cNvPr id="4" name="Appendix title"/>
          <p:cNvSpPr txBox="1"/>
          <p:nvPr/>
        </p:nvSpPr>
        <p:spPr>
          <a:xfrm>
            <a:off x="502920" y="1463040"/>
            <a:ext cx="7315200" cy="914400"/>
          </a:xfrm>
          <a:prstGeom prst="rect">
            <a:avLst/>
          </a:prstGeom>
          <a:noFill/>
        </p:spPr>
        <p:txBody>
          <a:bodyPr wrap="square" anchor="t" lIns="0" tIns="0" rIns="0" bIns="0">
            <a:noAutofit/>
          </a:bodyPr>
          <a:lstStyle/>
          <a:p>
            <a:pPr algn="l"/>
            <a:r>
              <a:rPr sz="4400" b="1" i="0">
                <a:solidFill>
                  <a:srgbClr val="FFFFFF"/>
                </a:solidFill>
              </a:rPr>
              <a:t>Appendix</a:t>
            </a:r>
            <a:endParaRPr sz="1200"/>
          </a:p>
        </p:txBody>
      </p:sp>
      <p:sp>
        <p:nvSpPr>
          <p:cNvPr id="5" name="Appendix contents"/>
          <p:cNvSpPr txBox="1"/>
          <p:nvPr/>
        </p:nvSpPr>
        <p:spPr>
          <a:xfrm>
            <a:off x="502920" y="2468880"/>
            <a:ext cx="7315200" cy="3200400"/>
          </a:xfrm>
          <a:prstGeom prst="rect">
            <a:avLst/>
          </a:prstGeom>
          <a:noFill/>
        </p:spPr>
        <p:txBody>
          <a:bodyPr wrap="square" anchor="t" lIns="0" tIns="0" rIns="0" bIns="0">
            <a:noAutofit/>
          </a:bodyPr>
          <a:lstStyle/>
          <a:p>
            <a:pPr algn="l">
              <a:spcAft>
                <a:spcPts val="600"/>
              </a:spcAft>
            </a:pPr>
            <a:r>
              <a:rPr sz="1600" b="0" i="0">
                <a:solidFill>
                  <a:srgbClr val="86D4CA"/>
                </a:solidFill>
              </a:rPr>
              <a:t>A1  Criticality rubric anchors</a:t>
            </a:r>
            <a:endParaRPr sz="1200"/>
          </a:p>
          <a:p>
            <a:pPr algn="l">
              <a:spcAft>
                <a:spcPts val="600"/>
              </a:spcAft>
            </a:pPr>
            <a:r>
              <a:rPr sz="1600" b="0" i="0">
                <a:solidFill>
                  <a:srgbClr val="86D4CA"/>
                </a:solidFill>
              </a:rPr>
              <a:t>A2  Tag legend</a:t>
            </a:r>
            <a:endParaRPr sz="1200"/>
          </a:p>
          <a:p>
            <a:pPr algn="l">
              <a:spcAft>
                <a:spcPts val="600"/>
              </a:spcAft>
            </a:pPr>
            <a:r>
              <a:rPr sz="1600" b="0" i="0">
                <a:solidFill>
                  <a:srgbClr val="86D4CA"/>
                </a:solidFill>
              </a:rPr>
              <a:t>A3  Verdict rules and wording</a:t>
            </a:r>
            <a:endParaRPr sz="1200"/>
          </a:p>
          <a:p>
            <a:pPr algn="l">
              <a:spcAft>
                <a:spcPts val="600"/>
              </a:spcAft>
            </a:pPr>
            <a:r>
              <a:rPr sz="1600" b="0" i="0">
                <a:solidFill>
                  <a:srgbClr val="86D4CA"/>
                </a:solidFill>
              </a:rPr>
              <a:t>A4  Risk anchors, gate, escalators and cap</a:t>
            </a:r>
            <a:endParaRPr sz="1200"/>
          </a:p>
          <a:p>
            <a:pPr algn="l">
              <a:spcAft>
                <a:spcPts val="600"/>
              </a:spcAft>
            </a:pPr>
            <a:r>
              <a:rPr sz="1600" b="0" i="0">
                <a:solidFill>
                  <a:srgbClr val="86D4CA"/>
                </a:solidFill>
              </a:rPr>
              <a:t>A5  Workbook fidelity and assumptions</a:t>
            </a:r>
            <a:endParaRPr sz="1200"/>
          </a:p>
          <a:p>
            <a:pPr algn="l">
              <a:spcAft>
                <a:spcPts val="600"/>
              </a:spcAft>
            </a:pPr>
            <a:r>
              <a:rPr sz="1600" b="0" i="0">
                <a:solidFill>
                  <a:srgbClr val="86D4CA"/>
                </a:solidFill>
              </a:rPr>
              <a:t>A6–A11  One slide per vendor</a:t>
            </a:r>
            <a:endParaRPr sz="12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10896"/>
            <a:ext cx="9509760" cy="640080"/>
          </a:xfrm>
        </p:spPr>
        <p:txBody>
          <a:bodyPr wrap="square" anchor="b" lIns="0" tIns="0" rIns="0" bIns="0">
            <a:noAutofit/>
          </a:bodyPr>
          <a:lstStyle/>
          <a:p>
            <a:pPr algn="l"/>
            <a:r>
              <a:rPr sz="3000" b="1" i="0">
                <a:solidFill>
                  <a:srgbClr val="0C2D36"/>
                </a:solidFill>
              </a:rPr>
              <a:t>A1 · Criticality rubric anchors</a:t>
            </a:r>
            <a:endParaRPr sz="1200"/>
          </a:p>
        </p:txBody>
      </p:sp>
      <p:sp>
        <p:nvSpPr>
          <p:cNvPr id="3" name="Corner tag"/>
          <p:cNvSpPr/>
          <p:nvPr/>
        </p:nvSpPr>
        <p:spPr>
          <a:xfrm>
            <a:off x="10241280" y="457200"/>
            <a:ext cx="1444752" cy="310896"/>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APPENDIX</a:t>
            </a:r>
            <a:endParaRPr sz="1000"/>
          </a:p>
        </p:txBody>
      </p:sp>
      <p:sp>
        <p:nvSpPr>
          <p:cNvPr id="4" name="Kicker"/>
          <p:cNvSpPr txBox="1"/>
          <p:nvPr/>
        </p:nvSpPr>
        <p:spPr>
          <a:xfrm>
            <a:off x="502920" y="987552"/>
            <a:ext cx="11183112" cy="502920"/>
          </a:xfrm>
          <a:prstGeom prst="rect">
            <a:avLst/>
          </a:prstGeom>
          <a:noFill/>
        </p:spPr>
        <p:txBody>
          <a:bodyPr wrap="square" anchor="t" lIns="0" tIns="0" rIns="0" bIns="0">
            <a:noAutofit/>
          </a:bodyPr>
          <a:lstStyle/>
          <a:p>
            <a:pPr algn="l"/>
            <a:r>
              <a:rPr sz="1500" b="0" i="0">
                <a:solidFill>
                  <a:srgbClr val="0A5E5D"/>
                </a:solidFill>
              </a:rPr>
              <a:t>Five factors scored 0–4 from profile text; the trigger phrase behind every level is kept for audit.</a:t>
            </a:r>
            <a:endParaRPr sz="1200"/>
          </a:p>
        </p:txBody>
      </p:sp>
      <p:sp>
        <p:nvSpPr>
          <p:cNvPr id="5"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66757F"/>
                </a:solidFill>
              </a:rPr>
              <a:t>Team Osprey · Vendor AI footprint · Confidential case-study material, not for distribution</a:t>
            </a:r>
            <a:endParaRPr sz="1200"/>
          </a:p>
        </p:txBody>
      </p:sp>
      <p:sp>
        <p:nvSpPr>
          <p:cNvPr id="6" name="Slide number"/>
          <p:cNvSpPr txBox="1"/>
          <p:nvPr/>
        </p:nvSpPr>
        <p:spPr>
          <a:xfrm>
            <a:off x="10954512" y="6437376"/>
            <a:ext cx="731520" cy="256032"/>
          </a:xfrm>
          <a:prstGeom prst="rect">
            <a:avLst/>
          </a:prstGeom>
          <a:noFill/>
        </p:spPr>
        <p:txBody>
          <a:bodyPr wrap="square" anchor="ctr" lIns="0" tIns="0" rIns="0" bIns="0">
            <a:noAutofit/>
          </a:bodyPr>
          <a:lstStyle/>
          <a:p>
            <a:pPr algn="r"/>
            <a:fld id="{C9E53A5B-A983-53E5-ACB3-CF4F8B5A6115}" type="slidenum">
              <a:rPr lang="en-GB" sz="1000" dirty="0">
                <a:solidFill>
                  <a:srgbClr val="66757F"/>
                </a:solidFill>
              </a:rPr>
              <a:t>15</a:t>
            </a:fld>
            <a:endParaRPr sz="1200"/>
          </a:p>
        </p:txBody>
      </p:sp>
      <p:graphicFrame>
        <p:nvGraphicFramePr>
          <p:cNvPr id="7" name="Rubric anchors table"/>
          <p:cNvGraphicFramePr>
            <a:graphicFrameLocks noGrp="1"/>
          </p:cNvGraphicFramePr>
          <p:nvPr/>
        </p:nvGraphicFramePr>
        <p:xfrm>
          <a:off x="502920" y="1645920"/>
          <a:ext cx="11183112" cy="3602736"/>
        </p:xfrm>
        <a:graphic>
          <a:graphicData uri="http://schemas.openxmlformats.org/drawingml/2006/table">
            <a:tbl>
              <a:tblPr firstRow="1">
                <a:tableStyleId>{2D5ABB26-0587-4C30-8999-92F81FD0307C}</a:tableStyleId>
              </a:tblPr>
              <a:tblGrid>
                <a:gridCol w="1673352"/>
                <a:gridCol w="1901952"/>
                <a:gridCol w="1901952"/>
                <a:gridCol w="1901952"/>
                <a:gridCol w="1901952"/>
                <a:gridCol w="1901952"/>
              </a:tblGrid>
              <a:tr h="310896">
                <a:tc>
                  <a:txBody>
                    <a:bodyPr wrap="square" anchor="t" lIns="64008" tIns="32004" rIns="64008" bIns="32004">
                      <a:noAutofit/>
                    </a:bodyPr>
                    <a:lstStyle/>
                    <a:p>
                      <a:pPr algn="l"/>
                      <a:r>
                        <a:rPr sz="1000" b="1" i="0">
                          <a:solidFill>
                            <a:srgbClr val="FFFFFF"/>
                          </a:solidFill>
                        </a:rPr>
                        <a:t>Factor</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4</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3</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2</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1</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0</a:t>
                      </a:r>
                      <a:endParaRPr sz="1000"/>
                    </a:p>
                  </a:txBody>
                  <a:tcPr marL="64008" marR="64008" marT="32004" marB="32004" anchor="ctr">
                    <a:solidFill>
                      <a:srgbClr val="0C2D36"/>
                    </a:solidFill>
                  </a:tcPr>
                </a:tc>
              </a:tr>
              <a:tr h="658368">
                <a:tc>
                  <a:txBody>
                    <a:bodyPr wrap="square" anchor="t" lIns="64008" tIns="32004" rIns="64008" bIns="32004">
                      <a:noAutofit/>
                    </a:bodyPr>
                    <a:lstStyle/>
                    <a:p>
                      <a:pPr algn="l"/>
                      <a:r>
                        <a:rPr sz="1050" b="1" i="0">
                          <a:solidFill>
                            <a:srgbClr val="0C2D36"/>
                          </a:solidFill>
                        </a:rPr>
                        <a:t>O · operational dependency</a:t>
                      </a:r>
                      <a:endParaRPr sz="1000"/>
                    </a:p>
                    <a:p>
                      <a:pPr algn="l"/>
                      <a:r>
                        <a:rPr sz="1000" b="0" i="0">
                          <a:solidFill>
                            <a:srgbClr val="66757F"/>
                          </a:solidFill>
                        </a:rPr>
                        <a:t>weight ×7</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O4 Critical/Total: </a:t>
                      </a:r>
                      <a:r>
                        <a:rPr sz="1000" b="0" i="0">
                          <a:solidFill>
                            <a:srgbClr val="43535F"/>
                          </a:solidFill>
                        </a:rPr>
                        <a:t>Total or Critical dependency</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O3 High: </a:t>
                      </a:r>
                      <a:r>
                        <a:rPr sz="1000" b="0" i="0">
                          <a:solidFill>
                            <a:srgbClr val="43535F"/>
                          </a:solidFill>
                        </a:rPr>
                        <a:t>High dependency</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O2 Moderate: </a:t>
                      </a:r>
                      <a:r>
                        <a:rPr sz="1000" b="0" i="0">
                          <a:solidFill>
                            <a:srgbClr val="43535F"/>
                          </a:solidFill>
                        </a:rPr>
                        <a:t>Moderate or Medium dependency (also the default for an unrecognised…</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O1 Low: </a:t>
                      </a:r>
                      <a:r>
                        <a:rPr sz="1000" b="0" i="0">
                          <a:solidFill>
                            <a:srgbClr val="43535F"/>
                          </a:solidFill>
                        </a:rPr>
                        <a:t>Low dependency</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O0 none: </a:t>
                      </a:r>
                      <a:r>
                        <a:rPr sz="1000" b="0" i="0">
                          <a:solidFill>
                            <a:srgbClr val="43535F"/>
                          </a:solidFill>
                        </a:rPr>
                        <a:t>No dependency, or the field is empty</a:t>
                      </a:r>
                      <a:endParaRPr sz="1000"/>
                    </a:p>
                  </a:txBody>
                  <a:tcPr marL="64008" marR="64008" marT="32004" marB="32004" anchor="ctr">
                    <a:lnB w="9525" cap="flat" cmpd="sng" algn="ctr">
                      <a:solidFill>
                        <a:srgbClr val="C8D3D9"/>
                      </a:solidFill>
                      <a:prstDash val="solid"/>
                    </a:lnB>
                    <a:solidFill>
                      <a:srgbClr val="FFFFFF"/>
                    </a:solidFill>
                  </a:tcPr>
                </a:tc>
              </a:tr>
              <a:tr h="658368">
                <a:tc>
                  <a:txBody>
                    <a:bodyPr wrap="square" anchor="t" lIns="64008" tIns="32004" rIns="64008" bIns="32004">
                      <a:noAutofit/>
                    </a:bodyPr>
                    <a:lstStyle/>
                    <a:p>
                      <a:pPr algn="l"/>
                      <a:r>
                        <a:rPr sz="1050" b="1" i="0">
                          <a:solidFill>
                            <a:srgbClr val="0C2D36"/>
                          </a:solidFill>
                        </a:rPr>
                        <a:t>D · data sensitivity</a:t>
                      </a:r>
                      <a:endParaRPr sz="1000"/>
                    </a:p>
                    <a:p>
                      <a:pPr algn="l"/>
                      <a:r>
                        <a:rPr sz="1000" b="0" i="0">
                          <a:solidFill>
                            <a:srgbClr val="66757F"/>
                          </a:solidFill>
                        </a:rPr>
                        <a:t>weight ×6</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D4 very high: </a:t>
                      </a:r>
                      <a:r>
                        <a:rPr sz="1000" b="0" i="0">
                          <a:solidFill>
                            <a:srgbClr val="43535F"/>
                          </a:solidFill>
                        </a:rPr>
                        <a:t>Government identifiers (SSN, TIN, tax identifiers, national ID…</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D3 high: </a:t>
                      </a:r>
                      <a:r>
                        <a:rPr sz="1000" b="0" i="0">
                          <a:solidFill>
                            <a:srgbClr val="43535F"/>
                          </a:solidFill>
                        </a:rPr>
                        <a:t>Customer non-public personal…</a:t>
                      </a:r>
                      <a:endParaRPr sz="1000"/>
                    </a:p>
                    <a:p>
                      <a:pPr algn="l"/>
                      <a:r>
                        <a:rPr sz="1000" b="1" i="0">
                          <a:solidFill>
                            <a:srgbClr val="0C2D36"/>
                          </a:solidFill>
                        </a:rPr>
                        <a:t>D3-P high, privileged production access: </a:t>
                      </a:r>
                      <a:r>
                        <a:rPr sz="1000" b="0" i="0">
                          <a:solidFill>
                            <a:srgbClr val="43535F"/>
                          </a:solidFill>
                        </a:rPr>
                        <a:t>Privileged or administrative access…</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D2 moderate: </a:t>
                      </a:r>
                      <a:r>
                        <a:rPr sz="1000" b="0" i="0">
                          <a:solidFill>
                            <a:srgbClr val="43535F"/>
                          </a:solidFill>
                        </a:rPr>
                        <a:t>Confidential data that is not customer data (employee or advisor…</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D1 low: </a:t>
                      </a:r>
                      <a:r>
                        <a:rPr sz="1000" b="0" i="0">
                          <a:solidFill>
                            <a:srgbClr val="43535F"/>
                          </a:solidFill>
                        </a:rPr>
                        <a:t>Internal, de-identified or aggregated data</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D0 none: </a:t>
                      </a:r>
                      <a:r>
                        <a:rPr sz="1000" b="0" i="0">
                          <a:solidFill>
                            <a:srgbClr val="43535F"/>
                          </a:solidFill>
                        </a:rPr>
                        <a:t>No data, or public data only</a:t>
                      </a:r>
                      <a:endParaRPr sz="1000"/>
                    </a:p>
                  </a:txBody>
                  <a:tcPr marL="64008" marR="64008" marT="32004" marB="32004" anchor="ctr">
                    <a:lnB w="9525" cap="flat" cmpd="sng" algn="ctr">
                      <a:solidFill>
                        <a:srgbClr val="C8D3D9"/>
                      </a:solidFill>
                      <a:prstDash val="solid"/>
                    </a:lnB>
                    <a:solidFill>
                      <a:srgbClr val="FFFFFF"/>
                    </a:solidFill>
                  </a:tcPr>
                </a:tc>
              </a:tr>
              <a:tr h="658368">
                <a:tc>
                  <a:txBody>
                    <a:bodyPr wrap="square" anchor="t" lIns="64008" tIns="32004" rIns="64008" bIns="32004">
                      <a:noAutofit/>
                    </a:bodyPr>
                    <a:lstStyle/>
                    <a:p>
                      <a:pPr algn="l"/>
                      <a:r>
                        <a:rPr sz="1050" b="1" i="0">
                          <a:solidFill>
                            <a:srgbClr val="0C2D36"/>
                          </a:solidFill>
                        </a:rPr>
                        <a:t>P · payment-flow involvement</a:t>
                      </a:r>
                      <a:endParaRPr sz="1000"/>
                    </a:p>
                    <a:p>
                      <a:pPr algn="l"/>
                      <a:r>
                        <a:rPr sz="1000" b="0" i="0">
                          <a:solidFill>
                            <a:srgbClr val="66757F"/>
                          </a:solidFill>
                        </a:rPr>
                        <a:t>weight ×5</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P4 executes or settles funds: </a:t>
                      </a:r>
                      <a:r>
                        <a:rPr sz="1000" b="0" i="0">
                          <a:solidFill>
                            <a:srgbClr val="43535F"/>
                          </a:solidFill>
                        </a:rPr>
                        <a:t>Executes or settles funds: clearing, settlement, operates the payment…</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P3 in the payment path: </a:t>
                      </a:r>
                      <a:r>
                        <a:rPr sz="1000" b="0" i="0">
                          <a:solidFill>
                            <a:srgbClr val="43535F"/>
                          </a:solidFill>
                        </a:rPr>
                        <a:t>In the payment message path: transmits, routes, converts or screens…</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P2 indirect: </a:t>
                      </a:r>
                      <a:r>
                        <a:rPr sz="1000" b="0" i="0">
                          <a:solidFill>
                            <a:srgbClr val="43535F"/>
                          </a:solidFill>
                        </a:rPr>
                        <a:t>Influences payments without being in the path: schedules jobs on core…</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P1 after the fact: </a:t>
                      </a:r>
                      <a:r>
                        <a:rPr sz="1000" b="0" i="0">
                          <a:solidFill>
                            <a:srgbClr val="43535F"/>
                          </a:solidFill>
                        </a:rPr>
                        <a:t>Reports after the fact: statements, reporting, analytics, notices</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P0 none: </a:t>
                      </a:r>
                      <a:r>
                        <a:rPr sz="1000" b="0" i="0">
                          <a:solidFill>
                            <a:srgbClr val="43535F"/>
                          </a:solidFill>
                        </a:rPr>
                        <a:t>No payment role (the default when no anchor matches)</a:t>
                      </a:r>
                      <a:endParaRPr sz="1000"/>
                    </a:p>
                  </a:txBody>
                  <a:tcPr marL="64008" marR="64008" marT="32004" marB="32004" anchor="ctr">
                    <a:lnB w="9525" cap="flat" cmpd="sng" algn="ctr">
                      <a:solidFill>
                        <a:srgbClr val="C8D3D9"/>
                      </a:solidFill>
                      <a:prstDash val="solid"/>
                    </a:lnB>
                    <a:solidFill>
                      <a:srgbClr val="FFFFFF"/>
                    </a:solidFill>
                  </a:tcPr>
                </a:tc>
              </a:tr>
              <a:tr h="658368">
                <a:tc>
                  <a:txBody>
                    <a:bodyPr wrap="square" anchor="t" lIns="64008" tIns="32004" rIns="64008" bIns="32004">
                      <a:noAutofit/>
                    </a:bodyPr>
                    <a:lstStyle/>
                    <a:p>
                      <a:pPr algn="l"/>
                      <a:r>
                        <a:rPr sz="1050" b="1" i="0">
                          <a:solidFill>
                            <a:srgbClr val="0C2D36"/>
                          </a:solidFill>
                        </a:rPr>
                        <a:t>R · regulatory exposure</a:t>
                      </a:r>
                      <a:endParaRPr sz="1000"/>
                    </a:p>
                    <a:p>
                      <a:pPr algn="l"/>
                      <a:r>
                        <a:rPr sz="1000" b="0" i="0">
                          <a:solidFill>
                            <a:srgbClr val="66757F"/>
                          </a:solidFill>
                        </a:rPr>
                        <a:t>weight ×4</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R4 very high: </a:t>
                      </a:r>
                      <a:r>
                        <a:rPr sz="1000" b="0" i="0">
                          <a:solidFill>
                            <a:srgbClr val="43535F"/>
                          </a:solidFill>
                        </a:rPr>
                        <a:t>The service is the regulated mechanism: deposit or account system of…</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R3 high: </a:t>
                      </a:r>
                      <a:r>
                        <a:rPr sz="1000" b="0" i="0">
                          <a:solidFill>
                            <a:srgbClr val="43535F"/>
                          </a:solidFill>
                        </a:rPr>
                        <a:t>Customer non-public information (data sensitivity 3 or 4, not D3-P)…</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R2 moderate: </a:t>
                      </a:r>
                      <a:r>
                        <a:rPr sz="1000" b="0" i="0">
                          <a:solidFill>
                            <a:srgbClr val="43535F"/>
                          </a:solidFill>
                        </a:rPr>
                        <a:t>No direct customer non-public information but privileged access to…</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R1 low: </a:t>
                      </a:r>
                      <a:r>
                        <a:rPr sz="1000" b="0" i="0">
                          <a:solidFill>
                            <a:srgbClr val="43535F"/>
                          </a:solidFill>
                        </a:rPr>
                        <a:t>Confidential data only, no customer non-public information (data…</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R0 none: </a:t>
                      </a:r>
                      <a:r>
                        <a:rPr sz="1000" b="0" i="0">
                          <a:solidFill>
                            <a:srgbClr val="43535F"/>
                          </a:solidFill>
                        </a:rPr>
                        <a:t>No regulatory exposure (the default when no anchor matches)</a:t>
                      </a:r>
                      <a:endParaRPr sz="1000"/>
                    </a:p>
                  </a:txBody>
                  <a:tcPr marL="64008" marR="64008" marT="32004" marB="32004" anchor="ctr">
                    <a:lnB w="9525" cap="flat" cmpd="sng" algn="ctr">
                      <a:solidFill>
                        <a:srgbClr val="C8D3D9"/>
                      </a:solidFill>
                      <a:prstDash val="solid"/>
                    </a:lnB>
                    <a:solidFill>
                      <a:srgbClr val="FFFFFF"/>
                    </a:solidFill>
                  </a:tcPr>
                </a:tc>
              </a:tr>
              <a:tr h="658368">
                <a:tc>
                  <a:txBody>
                    <a:bodyPr wrap="square" anchor="t" lIns="64008" tIns="32004" rIns="64008" bIns="32004">
                      <a:noAutofit/>
                    </a:bodyPr>
                    <a:lstStyle/>
                    <a:p>
                      <a:pPr algn="l"/>
                      <a:r>
                        <a:rPr sz="1050" b="1" i="0">
                          <a:solidFill>
                            <a:srgbClr val="0C2D36"/>
                          </a:solidFill>
                        </a:rPr>
                        <a:t>V · volume</a:t>
                      </a:r>
                      <a:endParaRPr sz="1000"/>
                    </a:p>
                    <a:p>
                      <a:pPr algn="l"/>
                      <a:r>
                        <a:rPr sz="1000" b="0" i="0">
                          <a:solidFill>
                            <a:srgbClr val="66757F"/>
                          </a:solidFill>
                        </a:rPr>
                        <a:t>weight ×3</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V4 very high: </a:t>
                      </a:r>
                      <a:r>
                        <a:rPr sz="1000" b="0" i="0">
                          <a:solidFill>
                            <a:srgbClr val="43535F"/>
                          </a:solidFill>
                        </a:rPr>
                        <a:t>1,000,000 or more customers or the entire customer base, or 10,000,000…</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V3 high: </a:t>
                      </a:r>
                      <a:r>
                        <a:rPr sz="1000" b="0" i="0">
                          <a:solidFill>
                            <a:srgbClr val="43535F"/>
                          </a:solidFill>
                        </a:rPr>
                        <a:t>100,000 to 999,999 customers, or 1,000,000 to 9,999,999 records a year</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V2 moderate: </a:t>
                      </a:r>
                      <a:r>
                        <a:rPr sz="1000" b="0" i="0">
                          <a:solidFill>
                            <a:srgbClr val="43535F"/>
                          </a:solidFill>
                        </a:rPr>
                        <a:t>10,000 to 99,999 customers, or 100,000 to 999,999 records a year</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V1 low: </a:t>
                      </a:r>
                      <a:r>
                        <a:rPr sz="1000" b="0" i="0">
                          <a:solidFill>
                            <a:srgbClr val="43535F"/>
                          </a:solidFill>
                        </a:rPr>
                        <a:t>1 to 9,999 customers, or fewer than 100,000 records a year</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1" i="0">
                          <a:solidFill>
                            <a:srgbClr val="0C2D36"/>
                          </a:solidFill>
                        </a:rPr>
                        <a:t>V0 not applicable: </a:t>
                      </a:r>
                      <a:r>
                        <a:rPr sz="1000" b="0" i="0">
                          <a:solidFill>
                            <a:srgbClr val="43535F"/>
                          </a:solidFill>
                        </a:rPr>
                        <a:t>Not applicable or no customer data; frequencies such as 12 monthly…</a:t>
                      </a:r>
                      <a:endParaRPr sz="1000"/>
                    </a:p>
                  </a:txBody>
                  <a:tcPr marL="64008" marR="64008" marT="32004" marB="32004" anchor="ctr">
                    <a:lnB w="9525" cap="flat" cmpd="sng" algn="ctr">
                      <a:solidFill>
                        <a:srgbClr val="C8D3D9"/>
                      </a:solidFill>
                      <a:prstDash val="solid"/>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10896"/>
            <a:ext cx="9509760" cy="640080"/>
          </a:xfrm>
        </p:spPr>
        <p:txBody>
          <a:bodyPr wrap="square" anchor="b" lIns="0" tIns="0" rIns="0" bIns="0">
            <a:noAutofit/>
          </a:bodyPr>
          <a:lstStyle/>
          <a:p>
            <a:pPr algn="l"/>
            <a:r>
              <a:rPr sz="3000" b="1" i="0">
                <a:solidFill>
                  <a:srgbClr val="0C2D36"/>
                </a:solidFill>
              </a:rPr>
              <a:t>A2 · Tag legend</a:t>
            </a:r>
            <a:endParaRPr sz="1200"/>
          </a:p>
        </p:txBody>
      </p:sp>
      <p:sp>
        <p:nvSpPr>
          <p:cNvPr id="3" name="Corner tag"/>
          <p:cNvSpPr/>
          <p:nvPr/>
        </p:nvSpPr>
        <p:spPr>
          <a:xfrm>
            <a:off x="10241280" y="457200"/>
            <a:ext cx="1444752" cy="310896"/>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APPENDIX</a:t>
            </a:r>
            <a:endParaRPr sz="1000"/>
          </a:p>
        </p:txBody>
      </p:sp>
      <p:sp>
        <p:nvSpPr>
          <p:cNvPr id="4" name="Kicker"/>
          <p:cNvSpPr txBox="1"/>
          <p:nvPr/>
        </p:nvSpPr>
        <p:spPr>
          <a:xfrm>
            <a:off x="502920" y="987552"/>
            <a:ext cx="11183112" cy="502920"/>
          </a:xfrm>
          <a:prstGeom prst="rect">
            <a:avLst/>
          </a:prstGeom>
          <a:noFill/>
        </p:spPr>
        <p:txBody>
          <a:bodyPr wrap="square" anchor="t" lIns="0" tIns="0" rIns="0" bIns="0">
            <a:noAutofit/>
          </a:bodyPr>
          <a:lstStyle/>
          <a:p>
            <a:pPr algn="l"/>
            <a:r>
              <a:rPr sz="1500" b="0" i="0">
                <a:solidFill>
                  <a:srgbClr val="0A5E5D"/>
                </a:solidFill>
              </a:rPr>
              <a:t>Six tags per excerpt; the locus and the G/M indicators behind SP are listed in the notes and the Method &amp; Legend sheet.</a:t>
            </a:r>
            <a:endParaRPr sz="1200"/>
          </a:p>
        </p:txBody>
      </p:sp>
      <p:sp>
        <p:nvSpPr>
          <p:cNvPr id="5"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66757F"/>
                </a:solidFill>
              </a:rPr>
              <a:t>Team Osprey · Vendor AI footprint · Confidential case-study material, not for distribution</a:t>
            </a:r>
            <a:endParaRPr sz="1200"/>
          </a:p>
        </p:txBody>
      </p:sp>
      <p:sp>
        <p:nvSpPr>
          <p:cNvPr id="6" name="Slide number"/>
          <p:cNvSpPr txBox="1"/>
          <p:nvPr/>
        </p:nvSpPr>
        <p:spPr>
          <a:xfrm>
            <a:off x="10954512" y="6437376"/>
            <a:ext cx="731520" cy="256032"/>
          </a:xfrm>
          <a:prstGeom prst="rect">
            <a:avLst/>
          </a:prstGeom>
          <a:noFill/>
        </p:spPr>
        <p:txBody>
          <a:bodyPr wrap="square" anchor="ctr" lIns="0" tIns="0" rIns="0" bIns="0">
            <a:noAutofit/>
          </a:bodyPr>
          <a:lstStyle/>
          <a:p>
            <a:pPr algn="r"/>
            <a:fld id="{9F0FE5AA-7470-5D51-B3FC-35EE89CA1896}" type="slidenum">
              <a:rPr lang="en-GB" sz="1000" dirty="0">
                <a:solidFill>
                  <a:srgbClr val="66757F"/>
                </a:solidFill>
              </a:rPr>
              <a:t>16</a:t>
            </a:fld>
            <a:endParaRPr sz="1200"/>
          </a:p>
        </p:txBody>
      </p:sp>
      <p:sp>
        <p:nvSpPr>
          <p:cNvPr id="7" name="Legend U · signal class"/>
          <p:cNvSpPr/>
          <p:nvPr/>
        </p:nvSpPr>
        <p:spPr>
          <a:xfrm>
            <a:off x="502920" y="1645920"/>
            <a:ext cx="3605784" cy="2212848"/>
          </a:xfrm>
          <a:prstGeom prst="roundRect">
            <a:avLst>
              <a:gd name="adj" fmla="val 4132"/>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U · signal class</a:t>
            </a:r>
            <a:endParaRPr sz="1200"/>
          </a:p>
          <a:p>
            <a:pPr algn="l">
              <a:spcAft>
                <a:spcPts val="100"/>
              </a:spcAft>
            </a:pPr>
            <a:r>
              <a:rPr sz="1100" b="1" i="0">
                <a:solidFill>
                  <a:srgbClr val="0A5E5D"/>
                </a:solidFill>
              </a:rPr>
              <a:t>U1 </a:t>
            </a:r>
            <a:r>
              <a:rPr sz="1100" b="0" i="0">
                <a:solidFill>
                  <a:srgbClr val="43535F"/>
                </a:solidFill>
              </a:rPr>
              <a:t>AI in the exact service</a:t>
            </a:r>
            <a:endParaRPr sz="1200"/>
          </a:p>
          <a:p>
            <a:pPr algn="l">
              <a:spcAft>
                <a:spcPts val="100"/>
              </a:spcAft>
            </a:pPr>
            <a:r>
              <a:rPr sz="1100" b="1" i="0">
                <a:solidFill>
                  <a:srgbClr val="0A5E5D"/>
                </a:solidFill>
              </a:rPr>
              <a:t>U2 </a:t>
            </a:r>
            <a:r>
              <a:rPr sz="1100" b="0" i="0">
                <a:solidFill>
                  <a:srgbClr val="43535F"/>
                </a:solidFill>
              </a:rPr>
              <a:t>AI in the platform or an add-on</a:t>
            </a:r>
            <a:endParaRPr sz="1200"/>
          </a:p>
          <a:p>
            <a:pPr algn="l">
              <a:spcAft>
                <a:spcPts val="100"/>
              </a:spcAft>
            </a:pPr>
            <a:r>
              <a:rPr sz="1100" b="1" i="0">
                <a:solidFill>
                  <a:srgbClr val="0A5E5D"/>
                </a:solidFill>
              </a:rPr>
              <a:t>U3 </a:t>
            </a:r>
            <a:r>
              <a:rPr sz="1100" b="0" i="0">
                <a:solidFill>
                  <a:srgbClr val="43535F"/>
                </a:solidFill>
              </a:rPr>
              <a:t>AI in operations touching the service</a:t>
            </a:r>
            <a:endParaRPr sz="1200"/>
          </a:p>
          <a:p>
            <a:pPr algn="l">
              <a:spcAft>
                <a:spcPts val="100"/>
              </a:spcAft>
            </a:pPr>
            <a:r>
              <a:rPr sz="1100" b="1" i="0">
                <a:solidFill>
                  <a:srgbClr val="0A5E5D"/>
                </a:solidFill>
              </a:rPr>
              <a:t>U4 </a:t>
            </a:r>
            <a:r>
              <a:rPr sz="1100" b="0" i="0">
                <a:solidFill>
                  <a:srgbClr val="43535F"/>
                </a:solidFill>
              </a:rPr>
              <a:t>named AI provider or relationship</a:t>
            </a:r>
            <a:endParaRPr sz="1200"/>
          </a:p>
          <a:p>
            <a:pPr algn="l">
              <a:spcAft>
                <a:spcPts val="100"/>
              </a:spcAft>
            </a:pPr>
            <a:r>
              <a:rPr sz="1100" b="1" i="0">
                <a:solidFill>
                  <a:srgbClr val="0A5E5D"/>
                </a:solidFill>
              </a:rPr>
              <a:t>U5 </a:t>
            </a:r>
            <a:r>
              <a:rPr sz="1100" b="0" i="0">
                <a:solidFill>
                  <a:srgbClr val="43535F"/>
                </a:solidFill>
              </a:rPr>
              <a:t>building AI capability</a:t>
            </a:r>
            <a:endParaRPr sz="1200"/>
          </a:p>
          <a:p>
            <a:pPr algn="l">
              <a:spcAft>
                <a:spcPts val="100"/>
              </a:spcAft>
            </a:pPr>
            <a:r>
              <a:rPr sz="1100" b="1" i="0">
                <a:solidFill>
                  <a:srgbClr val="0A5E5D"/>
                </a:solidFill>
              </a:rPr>
              <a:t>U6 </a:t>
            </a:r>
            <a:r>
              <a:rPr sz="1100" b="0" i="0">
                <a:solidFill>
                  <a:srgbClr val="43535F"/>
                </a:solidFill>
              </a:rPr>
              <a:t>AI governance</a:t>
            </a:r>
            <a:endParaRPr sz="1200"/>
          </a:p>
          <a:p>
            <a:pPr algn="l">
              <a:spcAft>
                <a:spcPts val="100"/>
              </a:spcAft>
            </a:pPr>
            <a:r>
              <a:rPr sz="1100" b="1" i="0">
                <a:solidFill>
                  <a:srgbClr val="0A5E5D"/>
                </a:solidFill>
              </a:rPr>
              <a:t>U7 </a:t>
            </a:r>
            <a:r>
              <a:rPr sz="1100" b="0" i="0">
                <a:solidFill>
                  <a:srgbClr val="43535F"/>
                </a:solidFill>
              </a:rPr>
              <a:t>marketing claim</a:t>
            </a:r>
            <a:endParaRPr sz="1200"/>
          </a:p>
          <a:p>
            <a:pPr algn="l">
              <a:spcAft>
                <a:spcPts val="100"/>
              </a:spcAft>
            </a:pPr>
            <a:r>
              <a:rPr sz="1100" b="1" i="0">
                <a:solidFill>
                  <a:srgbClr val="0A5E5D"/>
                </a:solidFill>
              </a:rPr>
              <a:t>U8 </a:t>
            </a:r>
            <a:r>
              <a:rPr sz="1100" b="0" i="0">
                <a:solidFill>
                  <a:srgbClr val="43535F"/>
                </a:solidFill>
              </a:rPr>
              <a:t>negative or limiting statement</a:t>
            </a:r>
            <a:endParaRPr sz="1200"/>
          </a:p>
        </p:txBody>
      </p:sp>
      <p:sp>
        <p:nvSpPr>
          <p:cNvPr id="8" name="Legend SR · source reliability"/>
          <p:cNvSpPr/>
          <p:nvPr/>
        </p:nvSpPr>
        <p:spPr>
          <a:xfrm>
            <a:off x="4291584" y="1645920"/>
            <a:ext cx="3605784" cy="2212848"/>
          </a:xfrm>
          <a:prstGeom prst="roundRect">
            <a:avLst>
              <a:gd name="adj" fmla="val 4132"/>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SR · source reliability</a:t>
            </a:r>
            <a:endParaRPr sz="1200"/>
          </a:p>
          <a:p>
            <a:pPr algn="l">
              <a:spcAft>
                <a:spcPts val="100"/>
              </a:spcAft>
            </a:pPr>
            <a:r>
              <a:rPr sz="1100" b="1" i="0">
                <a:solidFill>
                  <a:srgbClr val="0A5E5D"/>
                </a:solidFill>
              </a:rPr>
              <a:t>A </a:t>
            </a:r>
            <a:r>
              <a:rPr sz="1100" b="0" i="0">
                <a:solidFill>
                  <a:srgbClr val="43535F"/>
                </a:solidFill>
              </a:rPr>
              <a:t>legally accountable</a:t>
            </a:r>
            <a:endParaRPr sz="1200"/>
          </a:p>
          <a:p>
            <a:pPr algn="l">
              <a:spcAft>
                <a:spcPts val="100"/>
              </a:spcAft>
            </a:pPr>
            <a:r>
              <a:rPr sz="1100" b="1" i="0">
                <a:solidFill>
                  <a:srgbClr val="0A5E5D"/>
                </a:solidFill>
              </a:rPr>
              <a:t>B </a:t>
            </a:r>
            <a:r>
              <a:rPr sz="1100" b="0" i="0">
                <a:solidFill>
                  <a:srgbClr val="43535F"/>
                </a:solidFill>
              </a:rPr>
              <a:t>first-party accountable</a:t>
            </a:r>
            <a:endParaRPr sz="1200"/>
          </a:p>
          <a:p>
            <a:pPr algn="l">
              <a:spcAft>
                <a:spcPts val="100"/>
              </a:spcAft>
            </a:pPr>
            <a:r>
              <a:rPr sz="1100" b="1" i="0">
                <a:solidFill>
                  <a:srgbClr val="0A5E5D"/>
                </a:solidFill>
              </a:rPr>
              <a:t>C </a:t>
            </a:r>
            <a:r>
              <a:rPr sz="1100" b="0" i="0">
                <a:solidFill>
                  <a:srgbClr val="43535F"/>
                </a:solidFill>
              </a:rPr>
              <a:t>promotional or second-party</a:t>
            </a:r>
            <a:endParaRPr sz="1200"/>
          </a:p>
          <a:p>
            <a:pPr algn="l">
              <a:spcAft>
                <a:spcPts val="100"/>
              </a:spcAft>
            </a:pPr>
            <a:r>
              <a:rPr sz="1100" b="1" i="0">
                <a:solidFill>
                  <a:srgbClr val="0A5E5D"/>
                </a:solidFill>
              </a:rPr>
              <a:t>D </a:t>
            </a:r>
            <a:r>
              <a:rPr sz="1100" b="0" i="0">
                <a:solidFill>
                  <a:srgbClr val="43535F"/>
                </a:solidFill>
              </a:rPr>
              <a:t>aggregators, syndicated copies</a:t>
            </a:r>
            <a:endParaRPr sz="1200"/>
          </a:p>
          <a:p>
            <a:pPr algn="l">
              <a:spcAft>
                <a:spcPts val="100"/>
              </a:spcAft>
            </a:pPr>
            <a:r>
              <a:rPr sz="1100" b="1" i="0">
                <a:solidFill>
                  <a:srgbClr val="0A5E5D"/>
                </a:solidFill>
              </a:rPr>
              <a:t>E–F </a:t>
            </a:r>
            <a:r>
              <a:rPr sz="1100" b="0" i="0">
                <a:solidFill>
                  <a:srgbClr val="43535F"/>
                </a:solidFill>
              </a:rPr>
              <a:t>user-generated or unknown origin (excluded)</a:t>
            </a:r>
            <a:endParaRPr sz="1200"/>
          </a:p>
        </p:txBody>
      </p:sp>
      <p:sp>
        <p:nvSpPr>
          <p:cNvPr id="9" name="Legend SP · specificity"/>
          <p:cNvSpPr/>
          <p:nvPr/>
        </p:nvSpPr>
        <p:spPr>
          <a:xfrm>
            <a:off x="8080248" y="1645920"/>
            <a:ext cx="3605784" cy="2212848"/>
          </a:xfrm>
          <a:prstGeom prst="roundRect">
            <a:avLst>
              <a:gd name="adj" fmla="val 4132"/>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SP · specificity</a:t>
            </a:r>
            <a:endParaRPr sz="1200"/>
          </a:p>
          <a:p>
            <a:pPr algn="l">
              <a:spcAft>
                <a:spcPts val="100"/>
              </a:spcAft>
            </a:pPr>
            <a:r>
              <a:rPr sz="1100" b="1" i="0">
                <a:solidFill>
                  <a:srgbClr val="0A5E5D"/>
                </a:solidFill>
              </a:rPr>
              <a:t>S3 </a:t>
            </a:r>
            <a:r>
              <a:rPr sz="1100" b="0" i="0">
                <a:solidFill>
                  <a:srgbClr val="43535F"/>
                </a:solidFill>
              </a:rPr>
              <a:t>(G1, G5, G6 or G7) with (G2 or G3)</a:t>
            </a:r>
            <a:endParaRPr sz="1200"/>
          </a:p>
          <a:p>
            <a:pPr algn="l">
              <a:spcAft>
                <a:spcPts val="100"/>
              </a:spcAft>
            </a:pPr>
            <a:r>
              <a:rPr sz="1100" b="1" i="0">
                <a:solidFill>
                  <a:srgbClr val="0A5E5D"/>
                </a:solidFill>
              </a:rPr>
              <a:t>S2 </a:t>
            </a:r>
            <a:r>
              <a:rPr sz="1100" b="0" i="0">
                <a:solidFill>
                  <a:srgbClr val="43535F"/>
                </a:solidFill>
              </a:rPr>
              <a:t>G2, G4, G5, G8 or G11 tied to a named product, no M4</a:t>
            </a:r>
            <a:endParaRPr sz="1200"/>
          </a:p>
          <a:p>
            <a:pPr algn="l">
              <a:spcAft>
                <a:spcPts val="100"/>
              </a:spcAft>
            </a:pPr>
            <a:r>
              <a:rPr sz="1100" b="1" i="0">
                <a:solidFill>
                  <a:srgbClr val="0A5E5D"/>
                </a:solidFill>
              </a:rPr>
              <a:t>S1 </a:t>
            </a:r>
            <a:r>
              <a:rPr sz="1100" b="0" i="0">
                <a:solidFill>
                  <a:srgbClr val="43535F"/>
                </a:solidFill>
              </a:rPr>
              <a:t>marketing only, or legal or filing text alone</a:t>
            </a:r>
            <a:endParaRPr sz="1200"/>
          </a:p>
          <a:p>
            <a:pPr algn="l">
              <a:spcAft>
                <a:spcPts val="100"/>
              </a:spcAft>
            </a:pPr>
            <a:r>
              <a:rPr sz="1100" b="1" i="0">
                <a:solidFill>
                  <a:srgbClr val="0A5E5D"/>
                </a:solidFill>
              </a:rPr>
              <a:t>S0 </a:t>
            </a:r>
            <a:r>
              <a:rPr sz="1100" b="0" i="0">
                <a:solidFill>
                  <a:srgbClr val="43535F"/>
                </a:solidFill>
              </a:rPr>
              <a:t>aspiration or commentary dominates</a:t>
            </a:r>
            <a:endParaRPr sz="1200"/>
          </a:p>
        </p:txBody>
      </p:sp>
      <p:sp>
        <p:nvSpPr>
          <p:cNvPr id="10" name="Legend RL · relevance"/>
          <p:cNvSpPr/>
          <p:nvPr/>
        </p:nvSpPr>
        <p:spPr>
          <a:xfrm>
            <a:off x="502920" y="4041648"/>
            <a:ext cx="3605784" cy="2212848"/>
          </a:xfrm>
          <a:prstGeom prst="roundRect">
            <a:avLst>
              <a:gd name="adj" fmla="val 4132"/>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RL · relevance</a:t>
            </a:r>
            <a:endParaRPr sz="1200"/>
          </a:p>
          <a:p>
            <a:pPr algn="l">
              <a:spcAft>
                <a:spcPts val="100"/>
              </a:spcAft>
            </a:pPr>
            <a:r>
              <a:rPr sz="1100" b="1" i="0">
                <a:solidFill>
                  <a:srgbClr val="0A5E5D"/>
                </a:solidFill>
              </a:rPr>
              <a:t>R3 </a:t>
            </a:r>
            <a:r>
              <a:rPr sz="1100" b="0" i="0">
                <a:solidFill>
                  <a:srgbClr val="43535F"/>
                </a:solidFill>
              </a:rPr>
              <a:t>exact-service term in the claim, its heading or title</a:t>
            </a:r>
            <a:endParaRPr sz="1200"/>
          </a:p>
          <a:p>
            <a:pPr algn="l">
              <a:spcAft>
                <a:spcPts val="100"/>
              </a:spcAft>
            </a:pPr>
            <a:r>
              <a:rPr sz="1100" b="1" i="0">
                <a:solidFill>
                  <a:srgbClr val="0A5E5D"/>
                </a:solidFill>
              </a:rPr>
              <a:t>R2 </a:t>
            </a:r>
            <a:r>
              <a:rPr sz="1100" b="0" i="0">
                <a:solidFill>
                  <a:srgbClr val="43535F"/>
                </a:solidFill>
              </a:rPr>
              <a:t>product family, company-wide delivery practice, DNS relationship</a:t>
            </a:r>
            <a:endParaRPr sz="1200"/>
          </a:p>
          <a:p>
            <a:pPr algn="l">
              <a:spcAft>
                <a:spcPts val="100"/>
              </a:spcAft>
            </a:pPr>
            <a:r>
              <a:rPr sz="1100" b="1" i="0">
                <a:solidFill>
                  <a:srgbClr val="0A5E5D"/>
                </a:solidFill>
              </a:rPr>
              <a:t>R1 </a:t>
            </a:r>
            <a:r>
              <a:rPr sz="1100" b="0" i="0">
                <a:solidFill>
                  <a:srgbClr val="43535F"/>
                </a:solidFill>
              </a:rPr>
              <a:t>other business line, inferred affiliate, platform supplier</a:t>
            </a:r>
            <a:endParaRPr sz="1200"/>
          </a:p>
          <a:p>
            <a:pPr algn="l">
              <a:spcAft>
                <a:spcPts val="100"/>
              </a:spcAft>
            </a:pPr>
            <a:r>
              <a:rPr sz="1100" b="1" i="0">
                <a:solidFill>
                  <a:srgbClr val="0A5E5D"/>
                </a:solidFill>
              </a:rPr>
              <a:t>R0 </a:t>
            </a:r>
            <a:r>
              <a:rPr sz="1100" b="0" i="0">
                <a:solidFill>
                  <a:srgbClr val="43535F"/>
                </a:solidFill>
              </a:rPr>
              <a:t>commentary</a:t>
            </a:r>
            <a:endParaRPr sz="1200"/>
          </a:p>
        </p:txBody>
      </p:sp>
      <p:sp>
        <p:nvSpPr>
          <p:cNvPr id="11" name="Legend RC · recency (against as-of)"/>
          <p:cNvSpPr/>
          <p:nvPr/>
        </p:nvSpPr>
        <p:spPr>
          <a:xfrm>
            <a:off x="4291584" y="4041648"/>
            <a:ext cx="3605784" cy="2212848"/>
          </a:xfrm>
          <a:prstGeom prst="roundRect">
            <a:avLst>
              <a:gd name="adj" fmla="val 4132"/>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RC · recency (against as-of)</a:t>
            </a:r>
            <a:endParaRPr sz="1200"/>
          </a:p>
          <a:p>
            <a:pPr algn="l">
              <a:spcAft>
                <a:spcPts val="100"/>
              </a:spcAft>
            </a:pPr>
            <a:r>
              <a:rPr sz="1100" b="1" i="0">
                <a:solidFill>
                  <a:srgbClr val="0A5E5D"/>
                </a:solidFill>
              </a:rPr>
              <a:t>T3 </a:t>
            </a:r>
            <a:r>
              <a:rPr sz="1100" b="0" i="0">
                <a:solidFill>
                  <a:srgbClr val="43535F"/>
                </a:solidFill>
              </a:rPr>
              <a:t>12 months or less</a:t>
            </a:r>
            <a:endParaRPr sz="1200"/>
          </a:p>
          <a:p>
            <a:pPr algn="l">
              <a:spcAft>
                <a:spcPts val="100"/>
              </a:spcAft>
            </a:pPr>
            <a:r>
              <a:rPr sz="1100" b="1" i="0">
                <a:solidFill>
                  <a:srgbClr val="0A5E5D"/>
                </a:solidFill>
              </a:rPr>
              <a:t>T2 </a:t>
            </a:r>
            <a:r>
              <a:rPr sz="1100" b="0" i="0">
                <a:solidFill>
                  <a:srgbClr val="43535F"/>
                </a:solidFill>
              </a:rPr>
              <a:t>24 months or less</a:t>
            </a:r>
            <a:endParaRPr sz="1200"/>
          </a:p>
          <a:p>
            <a:pPr algn="l">
              <a:spcAft>
                <a:spcPts val="100"/>
              </a:spcAft>
            </a:pPr>
            <a:r>
              <a:rPr sz="1100" b="1" i="0">
                <a:solidFill>
                  <a:srgbClr val="0A5E5D"/>
                </a:solidFill>
              </a:rPr>
              <a:t>T1 </a:t>
            </a:r>
            <a:r>
              <a:rPr sz="1100" b="0" i="0">
                <a:solidFill>
                  <a:srgbClr val="43535F"/>
                </a:solidFill>
              </a:rPr>
              <a:t>36 months or less</a:t>
            </a:r>
            <a:endParaRPr sz="1200"/>
          </a:p>
          <a:p>
            <a:pPr algn="l">
              <a:spcAft>
                <a:spcPts val="100"/>
              </a:spcAft>
            </a:pPr>
            <a:r>
              <a:rPr sz="1100" b="1" i="0">
                <a:solidFill>
                  <a:srgbClr val="0A5E5D"/>
                </a:solidFill>
              </a:rPr>
              <a:t>T0 </a:t>
            </a:r>
            <a:r>
              <a:rPr sz="1100" b="0" i="0">
                <a:solidFill>
                  <a:srgbClr val="43535F"/>
                </a:solidFill>
              </a:rPr>
              <a:t>older or undated</a:t>
            </a:r>
            <a:endParaRPr sz="1200"/>
          </a:p>
        </p:txBody>
      </p:sp>
      <p:sp>
        <p:nvSpPr>
          <p:cNvPr id="12" name="Legend IC · corroboration"/>
          <p:cNvSpPr/>
          <p:nvPr/>
        </p:nvSpPr>
        <p:spPr>
          <a:xfrm>
            <a:off x="8080248" y="4041648"/>
            <a:ext cx="3605784" cy="2212848"/>
          </a:xfrm>
          <a:prstGeom prst="roundRect">
            <a:avLst>
              <a:gd name="adj" fmla="val 4132"/>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IC · corroboration</a:t>
            </a:r>
            <a:endParaRPr sz="1200"/>
          </a:p>
          <a:p>
            <a:pPr algn="l">
              <a:spcAft>
                <a:spcPts val="100"/>
              </a:spcAft>
            </a:pPr>
            <a:r>
              <a:rPr sz="1100" b="1" i="0">
                <a:solidFill>
                  <a:srgbClr val="0A5E5D"/>
                </a:solidFill>
              </a:rPr>
              <a:t>1 </a:t>
            </a:r>
            <a:r>
              <a:rPr sz="1100" b="0" i="0">
                <a:solidFill>
                  <a:srgbClr val="43535F"/>
                </a:solidFill>
              </a:rPr>
              <a:t>corroborated by an independent K</a:t>
            </a:r>
            <a:endParaRPr sz="1200"/>
          </a:p>
          <a:p>
            <a:pPr algn="l">
              <a:spcAft>
                <a:spcPts val="100"/>
              </a:spcAft>
            </a:pPr>
            <a:r>
              <a:rPr sz="1100" b="1" i="0">
                <a:solidFill>
                  <a:srgbClr val="0A5E5D"/>
                </a:solidFill>
              </a:rPr>
              <a:t>2 </a:t>
            </a:r>
            <a:r>
              <a:rPr sz="1100" b="0" i="0">
                <a:solidFill>
                  <a:srgbClr val="43535F"/>
                </a:solidFill>
              </a:rPr>
              <a:t>consistent, uncorroborated A/B</a:t>
            </a:r>
            <a:endParaRPr sz="1200"/>
          </a:p>
          <a:p>
            <a:pPr algn="l">
              <a:spcAft>
                <a:spcPts val="100"/>
              </a:spcAft>
            </a:pPr>
            <a:r>
              <a:rPr sz="1100" b="1" i="0">
                <a:solidFill>
                  <a:srgbClr val="0A5E5D"/>
                </a:solidFill>
              </a:rPr>
              <a:t>3 </a:t>
            </a:r>
            <a:r>
              <a:rPr sz="1100" b="0" i="0">
                <a:solidFill>
                  <a:srgbClr val="43535F"/>
                </a:solidFill>
              </a:rPr>
              <a:t>S0 or S1 only</a:t>
            </a:r>
            <a:endParaRPr sz="1200"/>
          </a:p>
          <a:p>
            <a:pPr algn="l">
              <a:spcAft>
                <a:spcPts val="100"/>
              </a:spcAft>
            </a:pPr>
            <a:r>
              <a:rPr sz="1100" b="1" i="0">
                <a:solidFill>
                  <a:srgbClr val="0A5E5D"/>
                </a:solidFill>
              </a:rPr>
              <a:t>4 </a:t>
            </a:r>
            <a:r>
              <a:rPr sz="1100" b="0" i="0">
                <a:solidFill>
                  <a:srgbClr val="43535F"/>
                </a:solidFill>
              </a:rPr>
              <a:t>uncorroborated C/D at S2+ (doubtful)</a:t>
            </a:r>
            <a:endParaRPr sz="1200"/>
          </a:p>
          <a:p>
            <a:pPr algn="l">
              <a:spcAft>
                <a:spcPts val="100"/>
              </a:spcAft>
            </a:pPr>
            <a:r>
              <a:rPr sz="1100" b="1" i="0">
                <a:solidFill>
                  <a:srgbClr val="0A5E5D"/>
                </a:solidFill>
              </a:rPr>
              <a:t>5 </a:t>
            </a:r>
            <a:r>
              <a:rPr sz="1100" b="0" i="0">
                <a:solidFill>
                  <a:srgbClr val="43535F"/>
                </a:solidFill>
              </a:rPr>
              <a:t>contradicted by an A/B limiting statement</a:t>
            </a:r>
            <a:endParaRPr sz="1200"/>
          </a:p>
          <a:p>
            <a:pPr algn="l">
              <a:spcAft>
                <a:spcPts val="100"/>
              </a:spcAft>
            </a:pPr>
            <a:r>
              <a:rPr sz="1100" b="1" i="0">
                <a:solidFill>
                  <a:srgbClr val="0A5E5D"/>
                </a:solidFill>
              </a:rPr>
              <a:t>6 </a:t>
            </a:r>
            <a:r>
              <a:rPr sz="1100" b="0" i="0">
                <a:solidFill>
                  <a:srgbClr val="43535F"/>
                </a:solidFill>
              </a:rPr>
              <a:t>cannot be judged</a:t>
            </a:r>
            <a:endParaRPr sz="120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10896"/>
            <a:ext cx="9509760" cy="640080"/>
          </a:xfrm>
        </p:spPr>
        <p:txBody>
          <a:bodyPr wrap="square" anchor="b" lIns="0" tIns="0" rIns="0" bIns="0">
            <a:noAutofit/>
          </a:bodyPr>
          <a:lstStyle/>
          <a:p>
            <a:pPr algn="l"/>
            <a:r>
              <a:rPr sz="3000" b="1" i="0">
                <a:solidFill>
                  <a:srgbClr val="0C2D36"/>
                </a:solidFill>
              </a:rPr>
              <a:t>A3 · Verdict rules and wording</a:t>
            </a:r>
            <a:endParaRPr sz="1200"/>
          </a:p>
        </p:txBody>
      </p:sp>
      <p:sp>
        <p:nvSpPr>
          <p:cNvPr id="3" name="Corner tag"/>
          <p:cNvSpPr/>
          <p:nvPr/>
        </p:nvSpPr>
        <p:spPr>
          <a:xfrm>
            <a:off x="10241280" y="457200"/>
            <a:ext cx="1444752" cy="310896"/>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APPENDIX</a:t>
            </a:r>
            <a:endParaRPr sz="1000"/>
          </a:p>
        </p:txBody>
      </p:sp>
      <p:sp>
        <p:nvSpPr>
          <p:cNvPr id="4" name="Kicker"/>
          <p:cNvSpPr txBox="1"/>
          <p:nvPr/>
        </p:nvSpPr>
        <p:spPr>
          <a:xfrm>
            <a:off x="502920" y="987552"/>
            <a:ext cx="11183112" cy="502920"/>
          </a:xfrm>
          <a:prstGeom prst="rect">
            <a:avLst/>
          </a:prstGeom>
          <a:noFill/>
        </p:spPr>
        <p:txBody>
          <a:bodyPr wrap="square" anchor="t" lIns="0" tIns="0" rIns="0" bIns="0">
            <a:noAutofit/>
          </a:bodyPr>
          <a:lstStyle/>
          <a:p>
            <a:pPr algn="l"/>
            <a:r>
              <a:rPr sz="1500" b="0" i="0">
                <a:solidFill>
                  <a:srgbClr val="0A5E5D"/>
                </a:solidFill>
              </a:rPr>
              <a:t>Rules a–f run in order and the first match wins; likelihood and confidence are written as separate sentences.</a:t>
            </a:r>
            <a:endParaRPr sz="1200"/>
          </a:p>
        </p:txBody>
      </p:sp>
      <p:sp>
        <p:nvSpPr>
          <p:cNvPr id="5"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66757F"/>
                </a:solidFill>
              </a:rPr>
              <a:t>Team Osprey · Vendor AI footprint · Confidential case-study material, not for distribution</a:t>
            </a:r>
            <a:endParaRPr sz="1200"/>
          </a:p>
        </p:txBody>
      </p:sp>
      <p:sp>
        <p:nvSpPr>
          <p:cNvPr id="6" name="Slide number"/>
          <p:cNvSpPr txBox="1"/>
          <p:nvPr/>
        </p:nvSpPr>
        <p:spPr>
          <a:xfrm>
            <a:off x="10954512" y="6437376"/>
            <a:ext cx="731520" cy="256032"/>
          </a:xfrm>
          <a:prstGeom prst="rect">
            <a:avLst/>
          </a:prstGeom>
          <a:noFill/>
        </p:spPr>
        <p:txBody>
          <a:bodyPr wrap="square" anchor="ctr" lIns="0" tIns="0" rIns="0" bIns="0">
            <a:noAutofit/>
          </a:bodyPr>
          <a:lstStyle/>
          <a:p>
            <a:pPr algn="r"/>
            <a:fld id="{595458F4-8CD7-5D9D-980B-96E3D54677D5}" type="slidenum">
              <a:rPr lang="en-GB" sz="1000" dirty="0">
                <a:solidFill>
                  <a:srgbClr val="66757F"/>
                </a:solidFill>
              </a:rPr>
              <a:t>17</a:t>
            </a:fld>
            <a:endParaRPr sz="1200"/>
          </a:p>
        </p:txBody>
      </p:sp>
      <p:graphicFrame>
        <p:nvGraphicFramePr>
          <p:cNvPr id="7" name="Verdict rules table"/>
          <p:cNvGraphicFramePr>
            <a:graphicFrameLocks noGrp="1"/>
          </p:cNvGraphicFramePr>
          <p:nvPr/>
        </p:nvGraphicFramePr>
        <p:xfrm>
          <a:off x="502920" y="1645920"/>
          <a:ext cx="11183112" cy="3054096"/>
        </p:xfrm>
        <a:graphic>
          <a:graphicData uri="http://schemas.openxmlformats.org/drawingml/2006/table">
            <a:tbl>
              <a:tblPr firstRow="1">
                <a:tableStyleId>{2D5ABB26-0587-4C30-8999-92F81FD0307C}</a:tableStyleId>
              </a:tblPr>
              <a:tblGrid>
                <a:gridCol w="502920"/>
                <a:gridCol w="5760720"/>
                <a:gridCol w="1325880"/>
                <a:gridCol w="3593592"/>
              </a:tblGrid>
              <a:tr h="310896">
                <a:tc>
                  <a:txBody>
                    <a:bodyPr wrap="square" anchor="t" lIns="64008" tIns="32004" rIns="64008" bIns="32004">
                      <a:noAutofit/>
                    </a:bodyPr>
                    <a:lstStyle/>
                    <a:p>
                      <a:pPr algn="l"/>
                      <a:r>
                        <a:rPr sz="1050" b="1" i="0">
                          <a:solidFill>
                            <a:srgbClr val="FFFFFF"/>
                          </a:solidFill>
                        </a:rPr>
                        <a:t>Rule</a:t>
                      </a:r>
                      <a:endParaRPr sz="1000"/>
                    </a:p>
                  </a:txBody>
                  <a:tcPr marL="64008" marR="64008" marT="32004" marB="32004" anchor="ctr">
                    <a:solidFill>
                      <a:srgbClr val="0C2D36"/>
                    </a:solidFill>
                  </a:tcPr>
                </a:tc>
                <a:tc>
                  <a:txBody>
                    <a:bodyPr wrap="square" anchor="t" lIns="64008" tIns="32004" rIns="64008" bIns="32004">
                      <a:noAutofit/>
                    </a:bodyPr>
                    <a:lstStyle/>
                    <a:p>
                      <a:pPr algn="l"/>
                      <a:r>
                        <a:rPr sz="1050" b="1" i="0">
                          <a:solidFill>
                            <a:srgbClr val="FFFFFF"/>
                          </a:solidFill>
                        </a:rPr>
                        <a:t>Condition</a:t>
                      </a:r>
                      <a:endParaRPr sz="1000"/>
                    </a:p>
                  </a:txBody>
                  <a:tcPr marL="64008" marR="64008" marT="32004" marB="32004" anchor="ctr">
                    <a:solidFill>
                      <a:srgbClr val="0C2D36"/>
                    </a:solidFill>
                  </a:tcPr>
                </a:tc>
                <a:tc>
                  <a:txBody>
                    <a:bodyPr wrap="square" anchor="t" lIns="64008" tIns="32004" rIns="64008" bIns="32004">
                      <a:noAutofit/>
                    </a:bodyPr>
                    <a:lstStyle/>
                    <a:p>
                      <a:pPr algn="l"/>
                      <a:r>
                        <a:rPr sz="1050" b="1" i="0">
                          <a:solidFill>
                            <a:srgbClr val="FFFFFF"/>
                          </a:solidFill>
                        </a:rPr>
                        <a:t>Column O</a:t>
                      </a:r>
                      <a:endParaRPr sz="1000"/>
                    </a:p>
                  </a:txBody>
                  <a:tcPr marL="64008" marR="64008" marT="32004" marB="32004" anchor="ctr">
                    <a:solidFill>
                      <a:srgbClr val="0C2D36"/>
                    </a:solidFill>
                  </a:tcPr>
                </a:tc>
                <a:tc>
                  <a:txBody>
                    <a:bodyPr wrap="square" anchor="t" lIns="64008" tIns="32004" rIns="64008" bIns="32004">
                      <a:noAutofit/>
                    </a:bodyPr>
                    <a:lstStyle/>
                    <a:p>
                      <a:pPr algn="l"/>
                      <a:r>
                        <a:rPr sz="1050" b="1" i="0">
                          <a:solidFill>
                            <a:srgbClr val="FFFFFF"/>
                          </a:solidFill>
                        </a:rPr>
                        <a:t>ICD 203 likelihood</a:t>
                      </a:r>
                      <a:endParaRPr sz="1000"/>
                    </a:p>
                  </a:txBody>
                  <a:tcPr marL="64008" marR="64008" marT="32004" marB="32004" anchor="ctr">
                    <a:solidFill>
                      <a:srgbClr val="0C2D36"/>
                    </a:solidFill>
                  </a:tcPr>
                </a:tc>
              </a:tr>
              <a:tr h="457200">
                <a:tc>
                  <a:txBody>
                    <a:bodyPr wrap="square" anchor="t" lIns="64008" tIns="32004" rIns="64008" bIns="32004">
                      <a:noAutofit/>
                    </a:bodyPr>
                    <a:lstStyle/>
                    <a:p>
                      <a:pPr algn="ctr"/>
                      <a:r>
                        <a:rPr sz="1200" b="1" i="0">
                          <a:solidFill>
                            <a:srgbClr val="0A5E5D"/>
                          </a:solidFill>
                        </a:rPr>
                        <a:t>a</a:t>
                      </a:r>
                      <a:endParaRPr sz="105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0" i="0">
                          <a:solidFill>
                            <a:srgbClr val="43535F"/>
                          </a:solidFill>
                        </a:rPr>
                        <a:t>Conflict: a qualifying signal (Q) is contradicted by an A/B limiting statement dated the same or later</a:t>
                      </a:r>
                      <a:endParaRPr sz="105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1" i="0">
                          <a:solidFill>
                            <a:srgbClr val="0C2D36"/>
                          </a:solidFill>
                        </a:rPr>
                        <a:t>Inconclusive</a:t>
                      </a:r>
                      <a:endParaRPr sz="105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0" i="0">
                          <a:solidFill>
                            <a:srgbClr val="43535F"/>
                          </a:solidFill>
                        </a:rPr>
                        <a:t>roughly even chance or unlikely</a:t>
                      </a:r>
                      <a:endParaRPr sz="1050"/>
                    </a:p>
                  </a:txBody>
                  <a:tcPr marL="64008" marR="64008" marT="32004" marB="32004" anchor="ctr">
                    <a:lnB w="9525" cap="flat" cmpd="sng" algn="ctr">
                      <a:solidFill>
                        <a:srgbClr val="C8D3D9"/>
                      </a:solidFill>
                      <a:prstDash val="solid"/>
                    </a:lnB>
                    <a:solidFill>
                      <a:srgbClr val="FFFFFF"/>
                    </a:solidFill>
                  </a:tcPr>
                </a:tc>
              </a:tr>
              <a:tr h="457200">
                <a:tc>
                  <a:txBody>
                    <a:bodyPr wrap="square" anchor="t" lIns="64008" tIns="32004" rIns="64008" bIns="32004">
                      <a:noAutofit/>
                    </a:bodyPr>
                    <a:lstStyle/>
                    <a:p>
                      <a:pPr algn="ctr"/>
                      <a:r>
                        <a:rPr sz="1200" b="1" i="0">
                          <a:solidFill>
                            <a:srgbClr val="0A5E5D"/>
                          </a:solidFill>
                        </a:rPr>
                        <a:t>b</a:t>
                      </a:r>
                      <a:endParaRPr sz="105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0" i="0">
                          <a:solidFill>
                            <a:srgbClr val="43535F"/>
                          </a:solidFill>
                        </a:rPr>
                        <a:t>Confirmed: a Q at R3 plus an independent corroborating signal (K)</a:t>
                      </a:r>
                      <a:endParaRPr sz="105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1" i="0">
                          <a:solidFill>
                            <a:srgbClr val="0C2D36"/>
                          </a:solidFill>
                        </a:rPr>
                        <a:t>Yes</a:t>
                      </a:r>
                      <a:endParaRPr sz="105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0" i="0">
                          <a:solidFill>
                            <a:srgbClr val="43535F"/>
                          </a:solidFill>
                        </a:rPr>
                        <a:t>very likely; almost certain with 2+ independent SR A sources</a:t>
                      </a:r>
                      <a:endParaRPr sz="1050"/>
                    </a:p>
                  </a:txBody>
                  <a:tcPr marL="64008" marR="64008" marT="32004" marB="32004" anchor="ctr">
                    <a:lnB w="9525" cap="flat" cmpd="sng" algn="ctr">
                      <a:solidFill>
                        <a:srgbClr val="C8D3D9"/>
                      </a:solidFill>
                      <a:prstDash val="solid"/>
                    </a:lnB>
                    <a:solidFill>
                      <a:srgbClr val="FFFFFF"/>
                    </a:solidFill>
                  </a:tcPr>
                </a:tc>
              </a:tr>
              <a:tr h="457200">
                <a:tc>
                  <a:txBody>
                    <a:bodyPr wrap="square" anchor="t" lIns="64008" tIns="32004" rIns="64008" bIns="32004">
                      <a:noAutofit/>
                    </a:bodyPr>
                    <a:lstStyle/>
                    <a:p>
                      <a:pPr algn="ctr"/>
                      <a:r>
                        <a:rPr sz="1200" b="1" i="0">
                          <a:solidFill>
                            <a:srgbClr val="0A5E5D"/>
                          </a:solidFill>
                        </a:rPr>
                        <a:t>c</a:t>
                      </a:r>
                      <a:endParaRPr sz="105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0" i="0">
                          <a:solidFill>
                            <a:srgbClr val="43535F"/>
                          </a:solidFill>
                        </a:rPr>
                        <a:t>Probable: any Q at R2 or above, or two independent K</a:t>
                      </a:r>
                      <a:endParaRPr sz="105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1" i="0">
                          <a:solidFill>
                            <a:srgbClr val="0C2D36"/>
                          </a:solidFill>
                        </a:rPr>
                        <a:t>Yes</a:t>
                      </a:r>
                      <a:endParaRPr sz="105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0" i="0">
                          <a:solidFill>
                            <a:srgbClr val="43535F"/>
                          </a:solidFill>
                        </a:rPr>
                        <a:t>likely</a:t>
                      </a:r>
                      <a:endParaRPr sz="1050"/>
                    </a:p>
                  </a:txBody>
                  <a:tcPr marL="64008" marR="64008" marT="32004" marB="32004" anchor="ctr">
                    <a:lnB w="9525" cap="flat" cmpd="sng" algn="ctr">
                      <a:solidFill>
                        <a:srgbClr val="C8D3D9"/>
                      </a:solidFill>
                      <a:prstDash val="solid"/>
                    </a:lnB>
                    <a:solidFill>
                      <a:srgbClr val="FFFFFF"/>
                    </a:solidFill>
                  </a:tcPr>
                </a:tc>
              </a:tr>
              <a:tr h="457200">
                <a:tc>
                  <a:txBody>
                    <a:bodyPr wrap="square" anchor="t" lIns="64008" tIns="32004" rIns="64008" bIns="32004">
                      <a:noAutofit/>
                    </a:bodyPr>
                    <a:lstStyle/>
                    <a:p>
                      <a:pPr algn="ctr"/>
                      <a:r>
                        <a:rPr sz="1200" b="1" i="0">
                          <a:solidFill>
                            <a:srgbClr val="0A5E5D"/>
                          </a:solidFill>
                        </a:rPr>
                        <a:t>d</a:t>
                      </a:r>
                      <a:endParaRPr sz="105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0" i="0">
                          <a:solidFill>
                            <a:srgbClr val="43535F"/>
                          </a:solidFill>
                        </a:rPr>
                        <a:t>Affirmed negative: an A/B limiting statement covers the service, no Q or K</a:t>
                      </a:r>
                      <a:endParaRPr sz="105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1" i="0">
                          <a:solidFill>
                            <a:srgbClr val="0C2D36"/>
                          </a:solidFill>
                        </a:rPr>
                        <a:t>No</a:t>
                      </a:r>
                      <a:endParaRPr sz="105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0" i="0">
                          <a:solidFill>
                            <a:srgbClr val="43535F"/>
                          </a:solidFill>
                        </a:rPr>
                        <a:t>very unlikely</a:t>
                      </a:r>
                      <a:endParaRPr sz="1050"/>
                    </a:p>
                  </a:txBody>
                  <a:tcPr marL="64008" marR="64008" marT="32004" marB="32004" anchor="ctr">
                    <a:lnB w="9525" cap="flat" cmpd="sng" algn="ctr">
                      <a:solidFill>
                        <a:srgbClr val="C8D3D9"/>
                      </a:solidFill>
                      <a:prstDash val="solid"/>
                    </a:lnB>
                    <a:solidFill>
                      <a:srgbClr val="FFFFFF"/>
                    </a:solidFill>
                  </a:tcPr>
                </a:tc>
              </a:tr>
              <a:tr h="457200">
                <a:tc>
                  <a:txBody>
                    <a:bodyPr wrap="square" anchor="t" lIns="64008" tIns="32004" rIns="64008" bIns="32004">
                      <a:noAutofit/>
                    </a:bodyPr>
                    <a:lstStyle/>
                    <a:p>
                      <a:pPr algn="ctr"/>
                      <a:r>
                        <a:rPr sz="1200" b="1" i="0">
                          <a:solidFill>
                            <a:srgbClr val="0A5E5D"/>
                          </a:solidFill>
                        </a:rPr>
                        <a:t>e</a:t>
                      </a:r>
                      <a:endParaRPr sz="105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0" i="0">
                          <a:solidFill>
                            <a:srgbClr val="43535F"/>
                          </a:solidFill>
                        </a:rPr>
                        <a:t>Not detected: every mandatory family complete and no S1+, R2+, T1+, U1–U4/U7 item</a:t>
                      </a:r>
                      <a:endParaRPr sz="105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1" i="0">
                          <a:solidFill>
                            <a:srgbClr val="0C2D36"/>
                          </a:solidFill>
                        </a:rPr>
                        <a:t>No</a:t>
                      </a:r>
                      <a:endParaRPr sz="105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0" i="0">
                          <a:solidFill>
                            <a:srgbClr val="43535F"/>
                          </a:solidFill>
                        </a:rPr>
                        <a:t>unlikely</a:t>
                      </a:r>
                      <a:endParaRPr sz="1050"/>
                    </a:p>
                  </a:txBody>
                  <a:tcPr marL="64008" marR="64008" marT="32004" marB="32004" anchor="ctr">
                    <a:lnB w="9525" cap="flat" cmpd="sng" algn="ctr">
                      <a:solidFill>
                        <a:srgbClr val="C8D3D9"/>
                      </a:solidFill>
                      <a:prstDash val="solid"/>
                    </a:lnB>
                    <a:solidFill>
                      <a:srgbClr val="FFFFFF"/>
                    </a:solidFill>
                  </a:tcPr>
                </a:tc>
              </a:tr>
              <a:tr h="457200">
                <a:tc>
                  <a:txBody>
                    <a:bodyPr wrap="square" anchor="t" lIns="64008" tIns="32004" rIns="64008" bIns="32004">
                      <a:noAutofit/>
                    </a:bodyPr>
                    <a:lstStyle/>
                    <a:p>
                      <a:pPr algn="ctr"/>
                      <a:r>
                        <a:rPr sz="1200" b="1" i="0">
                          <a:solidFill>
                            <a:srgbClr val="0A5E5D"/>
                          </a:solidFill>
                        </a:rPr>
                        <a:t>f</a:t>
                      </a:r>
                      <a:endParaRPr sz="105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0" i="0">
                          <a:solidFill>
                            <a:srgbClr val="43535F"/>
                          </a:solidFill>
                        </a:rPr>
                        <a:t>Otherwise: marketing, capability, relationship or affiliate only, or incomplete coverage</a:t>
                      </a:r>
                      <a:endParaRPr sz="105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1" i="0">
                          <a:solidFill>
                            <a:srgbClr val="0C2D36"/>
                          </a:solidFill>
                        </a:rPr>
                        <a:t>Inconclusive</a:t>
                      </a:r>
                      <a:endParaRPr sz="105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50" b="0" i="0">
                          <a:solidFill>
                            <a:srgbClr val="43535F"/>
                          </a:solidFill>
                        </a:rPr>
                        <a:t>roughly even chance or unlikely</a:t>
                      </a:r>
                      <a:endParaRPr sz="1050"/>
                    </a:p>
                  </a:txBody>
                  <a:tcPr marL="64008" marR="64008" marT="32004" marB="32004" anchor="ctr">
                    <a:lnB w="9525" cap="flat" cmpd="sng" algn="ctr">
                      <a:solidFill>
                        <a:srgbClr val="C8D3D9"/>
                      </a:solidFill>
                      <a:prstDash val="solid"/>
                    </a:lnB>
                    <a:solidFill>
                      <a:srgbClr val="FFFFFF"/>
                    </a:solidFill>
                  </a:tcPr>
                </a:tc>
              </a:tr>
            </a:tbl>
          </a:graphicData>
        </a:graphic>
      </p:graphicFrame>
      <p:sp>
        <p:nvSpPr>
          <p:cNvPr id="8" name="Confidence card"/>
          <p:cNvSpPr/>
          <p:nvPr/>
        </p:nvSpPr>
        <p:spPr>
          <a:xfrm>
            <a:off x="502920" y="4892040"/>
            <a:ext cx="11183112" cy="1298448"/>
          </a:xfrm>
          <a:prstGeom prst="roundRect">
            <a:avLst>
              <a:gd name="adj" fmla="val 7042"/>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Confidence (a separate sentence in column T)</a:t>
            </a:r>
            <a:endParaRPr sz="1200"/>
          </a:p>
          <a:p>
            <a:pPr algn="l" marL="146304" indent="-146304">
              <a:spcAft>
                <a:spcPts val="100"/>
              </a:spcAft>
              <a:buClr>
                <a:srgbClr val="0E7C7B"/>
              </a:buClr>
              <a:buSzPct val="100000"/>
              <a:buFont typeface="Arial"/>
              <a:buChar char="•"/>
            </a:pPr>
            <a:r>
              <a:rPr sz="1050" b="0" i="0">
                <a:solidFill>
                  <a:srgbClr val="43535F"/>
                </a:solidFill>
              </a:rPr>
              <a:t>Low: a conflict, incomplete coverage of a mandatory family, or SR D–F sources only</a:t>
            </a:r>
            <a:endParaRPr sz="1200"/>
          </a:p>
          <a:p>
            <a:pPr algn="l" marL="146304" indent="-146304">
              <a:spcAft>
                <a:spcPts val="100"/>
              </a:spcAft>
              <a:buClr>
                <a:srgbClr val="0E7C7B"/>
              </a:buClr>
              <a:buSzPct val="100000"/>
              <a:buFont typeface="Arial"/>
              <a:buChar char="•"/>
            </a:pPr>
            <a:r>
              <a:rPr sz="1050" b="0" i="0">
                <a:solidFill>
                  <a:srgbClr val="43535F"/>
                </a:solidFill>
              </a:rPr>
              <a:t>High: two or more consistent, independent A/B sources and complete coverage</a:t>
            </a:r>
            <a:endParaRPr sz="1200"/>
          </a:p>
          <a:p>
            <a:pPr algn="l" marL="146304" indent="-146304">
              <a:spcAft>
                <a:spcPts val="100"/>
              </a:spcAft>
              <a:buClr>
                <a:srgbClr val="0E7C7B"/>
              </a:buClr>
              <a:buSzPct val="100000"/>
              <a:buFont typeface="Arial"/>
              <a:buChar char="•"/>
            </a:pPr>
            <a:r>
              <a:rPr sz="1050" b="0" i="0">
                <a:solidFill>
                  <a:srgbClr val="43535F"/>
                </a:solidFill>
              </a:rPr>
              <a:t>Moderate: one A/B source, two or more C sources, or complete coverage with nothing found</a:t>
            </a:r>
            <a:endParaRPr sz="120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10896"/>
            <a:ext cx="9509760" cy="640080"/>
          </a:xfrm>
        </p:spPr>
        <p:txBody>
          <a:bodyPr wrap="square" anchor="b" lIns="0" tIns="0" rIns="0" bIns="0">
            <a:noAutofit/>
          </a:bodyPr>
          <a:lstStyle/>
          <a:p>
            <a:pPr algn="l"/>
            <a:r>
              <a:rPr sz="3000" b="1" i="0">
                <a:solidFill>
                  <a:srgbClr val="0C2D36"/>
                </a:solidFill>
              </a:rPr>
              <a:t>A4 · Risk anchors, gate, escalators and cap</a:t>
            </a:r>
            <a:endParaRPr sz="1200"/>
          </a:p>
        </p:txBody>
      </p:sp>
      <p:sp>
        <p:nvSpPr>
          <p:cNvPr id="3" name="Corner tag"/>
          <p:cNvSpPr/>
          <p:nvPr/>
        </p:nvSpPr>
        <p:spPr>
          <a:xfrm>
            <a:off x="10241280" y="457200"/>
            <a:ext cx="1444752" cy="310896"/>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APPENDIX</a:t>
            </a:r>
            <a:endParaRPr sz="1000"/>
          </a:p>
        </p:txBody>
      </p:sp>
      <p:sp>
        <p:nvSpPr>
          <p:cNvPr id="4" name="Kicker"/>
          <p:cNvSpPr txBox="1"/>
          <p:nvPr/>
        </p:nvSpPr>
        <p:spPr>
          <a:xfrm>
            <a:off x="502920" y="987552"/>
            <a:ext cx="11183112" cy="502920"/>
          </a:xfrm>
          <a:prstGeom prst="rect">
            <a:avLst/>
          </a:prstGeom>
          <a:noFill/>
        </p:spPr>
        <p:txBody>
          <a:bodyPr wrap="square" anchor="t" lIns="0" tIns="0" rIns="0" bIns="0">
            <a:noAutofit/>
          </a:bodyPr>
          <a:lstStyle/>
          <a:p>
            <a:pPr algn="l"/>
            <a:r>
              <a:rPr sz="1500" b="0" i="0">
                <a:solidFill>
                  <a:srgbClr val="0A5E5D"/>
                </a:solidFill>
              </a:rPr>
              <a:t>ARP = 2E + 2K + TP + TG (0–18): exposure and decision impact count double.</a:t>
            </a:r>
            <a:endParaRPr sz="1200"/>
          </a:p>
        </p:txBody>
      </p:sp>
      <p:sp>
        <p:nvSpPr>
          <p:cNvPr id="5"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66757F"/>
                </a:solidFill>
              </a:rPr>
              <a:t>Team Osprey · Vendor AI footprint · Confidential case-study material, not for distribution</a:t>
            </a:r>
            <a:endParaRPr sz="1200"/>
          </a:p>
        </p:txBody>
      </p:sp>
      <p:sp>
        <p:nvSpPr>
          <p:cNvPr id="6" name="Slide number"/>
          <p:cNvSpPr txBox="1"/>
          <p:nvPr/>
        </p:nvSpPr>
        <p:spPr>
          <a:xfrm>
            <a:off x="10954512" y="6437376"/>
            <a:ext cx="731520" cy="256032"/>
          </a:xfrm>
          <a:prstGeom prst="rect">
            <a:avLst/>
          </a:prstGeom>
          <a:noFill/>
        </p:spPr>
        <p:txBody>
          <a:bodyPr wrap="square" anchor="ctr" lIns="0" tIns="0" rIns="0" bIns="0">
            <a:noAutofit/>
          </a:bodyPr>
          <a:lstStyle/>
          <a:p>
            <a:pPr algn="r"/>
            <a:fld id="{54DFF011-94A8-515F-9346-36009826C89A}" type="slidenum">
              <a:rPr lang="en-GB" sz="1000" dirty="0">
                <a:solidFill>
                  <a:srgbClr val="66757F"/>
                </a:solidFill>
              </a:rPr>
              <a:t>18</a:t>
            </a:fld>
            <a:endParaRPr sz="1200"/>
          </a:p>
        </p:txBody>
      </p:sp>
      <p:graphicFrame>
        <p:nvGraphicFramePr>
          <p:cNvPr id="7" name="Exposure table"/>
          <p:cNvGraphicFramePr>
            <a:graphicFrameLocks noGrp="1"/>
          </p:cNvGraphicFramePr>
          <p:nvPr/>
        </p:nvGraphicFramePr>
        <p:xfrm>
          <a:off x="502920" y="1645920"/>
          <a:ext cx="7132320" cy="2139696"/>
        </p:xfrm>
        <a:graphic>
          <a:graphicData uri="http://schemas.openxmlformats.org/drawingml/2006/table">
            <a:tbl>
              <a:tblPr firstRow="1">
                <a:tableStyleId>{2D5ABB26-0587-4C30-8999-92F81FD0307C}</a:tableStyleId>
              </a:tblPr>
              <a:tblGrid>
                <a:gridCol w="1737360"/>
                <a:gridCol w="2148840"/>
                <a:gridCol w="2148840"/>
                <a:gridCol w="1097280"/>
              </a:tblGrid>
              <a:tr h="310896">
                <a:tc>
                  <a:txBody>
                    <a:bodyPr wrap="square" anchor="t" lIns="64008" tIns="32004" rIns="64008" bIns="32004">
                      <a:noAutofit/>
                    </a:bodyPr>
                    <a:lstStyle/>
                    <a:p>
                      <a:pPr algn="l"/>
                      <a:r>
                        <a:rPr sz="1000" b="1" i="0">
                          <a:solidFill>
                            <a:srgbClr val="FFFFFF"/>
                          </a:solidFill>
                        </a:rPr>
                        <a:t>E: where the AI sits</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E3 (needs an R3 item)</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E2</a:t>
                      </a:r>
                      <a:endParaRPr sz="1000"/>
                    </a:p>
                  </a:txBody>
                  <a:tcPr marL="64008" marR="64008" marT="32004" marB="32004" anchor="ctr">
                    <a:solidFill>
                      <a:srgbClr val="0C2D36"/>
                    </a:solidFill>
                  </a:tcPr>
                </a:tc>
                <a:tc>
                  <a:txBody>
                    <a:bodyPr wrap="square" anchor="t" lIns="64008" tIns="32004" rIns="64008" bIns="32004">
                      <a:noAutofit/>
                    </a:bodyPr>
                    <a:lstStyle/>
                    <a:p>
                      <a:pPr algn="l"/>
                      <a:r>
                        <a:rPr sz="1000" b="1" i="0">
                          <a:solidFill>
                            <a:srgbClr val="FFFFFF"/>
                          </a:solidFill>
                        </a:rPr>
                        <a:t>E1</a:t>
                      </a:r>
                      <a:endParaRPr sz="1000"/>
                    </a:p>
                  </a:txBody>
                  <a:tcPr marL="64008" marR="64008" marT="32004" marB="32004" anchor="ctr">
                    <a:solidFill>
                      <a:srgbClr val="0C2D36"/>
                    </a:solidFill>
                  </a:tcPr>
                </a:tc>
              </a:tr>
              <a:tr h="457200">
                <a:tc>
                  <a:txBody>
                    <a:bodyPr wrap="square" anchor="t" lIns="64008" tIns="32004" rIns="64008" bIns="32004">
                      <a:noAutofit/>
                    </a:bodyPr>
                    <a:lstStyle/>
                    <a:p>
                      <a:pPr algn="l"/>
                      <a:r>
                        <a:rPr sz="1000" b="0" i="0">
                          <a:solidFill>
                            <a:srgbClr val="43535F"/>
                          </a:solidFill>
                        </a:rPr>
                        <a:t>service feature or add-on</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D = 4, D3-P, or a named external model processes the data</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D3; or an R2 item (E3 only if confirmed)</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otherwise</a:t>
                      </a:r>
                      <a:endParaRPr sz="1000"/>
                    </a:p>
                  </a:txBody>
                  <a:tcPr marL="64008" marR="64008" marT="32004" marB="32004" anchor="ctr">
                    <a:lnB w="9525" cap="flat" cmpd="sng" algn="ctr">
                      <a:solidFill>
                        <a:srgbClr val="C8D3D9"/>
                      </a:solidFill>
                      <a:prstDash val="solid"/>
                    </a:lnB>
                    <a:solidFill>
                      <a:srgbClr val="FFFFFF"/>
                    </a:solidFill>
                  </a:tcPr>
                </a:tc>
              </a:tr>
              <a:tr h="457200">
                <a:tc>
                  <a:txBody>
                    <a:bodyPr wrap="square" anchor="t" lIns="64008" tIns="32004" rIns="64008" bIns="32004">
                      <a:noAutofit/>
                    </a:bodyPr>
                    <a:lstStyle/>
                    <a:p>
                      <a:pPr algn="l"/>
                      <a:r>
                        <a:rPr sz="1000" b="0" i="0">
                          <a:solidFill>
                            <a:srgbClr val="43535F"/>
                          </a:solidFill>
                        </a:rPr>
                        <a:t>delivery operations</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the excerpt says customer data or credentials are processed</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AI works on tickets, cases, incidents, transactions, logs</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otherwise</a:t>
                      </a:r>
                      <a:endParaRPr sz="1000"/>
                    </a:p>
                  </a:txBody>
                  <a:tcPr marL="64008" marR="64008" marT="32004" marB="32004" anchor="ctr">
                    <a:lnB w="9525" cap="flat" cmpd="sng" algn="ctr">
                      <a:solidFill>
                        <a:srgbClr val="C8D3D9"/>
                      </a:solidFill>
                      <a:prstDash val="solid"/>
                    </a:lnB>
                    <a:solidFill>
                      <a:srgbClr val="FFFFFF"/>
                    </a:solidFill>
                  </a:tcPr>
                </a:tc>
              </a:tr>
              <a:tr h="457200">
                <a:tc>
                  <a:txBody>
                    <a:bodyPr wrap="square" anchor="t" lIns="64008" tIns="32004" rIns="64008" bIns="32004">
                      <a:noAutofit/>
                    </a:bodyPr>
                    <a:lstStyle/>
                    <a:p>
                      <a:pPr algn="l"/>
                      <a:r>
                        <a:rPr sz="1000" b="0" i="0">
                          <a:solidFill>
                            <a:srgbClr val="43535F"/>
                          </a:solidFill>
                        </a:rPr>
                        <a:t>SDLC</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production data is named</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otherwise</a:t>
                      </a:r>
                      <a:endParaRPr sz="1000"/>
                    </a:p>
                  </a:txBody>
                  <a:tcPr marL="64008" marR="64008" marT="32004" marB="32004" anchor="ctr">
                    <a:lnB w="9525" cap="flat" cmpd="sng" algn="ctr">
                      <a:solidFill>
                        <a:srgbClr val="C8D3D9"/>
                      </a:solidFill>
                      <a:prstDash val="solid"/>
                    </a:lnB>
                    <a:solidFill>
                      <a:srgbClr val="FFFFFF"/>
                    </a:solidFill>
                  </a:tcPr>
                </a:tc>
              </a:tr>
              <a:tr h="457200">
                <a:tc>
                  <a:txBody>
                    <a:bodyPr wrap="square" anchor="t" lIns="64008" tIns="32004" rIns="64008" bIns="32004">
                      <a:noAutofit/>
                    </a:bodyPr>
                    <a:lstStyle/>
                    <a:p>
                      <a:pPr algn="l"/>
                      <a:r>
                        <a:rPr sz="1000" b="0" i="0">
                          <a:solidFill>
                            <a:srgbClr val="43535F"/>
                          </a:solidFill>
                        </a:rPr>
                        <a:t>corporate internal</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a:t>
                      </a:r>
                      <a:endParaRPr sz="1000"/>
                    </a:p>
                  </a:txBody>
                  <a:tcPr marL="64008" marR="64008" marT="32004" marB="32004" anchor="ctr">
                    <a:lnB w="9525" cap="flat" cmpd="sng" algn="ctr">
                      <a:solidFill>
                        <a:srgbClr val="C8D3D9"/>
                      </a:solidFill>
                      <a:prstDash val="solid"/>
                    </a:lnB>
                    <a:solidFill>
                      <a:srgbClr val="FFFFFF"/>
                    </a:solidFill>
                  </a:tcPr>
                </a:tc>
                <a:tc>
                  <a:txBody>
                    <a:bodyPr wrap="square" anchor="t" lIns="64008" tIns="32004" rIns="64008" bIns="32004">
                      <a:noAutofit/>
                    </a:bodyPr>
                    <a:lstStyle/>
                    <a:p>
                      <a:pPr algn="l"/>
                      <a:r>
                        <a:rPr sz="1000" b="0" i="0">
                          <a:solidFill>
                            <a:srgbClr val="43535F"/>
                          </a:solidFill>
                        </a:rPr>
                        <a:t>always E0</a:t>
                      </a:r>
                      <a:endParaRPr sz="1000"/>
                    </a:p>
                  </a:txBody>
                  <a:tcPr marL="64008" marR="64008" marT="32004" marB="32004" anchor="ctr">
                    <a:lnB w="9525" cap="flat" cmpd="sng" algn="ctr">
                      <a:solidFill>
                        <a:srgbClr val="C8D3D9"/>
                      </a:solidFill>
                      <a:prstDash val="solid"/>
                    </a:lnB>
                    <a:solidFill>
                      <a:srgbClr val="FFFFFF"/>
                    </a:solidFill>
                  </a:tcPr>
                </a:tc>
              </a:tr>
            </a:tbl>
          </a:graphicData>
        </a:graphic>
      </p:graphicFrame>
      <p:sp>
        <p:nvSpPr>
          <p:cNvPr id="8" name="K TP TG card"/>
          <p:cNvSpPr/>
          <p:nvPr/>
        </p:nvSpPr>
        <p:spPr>
          <a:xfrm>
            <a:off x="7863840" y="1645920"/>
            <a:ext cx="3822192" cy="2157984"/>
          </a:xfrm>
          <a:prstGeom prst="roundRect">
            <a:avLst>
              <a:gd name="adj" fmla="val 4237"/>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K, TP and TG</a:t>
            </a:r>
            <a:endParaRPr sz="1200"/>
          </a:p>
          <a:p>
            <a:pPr algn="l" marL="146304" indent="-146304">
              <a:spcAft>
                <a:spcPts val="300"/>
              </a:spcAft>
              <a:buClr>
                <a:srgbClr val="0E7C7B"/>
              </a:buClr>
              <a:buSzPct val="100000"/>
              <a:buFont typeface="Arial"/>
              <a:buChar char="•"/>
            </a:pPr>
            <a:r>
              <a:rPr sz="1100" b="0" i="0">
                <a:solidFill>
                  <a:srgbClr val="43535F"/>
                </a:solidFill>
              </a:rPr>
              <a:t>K3 action without per-case review on customers, funds or production; K2 human-reviewed; K1 advisory</a:t>
            </a:r>
            <a:endParaRPr sz="1200"/>
          </a:p>
          <a:p>
            <a:pPr algn="l" marL="146304" indent="-146304">
              <a:spcAft>
                <a:spcPts val="300"/>
              </a:spcAft>
              <a:buClr>
                <a:srgbClr val="0E7C7B"/>
              </a:buClr>
              <a:buSzPct val="100000"/>
              <a:buFont typeface="Arial"/>
              <a:buChar char="•"/>
            </a:pPr>
            <a:r>
              <a:rPr sz="1100" b="0" i="0">
                <a:solidFill>
                  <a:srgbClr val="43535F"/>
                </a:solidFill>
              </a:rPr>
              <a:t>TP: Critical 3, High 2, Medium 1, Low 0</a:t>
            </a:r>
            <a:endParaRPr sz="1200"/>
          </a:p>
          <a:p>
            <a:pPr algn="l" marL="146304" indent="-146304">
              <a:spcAft>
                <a:spcPts val="300"/>
              </a:spcAft>
              <a:buClr>
                <a:srgbClr val="0E7C7B"/>
              </a:buClr>
              <a:buSzPct val="100000"/>
              <a:buFont typeface="Arial"/>
              <a:buChar char="•"/>
            </a:pPr>
            <a:r>
              <a:rPr sz="1100" b="0" i="0">
                <a:solidFill>
                  <a:srgbClr val="43535F"/>
                </a:solidFill>
              </a:rPr>
              <a:t>TG: six disclosure checks; missing 0–1 → 0, 2–3 → 1, 4–5 → 2, 6 → 3</a:t>
            </a:r>
            <a:endParaRPr sz="1200"/>
          </a:p>
        </p:txBody>
      </p:sp>
      <p:sp>
        <p:nvSpPr>
          <p:cNvPr id="9" name="Classes card"/>
          <p:cNvSpPr/>
          <p:nvPr/>
        </p:nvSpPr>
        <p:spPr>
          <a:xfrm>
            <a:off x="502920" y="4023360"/>
            <a:ext cx="3566160" cy="2194560"/>
          </a:xfrm>
          <a:prstGeom prst="roundRect">
            <a:avLst>
              <a:gd name="adj" fmla="val 4166"/>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Classes and gate</a:t>
            </a:r>
            <a:endParaRPr sz="1200"/>
          </a:p>
          <a:p>
            <a:pPr algn="l" marL="146304" indent="-146304">
              <a:spcAft>
                <a:spcPts val="300"/>
              </a:spcAft>
              <a:buClr>
                <a:srgbClr val="0E7C7B"/>
              </a:buClr>
              <a:buSzPct val="100000"/>
              <a:buFont typeface="Arial"/>
              <a:buChar char="•"/>
            </a:pPr>
            <a:r>
              <a:rPr sz="1100" b="0" i="0">
                <a:solidFill>
                  <a:srgbClr val="43535F"/>
                </a:solidFill>
              </a:rPr>
              <a:t>Critical 14–18 · High 10–13 · Medium 6–9 · Low 0–5</a:t>
            </a:r>
            <a:endParaRPr sz="1200"/>
          </a:p>
          <a:p>
            <a:pPr algn="l" marL="146304" indent="-146304">
              <a:spcAft>
                <a:spcPts val="300"/>
              </a:spcAft>
              <a:buClr>
                <a:srgbClr val="0E7C7B"/>
              </a:buClr>
              <a:buSzPct val="100000"/>
              <a:buFont typeface="Arial"/>
              <a:buChar char="•"/>
            </a:pPr>
            <a:r>
              <a:rPr sz="1100" b="0" i="0">
                <a:solidFill>
                  <a:srgbClr val="43535F"/>
                </a:solidFill>
              </a:rPr>
              <a:t>High or above needs evidenced E ≥ 2 or K ≥ 2; otherwise the class is Medium</a:t>
            </a:r>
            <a:endParaRPr sz="1200"/>
          </a:p>
          <a:p>
            <a:pPr algn="l" marL="146304" indent="-146304">
              <a:spcAft>
                <a:spcPts val="300"/>
              </a:spcAft>
              <a:buClr>
                <a:srgbClr val="0E7C7B"/>
              </a:buClr>
              <a:buSzPct val="100000"/>
              <a:buFont typeface="Arial"/>
              <a:buChar char="•"/>
            </a:pPr>
            <a:r>
              <a:rPr sz="1100" b="0" i="0">
                <a:solidFill>
                  <a:srgbClr val="43535F"/>
                </a:solidFill>
              </a:rPr>
              <a:t>Assumed inputs never satisfy the gate</a:t>
            </a:r>
            <a:endParaRPr sz="1200"/>
          </a:p>
        </p:txBody>
      </p:sp>
      <p:sp>
        <p:nvSpPr>
          <p:cNvPr id="10" name="Escalators card"/>
          <p:cNvSpPr/>
          <p:nvPr/>
        </p:nvSpPr>
        <p:spPr>
          <a:xfrm>
            <a:off x="4251960" y="4023360"/>
            <a:ext cx="3657600" cy="2194560"/>
          </a:xfrm>
          <a:prstGeom prst="roundRect">
            <a:avLst>
              <a:gd name="adj" fmla="val 4166"/>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Escalators (High floor; Yes verdicts only)</a:t>
            </a:r>
            <a:endParaRPr sz="1200"/>
          </a:p>
          <a:p>
            <a:pPr algn="l" marL="146304" indent="-146304">
              <a:spcAft>
                <a:spcPts val="100"/>
              </a:spcAft>
              <a:buClr>
                <a:srgbClr val="0E7C7B"/>
              </a:buClr>
              <a:buSzPct val="100000"/>
              <a:buFont typeface="Arial"/>
              <a:buChar char="•"/>
            </a:pPr>
            <a:r>
              <a:rPr sz="1050" b="0" i="0">
                <a:solidFill>
                  <a:srgbClr val="43535F"/>
                </a:solidFill>
              </a:rPr>
              <a:t>X1 provider named only by a third party, E ≥ 2</a:t>
            </a:r>
            <a:endParaRPr sz="1200"/>
          </a:p>
          <a:p>
            <a:pPr algn="l" marL="146304" indent="-146304">
              <a:spcAft>
                <a:spcPts val="100"/>
              </a:spcAft>
              <a:buClr>
                <a:srgbClr val="0E7C7B"/>
              </a:buClr>
              <a:buSzPct val="100000"/>
              <a:buFont typeface="Arial"/>
              <a:buChar char="•"/>
            </a:pPr>
            <a:r>
              <a:rPr sz="1050" b="0" i="0">
                <a:solidFill>
                  <a:srgbClr val="43535F"/>
                </a:solidFill>
              </a:rPr>
              <a:t>X2 training or retention without opt-out, E ≥ 2</a:t>
            </a:r>
            <a:endParaRPr sz="1200"/>
          </a:p>
          <a:p>
            <a:pPr algn="l" marL="146304" indent="-146304">
              <a:spcAft>
                <a:spcPts val="100"/>
              </a:spcAft>
              <a:buClr>
                <a:srgbClr val="0E7C7B"/>
              </a:buClr>
              <a:buSzPct val="100000"/>
              <a:buFont typeface="Arial"/>
              <a:buChar char="•"/>
            </a:pPr>
            <a:r>
              <a:rPr sz="1050" b="0" i="0">
                <a:solidFill>
                  <a:srgbClr val="43535F"/>
                </a:solidFill>
              </a:rPr>
              <a:t>X3 agentic AI on production without approval</a:t>
            </a:r>
            <a:endParaRPr sz="1200"/>
          </a:p>
          <a:p>
            <a:pPr algn="l" marL="146304" indent="-146304">
              <a:spcAft>
                <a:spcPts val="100"/>
              </a:spcAft>
              <a:buClr>
                <a:srgbClr val="0E7C7B"/>
              </a:buClr>
              <a:buSzPct val="100000"/>
              <a:buFont typeface="Arial"/>
              <a:buChar char="•"/>
            </a:pPr>
            <a:r>
              <a:rPr sz="1050" b="0" i="0">
                <a:solidFill>
                  <a:srgbClr val="43535F"/>
                </a:solidFill>
              </a:rPr>
              <a:t>X4 K3 on credit, access or payment holds</a:t>
            </a:r>
            <a:endParaRPr sz="1200"/>
          </a:p>
          <a:p>
            <a:pPr algn="l" marL="146304" indent="-146304">
              <a:spcAft>
                <a:spcPts val="100"/>
              </a:spcAft>
              <a:buClr>
                <a:srgbClr val="0E7C7B"/>
              </a:buClr>
              <a:buSzPct val="100000"/>
              <a:buFont typeface="Arial"/>
              <a:buChar char="•"/>
            </a:pPr>
            <a:r>
              <a:rPr sz="1050" b="0" i="0">
                <a:solidFill>
                  <a:srgbClr val="43535F"/>
                </a:solidFill>
              </a:rPr>
              <a:t>X5 AI incident in 24 months</a:t>
            </a:r>
            <a:endParaRPr sz="1200"/>
          </a:p>
          <a:p>
            <a:pPr algn="l" marL="146304" indent="-146304">
              <a:spcAft>
                <a:spcPts val="100"/>
              </a:spcAft>
              <a:buClr>
                <a:srgbClr val="0E7C7B"/>
              </a:buClr>
              <a:buSzPct val="100000"/>
              <a:buFont typeface="Arial"/>
              <a:buChar char="•"/>
            </a:pPr>
            <a:r>
              <a:rPr sz="1050" b="0" i="0">
                <a:solidFill>
                  <a:srgbClr val="43535F"/>
                </a:solidFill>
              </a:rPr>
              <a:t>X6 single model provider behind a Critical vendor</a:t>
            </a:r>
            <a:endParaRPr sz="1200"/>
          </a:p>
        </p:txBody>
      </p:sp>
      <p:sp>
        <p:nvSpPr>
          <p:cNvPr id="11" name="Cap card"/>
          <p:cNvSpPr/>
          <p:nvPr/>
        </p:nvSpPr>
        <p:spPr>
          <a:xfrm>
            <a:off x="8092440" y="4023360"/>
            <a:ext cx="3593592" cy="2194560"/>
          </a:xfrm>
          <a:prstGeom prst="roundRect">
            <a:avLst>
              <a:gd name="adj" fmla="val 4166"/>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Verdict cap (always last)</a:t>
            </a:r>
            <a:endParaRPr sz="1200"/>
          </a:p>
          <a:p>
            <a:pPr algn="l" marL="146304" indent="-146304">
              <a:spcAft>
                <a:spcPts val="300"/>
              </a:spcAft>
              <a:buClr>
                <a:srgbClr val="0E7C7B"/>
              </a:buClr>
              <a:buSzPct val="100000"/>
              <a:buFont typeface="Arial"/>
              <a:buChar char="•"/>
            </a:pPr>
            <a:r>
              <a:rPr sz="1100" b="0" i="0">
                <a:solidFill>
                  <a:srgbClr val="43535F"/>
                </a:solidFill>
              </a:rPr>
              <a:t>Probable: at most High</a:t>
            </a:r>
            <a:endParaRPr sz="1200"/>
          </a:p>
          <a:p>
            <a:pPr algn="l" marL="146304" indent="-146304">
              <a:spcAft>
                <a:spcPts val="300"/>
              </a:spcAft>
              <a:buClr>
                <a:srgbClr val="0E7C7B"/>
              </a:buClr>
              <a:buSzPct val="100000"/>
              <a:buFont typeface="Arial"/>
              <a:buChar char="•"/>
            </a:pPr>
            <a:r>
              <a:rPr sz="1100" b="0" i="0">
                <a:solidFill>
                  <a:srgbClr val="43535F"/>
                </a:solidFill>
              </a:rPr>
              <a:t>Inconclusive: at most Medium, 'Provisional', with the ceiling if confirmed</a:t>
            </a:r>
            <a:endParaRPr sz="1200"/>
          </a:p>
          <a:p>
            <a:pPr algn="l" marL="146304" indent="-146304">
              <a:spcAft>
                <a:spcPts val="300"/>
              </a:spcAft>
              <a:buClr>
                <a:srgbClr val="0E7C7B"/>
              </a:buClr>
              <a:buSzPct val="100000"/>
              <a:buFont typeface="Arial"/>
              <a:buChar char="•"/>
            </a:pPr>
            <a:r>
              <a:rPr sz="1100" b="0" i="0">
                <a:solidFill>
                  <a:srgbClr val="43535F"/>
                </a:solidFill>
              </a:rPr>
              <a:t>No: 'None identified'</a:t>
            </a:r>
            <a:endParaRPr sz="120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10896"/>
            <a:ext cx="9509760" cy="640080"/>
          </a:xfrm>
        </p:spPr>
        <p:txBody>
          <a:bodyPr wrap="square" anchor="b" lIns="0" tIns="0" rIns="0" bIns="0">
            <a:noAutofit/>
          </a:bodyPr>
          <a:lstStyle/>
          <a:p>
            <a:pPr algn="l"/>
            <a:r>
              <a:rPr sz="3000" b="1" i="0">
                <a:solidFill>
                  <a:srgbClr val="0C2D36"/>
                </a:solidFill>
              </a:rPr>
              <a:t>A5 · Workbook fidelity and assumptions</a:t>
            </a:r>
            <a:endParaRPr sz="1200"/>
          </a:p>
        </p:txBody>
      </p:sp>
      <p:sp>
        <p:nvSpPr>
          <p:cNvPr id="3" name="Corner tag"/>
          <p:cNvSpPr/>
          <p:nvPr/>
        </p:nvSpPr>
        <p:spPr>
          <a:xfrm>
            <a:off x="10241280" y="457200"/>
            <a:ext cx="1444752" cy="310896"/>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APPENDIX</a:t>
            </a:r>
            <a:endParaRPr sz="1000"/>
          </a:p>
        </p:txBody>
      </p:sp>
      <p:sp>
        <p:nvSpPr>
          <p:cNvPr id="4" name="Kicker"/>
          <p:cNvSpPr txBox="1"/>
          <p:nvPr/>
        </p:nvSpPr>
        <p:spPr>
          <a:xfrm>
            <a:off x="502920" y="987552"/>
            <a:ext cx="11183112" cy="502920"/>
          </a:xfrm>
          <a:prstGeom prst="rect">
            <a:avLst/>
          </a:prstGeom>
          <a:noFill/>
        </p:spPr>
        <p:txBody>
          <a:bodyPr wrap="square" anchor="t" lIns="0" tIns="0" rIns="0" bIns="0">
            <a:noAutofit/>
          </a:bodyPr>
          <a:lstStyle/>
          <a:p>
            <a:pPr algn="l"/>
            <a:r>
              <a:rPr sz="1500" b="0" i="0">
                <a:solidFill>
                  <a:srgbClr val="0A5E5D"/>
                </a:solidFill>
              </a:rPr>
              <a:t>The writer touches only the cream student cells; everything else is proven unchanged.</a:t>
            </a:r>
            <a:endParaRPr sz="1200"/>
          </a:p>
        </p:txBody>
      </p:sp>
      <p:sp>
        <p:nvSpPr>
          <p:cNvPr id="5"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66757F"/>
                </a:solidFill>
              </a:rPr>
              <a:t>Team Osprey · Vendor AI footprint · Confidential case-study material, not for distribution</a:t>
            </a:r>
            <a:endParaRPr sz="1200"/>
          </a:p>
        </p:txBody>
      </p:sp>
      <p:sp>
        <p:nvSpPr>
          <p:cNvPr id="6" name="Slide number"/>
          <p:cNvSpPr txBox="1"/>
          <p:nvPr/>
        </p:nvSpPr>
        <p:spPr>
          <a:xfrm>
            <a:off x="10954512" y="6437376"/>
            <a:ext cx="731520" cy="256032"/>
          </a:xfrm>
          <a:prstGeom prst="rect">
            <a:avLst/>
          </a:prstGeom>
          <a:noFill/>
        </p:spPr>
        <p:txBody>
          <a:bodyPr wrap="square" anchor="ctr" lIns="0" tIns="0" rIns="0" bIns="0">
            <a:noAutofit/>
          </a:bodyPr>
          <a:lstStyle/>
          <a:p>
            <a:pPr algn="r"/>
            <a:fld id="{F43A00BD-67DC-5D31-B7EB-66441E862E3E}" type="slidenum">
              <a:rPr lang="en-GB" sz="1000" dirty="0">
                <a:solidFill>
                  <a:srgbClr val="66757F"/>
                </a:solidFill>
              </a:rPr>
              <a:t>19</a:t>
            </a:fld>
            <a:endParaRPr sz="1200"/>
          </a:p>
        </p:txBody>
      </p:sp>
      <p:sp>
        <p:nvSpPr>
          <p:cNvPr id="7" name="Fidelity card"/>
          <p:cNvSpPr/>
          <p:nvPr/>
        </p:nvSpPr>
        <p:spPr>
          <a:xfrm>
            <a:off x="502920" y="1645920"/>
            <a:ext cx="5486400" cy="4526280"/>
          </a:xfrm>
          <a:prstGeom prst="roundRect">
            <a:avLst>
              <a:gd name="adj" fmla="val 2020"/>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Workbook rules</a:t>
            </a:r>
            <a:endParaRPr sz="1200"/>
          </a:p>
          <a:p>
            <a:pPr algn="l" marL="146304" indent="-146304">
              <a:spcAft>
                <a:spcPts val="800"/>
              </a:spcAft>
              <a:buClr>
                <a:srgbClr val="0E7C7B"/>
              </a:buClr>
              <a:buSzPct val="100000"/>
              <a:buFont typeface="Arial"/>
              <a:buChar char="•"/>
            </a:pPr>
            <a:r>
              <a:rPr sz="1250" b="0" i="0">
                <a:solidFill>
                  <a:srgbClr val="43535F"/>
                </a:solidFill>
              </a:rPr>
              <a:t>Writes only cream cells L–V of vendor rows 6–11; never the V-000 example row or a provided cell</a:t>
            </a:r>
            <a:endParaRPr sz="1200"/>
          </a:p>
          <a:p>
            <a:pPr algn="l" marL="146304" indent="-146304">
              <a:spcAft>
                <a:spcPts val="800"/>
              </a:spcAft>
              <a:buClr>
                <a:srgbClr val="0E7C7B"/>
              </a:buClr>
              <a:buSzPct val="100000"/>
              <a:buFont typeface="Arial"/>
              <a:buChar char="•"/>
            </a:pPr>
            <a:r>
              <a:rPr sz="1250" b="0" i="0">
                <a:solidFill>
                  <a:srgbClr val="43535F"/>
                </a:solidFill>
              </a:rPr>
              <a:t>Never reads or writes column widths for M–O or S–T: L–O and R–T are single column spans, and touching them makes Excel offer a repair</a:t>
            </a:r>
            <a:endParaRPr sz="1200"/>
          </a:p>
          <a:p>
            <a:pPr algn="l" marL="146304" indent="-146304">
              <a:spcAft>
                <a:spcPts val="800"/>
              </a:spcAft>
              <a:buClr>
                <a:srgbClr val="0E7C7B"/>
              </a:buClr>
              <a:buSzPct val="100000"/>
              <a:buFont typeface="Arial"/>
              <a:buChar char="•"/>
            </a:pPr>
            <a:r>
              <a:rPr sz="1250" b="0" i="0">
                <a:solidFill>
                  <a:srgbClr val="43535F"/>
                </a:solidFill>
              </a:rPr>
              <a:t>Every value is forced to text, so nothing can become a formula; per-column length budgets apply</a:t>
            </a:r>
            <a:endParaRPr sz="1200"/>
          </a:p>
          <a:p>
            <a:pPr algn="l" marL="146304" indent="-146304">
              <a:spcAft>
                <a:spcPts val="800"/>
              </a:spcAft>
              <a:buClr>
                <a:srgbClr val="0E7C7B"/>
              </a:buClr>
              <a:buSzPct val="100000"/>
              <a:buFont typeface="Arial"/>
              <a:buChar char="•"/>
            </a:pPr>
            <a:r>
              <a:rPr sz="1250" b="0" i="0">
                <a:solidFill>
                  <a:srgbClr val="43535F"/>
                </a:solidFill>
              </a:rPr>
              <a:t>Appends Evidence Log, Coverage Log, Criticality Workings, Method &amp; Legend, Evidence Images and Run Info</a:t>
            </a:r>
            <a:endParaRPr sz="1200"/>
          </a:p>
          <a:p>
            <a:pPr algn="l" marL="146304" indent="-146304">
              <a:spcAft>
                <a:spcPts val="800"/>
              </a:spcAft>
              <a:buClr>
                <a:srgbClr val="0E7C7B"/>
              </a:buClr>
              <a:buSzPct val="100000"/>
              <a:buFont typeface="Arial"/>
              <a:buChar char="•"/>
            </a:pPr>
            <a:r>
              <a:rPr sz="1250" b="0" i="0">
                <a:solidFill>
                  <a:srgbClr val="43535F"/>
                </a:solidFill>
              </a:rPr>
              <a:t>Fidelity gate: a semantic diff of every provided cell, style, merge, link and sheet, plus a manual open in Excel</a:t>
            </a:r>
            <a:endParaRPr sz="1200"/>
          </a:p>
        </p:txBody>
      </p:sp>
      <p:sp>
        <p:nvSpPr>
          <p:cNvPr id="8" name="Assumptions card"/>
          <p:cNvSpPr/>
          <p:nvPr/>
        </p:nvSpPr>
        <p:spPr>
          <a:xfrm>
            <a:off x="6199632" y="1645920"/>
            <a:ext cx="5486400" cy="4526280"/>
          </a:xfrm>
          <a:prstGeom prst="roundRect">
            <a:avLst>
              <a:gd name="adj" fmla="val 202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Interpretations we documented</a:t>
            </a:r>
            <a:endParaRPr sz="1200"/>
          </a:p>
          <a:p>
            <a:pPr algn="l" marL="146304" indent="-146304">
              <a:spcAft>
                <a:spcPts val="800"/>
              </a:spcAft>
              <a:buClr>
                <a:srgbClr val="0E7C7B"/>
              </a:buClr>
              <a:buSzPct val="100000"/>
              <a:buFont typeface="Arial"/>
              <a:buChar char="•"/>
            </a:pPr>
            <a:r>
              <a:rPr sz="1250" b="0" i="0">
                <a:solidFill>
                  <a:srgbClr val="43535F"/>
                </a:solidFill>
              </a:rPr>
              <a:t>IC 4 is undefined in the design: we use the Admiralty 'doubtful' (uncorroborated C/D)</a:t>
            </a:r>
            <a:endParaRPr sz="1200"/>
          </a:p>
          <a:p>
            <a:pPr algn="l" marL="146304" indent="-146304">
              <a:spcAft>
                <a:spcPts val="800"/>
              </a:spcAft>
              <a:buClr>
                <a:srgbClr val="0E7C7B"/>
              </a:buClr>
              <a:buSzPct val="100000"/>
              <a:buFont typeface="Arial"/>
              <a:buChar char="•"/>
            </a:pPr>
            <a:r>
              <a:rPr sz="1250" b="0" i="0">
                <a:solidFill>
                  <a:srgbClr val="43535F"/>
                </a:solidFill>
              </a:rPr>
              <a:t>'M2/M3 dominate' (S0) means planned use, or aspiration without any G2, G3, G4, G8 or G11</a:t>
            </a:r>
            <a:endParaRPr sz="1200"/>
          </a:p>
          <a:p>
            <a:pPr algn="l" marL="146304" indent="-146304">
              <a:spcAft>
                <a:spcPts val="800"/>
              </a:spcAft>
              <a:buClr>
                <a:srgbClr val="0E7C7B"/>
              </a:buClr>
              <a:buSzPct val="100000"/>
              <a:buFont typeface="Arial"/>
              <a:buChar char="•"/>
            </a:pPr>
            <a:r>
              <a:rPr sz="1250" b="0" i="0">
                <a:solidFill>
                  <a:srgbClr val="43535F"/>
                </a:solidFill>
              </a:rPr>
              <a:t>A corroborating signal must be class U1–U4: it corroborates use</a:t>
            </a:r>
            <a:endParaRPr sz="1200"/>
          </a:p>
          <a:p>
            <a:pPr algn="l" marL="146304" indent="-146304">
              <a:spcAft>
                <a:spcPts val="800"/>
              </a:spcAft>
              <a:buClr>
                <a:srgbClr val="0E7C7B"/>
              </a:buClr>
              <a:buSzPct val="100000"/>
              <a:buFont typeface="Arial"/>
              <a:buChar char="•"/>
            </a:pPr>
            <a:r>
              <a:rPr sz="1250" b="0" i="0">
                <a:solidFill>
                  <a:srgbClr val="43535F"/>
                </a:solidFill>
              </a:rPr>
              <a:t>Definition-test traps are kept as never-citable items so reviewers can see them rejected</a:t>
            </a:r>
            <a:endParaRPr sz="1200"/>
          </a:p>
          <a:p>
            <a:pPr algn="l" marL="146304" indent="-146304">
              <a:spcAft>
                <a:spcPts val="800"/>
              </a:spcAft>
              <a:buClr>
                <a:srgbClr val="0E7C7B"/>
              </a:buClr>
              <a:buSzPct val="100000"/>
              <a:buFont typeface="Arial"/>
              <a:buChar char="•"/>
            </a:pPr>
            <a:r>
              <a:rPr sz="1250" b="0" i="0">
                <a:solidFill>
                  <a:srgbClr val="43535F"/>
                </a:solidFill>
              </a:rPr>
              <a:t>Dates in P and V are DD-MM-YYYY, as in the V-000 example</a:t>
            </a:r>
            <a:endParaRPr sz="120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10896"/>
            <a:ext cx="9509760" cy="640080"/>
          </a:xfrm>
        </p:spPr>
        <p:txBody>
          <a:bodyPr wrap="square" anchor="b" lIns="0" tIns="0" rIns="0" bIns="0">
            <a:noAutofit/>
          </a:bodyPr>
          <a:lstStyle/>
          <a:p>
            <a:pPr algn="l"/>
            <a:r>
              <a:rPr sz="3000" b="1" i="0">
                <a:solidFill>
                  <a:srgbClr val="0C2D36"/>
                </a:solidFill>
              </a:rPr>
              <a:t>A6 · AutomWorx (V-001)</a:t>
            </a:r>
            <a:endParaRPr sz="1200"/>
          </a:p>
        </p:txBody>
      </p:sp>
      <p:sp>
        <p:nvSpPr>
          <p:cNvPr id="3" name="Corner tag"/>
          <p:cNvSpPr/>
          <p:nvPr/>
        </p:nvSpPr>
        <p:spPr>
          <a:xfrm>
            <a:off x="10241280" y="457200"/>
            <a:ext cx="1444752" cy="310896"/>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APPENDIX</a:t>
            </a:r>
            <a:endParaRPr sz="1000"/>
          </a:p>
        </p:txBody>
      </p:sp>
      <p:sp>
        <p:nvSpPr>
          <p:cNvPr id="4" name="Kicker"/>
          <p:cNvSpPr txBox="1"/>
          <p:nvPr/>
        </p:nvSpPr>
        <p:spPr>
          <a:xfrm>
            <a:off x="502920" y="987552"/>
            <a:ext cx="11183112" cy="502920"/>
          </a:xfrm>
          <a:prstGeom prst="rect">
            <a:avLst/>
          </a:prstGeom>
          <a:noFill/>
        </p:spPr>
        <p:txBody>
          <a:bodyPr wrap="square" anchor="t" lIns="0" tIns="0" rIns="0" bIns="0">
            <a:noAutofit/>
          </a:bodyPr>
          <a:lstStyle/>
          <a:p>
            <a:pPr algn="l"/>
            <a:r>
              <a:rPr sz="1500" b="0" i="0">
                <a:solidFill>
                  <a:srgbClr val="0A5E5D"/>
                </a:solidFill>
              </a:rPr>
              <a:t>High tier · Inconclusive · AI risk Medium, provisional; ceiling Critical if confirmed</a:t>
            </a:r>
            <a:endParaRPr sz="1200"/>
          </a:p>
        </p:txBody>
      </p:sp>
      <p:sp>
        <p:nvSpPr>
          <p:cNvPr id="5"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66757F"/>
                </a:solidFill>
              </a:rPr>
              <a:t>Team Osprey · Vendor AI footprint · Confidential case-study material, not for distribution</a:t>
            </a:r>
            <a:endParaRPr sz="1200"/>
          </a:p>
        </p:txBody>
      </p:sp>
      <p:sp>
        <p:nvSpPr>
          <p:cNvPr id="6" name="Slide number"/>
          <p:cNvSpPr txBox="1"/>
          <p:nvPr/>
        </p:nvSpPr>
        <p:spPr>
          <a:xfrm>
            <a:off x="10954512" y="6437376"/>
            <a:ext cx="731520" cy="256032"/>
          </a:xfrm>
          <a:prstGeom prst="rect">
            <a:avLst/>
          </a:prstGeom>
          <a:noFill/>
        </p:spPr>
        <p:txBody>
          <a:bodyPr wrap="square" anchor="ctr" lIns="0" tIns="0" rIns="0" bIns="0">
            <a:noAutofit/>
          </a:bodyPr>
          <a:lstStyle/>
          <a:p>
            <a:pPr algn="r"/>
            <a:fld id="{C90DF7E9-DFFC-55DB-AE93-FAA7B96257CE}" type="slidenum">
              <a:rPr lang="en-GB" sz="1000" dirty="0">
                <a:solidFill>
                  <a:srgbClr val="66757F"/>
                </a:solidFill>
              </a:rPr>
              <a:t>20</a:t>
            </a:fld>
            <a:endParaRPr sz="1200"/>
          </a:p>
        </p:txBody>
      </p:sp>
      <p:sp>
        <p:nvSpPr>
          <p:cNvPr id="7" name="Vendor evidence card"/>
          <p:cNvSpPr/>
          <p:nvPr/>
        </p:nvSpPr>
        <p:spPr>
          <a:xfrm>
            <a:off x="502920" y="1645920"/>
            <a:ext cx="6675120" cy="3200400"/>
          </a:xfrm>
          <a:prstGeom prst="roundRect">
            <a:avLst>
              <a:gd name="adj" fmla="val 2857"/>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Decisive evidence</a:t>
            </a:r>
            <a:endParaRPr sz="1200"/>
          </a:p>
          <a:p>
            <a:pPr algn="l">
              <a:spcBef>
                <a:spcPts val="400"/>
              </a:spcBef>
            </a:pPr>
            <a:r>
              <a:rPr sz="1000" b="1" i="0">
                <a:solidFill>
                  <a:srgbClr val="0A5E5D"/>
                </a:solidFill>
              </a:rPr>
              <a:t>V-001-E-0001 · Indicator · Context - inferred affiliate</a:t>
            </a:r>
            <a:endParaRPr sz="1200"/>
          </a:p>
          <a:p>
            <a:pPr algn="l"/>
            <a:r>
              <a:rPr sz="1000" b="0" i="0">
                <a:solidFill>
                  <a:srgbClr val="66757F"/>
                </a:solidFill>
              </a:rPr>
              <a:t>Affiliate website, Labarum AI, dated by retrieval</a:t>
            </a:r>
            <a:endParaRPr sz="1200"/>
          </a:p>
          <a:p>
            <a:pPr algn="l"/>
            <a:r>
              <a:rPr sz="1050" b="0" i="1">
                <a:solidFill>
                  <a:srgbClr val="43535F"/>
                </a:solidFill>
              </a:rPr>
              <a:t>“Twenty years of platform depth across 250+ Fortune 1000 accounts gets extended by AI infrastructure built to run where customer data runs.”</a:t>
            </a:r>
            <a:endParaRPr sz="1200"/>
          </a:p>
          <a:p>
            <a:pPr algn="l">
              <a:spcBef>
                <a:spcPts val="400"/>
              </a:spcBef>
            </a:pPr>
            <a:r>
              <a:rPr sz="1000" b="1" i="0">
                <a:solidFill>
                  <a:srgbClr val="0A5E5D"/>
                </a:solidFill>
              </a:rPr>
              <a:t>V-001-E-0002 · Indicator · Context - inferred affiliate</a:t>
            </a:r>
            <a:endParaRPr sz="1200"/>
          </a:p>
          <a:p>
            <a:pPr algn="l"/>
            <a:r>
              <a:rPr sz="1000" b="0" i="0">
                <a:solidFill>
                  <a:srgbClr val="66757F"/>
                </a:solidFill>
              </a:rPr>
              <a:t>Affiliate website, Labarum AI, dated by retrieval</a:t>
            </a:r>
            <a:endParaRPr sz="1200"/>
          </a:p>
          <a:p>
            <a:pPr algn="l"/>
            <a:r>
              <a:rPr sz="1050" b="0" i="1">
                <a:solidFill>
                  <a:srgbClr val="43535F"/>
                </a:solidFill>
              </a:rPr>
              <a:t>“Agencies engage Labarum AI for enterprise workload automation migrations, managed support of production scheduling environments, modernization of legacy schedulers, and the AI-enabled operating model that brings federal-grade […]”</a:t>
            </a:r>
            <a:endParaRPr sz="1200"/>
          </a:p>
          <a:p>
            <a:pPr algn="l">
              <a:spcBef>
                <a:spcPts val="800"/>
              </a:spcBef>
            </a:pPr>
            <a:r>
              <a:rPr sz="1000" b="1" i="0">
                <a:solidFill>
                  <a:srgbClr val="0C2D36"/>
                </a:solidFill>
              </a:rPr>
              <a:t>How AI is used (column Q)</a:t>
            </a:r>
            <a:endParaRPr sz="1200"/>
          </a:p>
          <a:p>
            <a:pPr algn="l"/>
            <a:r>
              <a:rPr sz="1050" b="0" i="0">
                <a:solidFill>
                  <a:srgbClr val="43535F"/>
                </a:solidFill>
              </a:rPr>
              <a:t>No usage pathway is evidenced in public material. AI options of Broadcom, a platform supplier the vendor uses (Gemini, OpenAI, Ollama, Google, and VMware Private AI), are a relationship indicator, not a confirmed sub-processor (V-001-E-0003, V-001-E-0004, V-001-E-0005 and 70 more). AI and generative AI (large language models) described by an inferred…</a:t>
            </a:r>
            <a:endParaRPr sz="1200"/>
          </a:p>
        </p:txBody>
      </p:sp>
      <p:sp>
        <p:nvSpPr>
          <p:cNvPr id="8" name="Vendor reasoning"/>
          <p:cNvSpPr/>
          <p:nvPr/>
        </p:nvSpPr>
        <p:spPr>
          <a:xfrm>
            <a:off x="502920" y="4983480"/>
            <a:ext cx="6675120" cy="1234440"/>
          </a:xfrm>
          <a:prstGeom prst="roundRect">
            <a:avLst>
              <a:gd name="adj" fmla="val 7407"/>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Why this verdict</a:t>
            </a:r>
            <a:endParaRPr sz="1200"/>
          </a:p>
          <a:p>
            <a:pPr algn="l"/>
            <a:r>
              <a:rPr sz="1050" b="0" i="0">
                <a:solidFill>
                  <a:srgbClr val="43535F"/>
                </a:solidFill>
              </a:rPr>
              <a:t>It is roughly even chance that the vendor uses AI in the service. Confidence is moderate because the finding rests on two or more promotional or second-party sources.</a:t>
            </a:r>
            <a:endParaRPr sz="1200"/>
          </a:p>
          <a:p>
            <a:pPr algn="l">
              <a:spcBef>
                <a:spcPts val="400"/>
              </a:spcBef>
            </a:pPr>
            <a:r>
              <a:rPr sz="1050" b="0" i="0">
                <a:solidFill>
                  <a:srgbClr val="43535F"/>
                </a:solidFill>
              </a:rPr>
              <a:t>AI providers: named only by third parties: Automic, Automic Automation V26, Google, Ollama, OpenAI, VMware Private AI</a:t>
            </a:r>
            <a:endParaRPr sz="1200"/>
          </a:p>
          <a:p>
            <a:pPr algn="l">
              <a:spcBef>
                <a:spcPts val="400"/>
              </a:spcBef>
            </a:pPr>
            <a:r>
              <a:rPr sz="1050" b="0" i="0">
                <a:solidFill>
                  <a:srgbClr val="66757F"/>
                </a:solidFill>
              </a:rPr>
              <a:t>Definition-test trap kept in the log, never cited: V-001-E-0138.</a:t>
            </a:r>
            <a:endParaRPr sz="1200"/>
          </a:p>
        </p:txBody>
      </p:sp>
      <p:sp>
        <p:nvSpPr>
          <p:cNvPr id="9" name="Vendor risk"/>
          <p:cNvSpPr/>
          <p:nvPr/>
        </p:nvSpPr>
        <p:spPr>
          <a:xfrm>
            <a:off x="7406640" y="1645920"/>
            <a:ext cx="4279392" cy="1600200"/>
          </a:xfrm>
          <a:prstGeom prst="roundRect">
            <a:avLst>
              <a:gd name="adj" fmla="val 5714"/>
            </a:avLst>
          </a:prstGeom>
          <a:solidFill>
            <a:srgbClr val="FFF4D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Risk</a:t>
            </a:r>
            <a:endParaRPr sz="1200"/>
          </a:p>
          <a:p>
            <a:pPr algn="l"/>
            <a:r>
              <a:rPr sz="1050" b="0" i="0">
                <a:solidFill>
                  <a:srgbClr val="43535F"/>
                </a:solidFill>
              </a:rPr>
              <a:t>exposure 3/3 (assumed) · decision impact 3/3 (assumed)</a:t>
            </a:r>
            <a:endParaRPr sz="1200"/>
          </a:p>
          <a:p>
            <a:pPr algn="l"/>
            <a:r>
              <a:rPr sz="1050" b="0" i="0">
                <a:solidFill>
                  <a:srgbClr val="43535F"/>
                </a:solidFill>
              </a:rPr>
              <a:t>tier points 2 · transparency gap 3 → 17 of 18</a:t>
            </a:r>
            <a:endParaRPr sz="1200"/>
          </a:p>
          <a:p>
            <a:pPr algn="l">
              <a:spcBef>
                <a:spcPts val="300"/>
              </a:spcBef>
            </a:pPr>
            <a:r>
              <a:rPr sz="1200" b="1" i="0">
                <a:solidFill>
                  <a:srgbClr val="6B5000"/>
                </a:solidFill>
              </a:rPr>
              <a:t>Medium (provisional)</a:t>
            </a:r>
            <a:endParaRPr sz="1200"/>
          </a:p>
        </p:txBody>
      </p:sp>
      <p:sp>
        <p:nvSpPr>
          <p:cNvPr id="10" name="Vendor flip"/>
          <p:cNvSpPr/>
          <p:nvPr/>
        </p:nvSpPr>
        <p:spPr>
          <a:xfrm>
            <a:off x="7406640" y="3383280"/>
            <a:ext cx="4279392" cy="1234440"/>
          </a:xfrm>
          <a:prstGeom prst="roundRect">
            <a:avLst>
              <a:gd name="adj" fmla="val 7407"/>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Flip condition</a:t>
            </a:r>
            <a:endParaRPr sz="1200"/>
          </a:p>
          <a:p>
            <a:pPr algn="l"/>
            <a:r>
              <a:rPr sz="1050" b="0" i="0">
                <a:solidFill>
                  <a:srgbClr val="43535F"/>
                </a:solidFill>
              </a:rPr>
              <a:t>Confirmation that the AI platform of the inferred affiliate Labarum AI delivers Meridian work would make the verdict Yes and could raise the class to Critical.</a:t>
            </a:r>
            <a:endParaRPr sz="1200"/>
          </a:p>
        </p:txBody>
      </p:sp>
      <p:sp>
        <p:nvSpPr>
          <p:cNvPr id="11" name="Vendor action"/>
          <p:cNvSpPr/>
          <p:nvPr/>
        </p:nvSpPr>
        <p:spPr>
          <a:xfrm>
            <a:off x="7406640" y="4754880"/>
            <a:ext cx="4279392" cy="1417320"/>
          </a:xfrm>
          <a:prstGeom prst="roundRect">
            <a:avLst>
              <a:gd name="adj" fmla="val 6451"/>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Next action for Meridian</a:t>
            </a:r>
            <a:endParaRPr sz="1200"/>
          </a:p>
          <a:p>
            <a:pPr algn="l"/>
            <a:r>
              <a:rPr sz="1050" b="0" i="0">
                <a:solidFill>
                  <a:srgbClr val="43535F"/>
                </a:solidFill>
              </a:rPr>
              <a:t>Issue questionnaire items Q1 to Q4 within 15 business days to establish whether AI is used in the service, which Meridian data it touches, which model…</a:t>
            </a:r>
            <a:endParaRPr sz="1200"/>
          </a:p>
          <a:p>
            <a:pPr algn="l">
              <a:spcBef>
                <a:spcPts val="300"/>
              </a:spcBef>
            </a:pPr>
            <a:r>
              <a:rPr sz="1000" b="0" i="0">
                <a:solidFill>
                  <a:srgbClr val="66757F"/>
                </a:solidFill>
              </a:rPr>
              <a:t>Gap blocks SUB, TRAIN, LOC, EXPL, AGENT, PI, GOV, INC, MRM · questions Q1, Q2, Q3, Q4, Q5, Q6, Q7, Q8, Q9, Q10, Q11, Q13, Q14, Q15</a:t>
            </a:r>
            <a:endParaRPr sz="120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10896"/>
            <a:ext cx="9509760" cy="640080"/>
          </a:xfrm>
        </p:spPr>
        <p:txBody>
          <a:bodyPr wrap="square" anchor="b" lIns="0" tIns="0" rIns="0" bIns="0">
            <a:noAutofit/>
          </a:bodyPr>
          <a:lstStyle/>
          <a:p>
            <a:pPr algn="l"/>
            <a:r>
              <a:rPr sz="3000" b="1" i="0">
                <a:solidFill>
                  <a:srgbClr val="0C2D36"/>
                </a:solidFill>
              </a:rPr>
              <a:t>A7 · Fiserv (V-002)</a:t>
            </a:r>
            <a:endParaRPr sz="1200"/>
          </a:p>
        </p:txBody>
      </p:sp>
      <p:sp>
        <p:nvSpPr>
          <p:cNvPr id="3" name="Corner tag"/>
          <p:cNvSpPr/>
          <p:nvPr/>
        </p:nvSpPr>
        <p:spPr>
          <a:xfrm>
            <a:off x="10241280" y="457200"/>
            <a:ext cx="1444752" cy="310896"/>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APPENDIX</a:t>
            </a:r>
            <a:endParaRPr sz="1000"/>
          </a:p>
        </p:txBody>
      </p:sp>
      <p:sp>
        <p:nvSpPr>
          <p:cNvPr id="4" name="Kicker"/>
          <p:cNvSpPr txBox="1"/>
          <p:nvPr/>
        </p:nvSpPr>
        <p:spPr>
          <a:xfrm>
            <a:off x="502920" y="987552"/>
            <a:ext cx="11183112" cy="502920"/>
          </a:xfrm>
          <a:prstGeom prst="rect">
            <a:avLst/>
          </a:prstGeom>
          <a:noFill/>
        </p:spPr>
        <p:txBody>
          <a:bodyPr wrap="square" anchor="t" lIns="0" tIns="0" rIns="0" bIns="0">
            <a:noAutofit/>
          </a:bodyPr>
          <a:lstStyle/>
          <a:p>
            <a:pPr algn="l"/>
            <a:r>
              <a:rPr sz="1500" b="0" i="0">
                <a:solidFill>
                  <a:srgbClr val="0A5E5D"/>
                </a:solidFill>
              </a:rPr>
              <a:t>Critical tier · Yes (Probable) · AI risk High</a:t>
            </a:r>
            <a:endParaRPr sz="1200"/>
          </a:p>
        </p:txBody>
      </p:sp>
      <p:sp>
        <p:nvSpPr>
          <p:cNvPr id="5"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66757F"/>
                </a:solidFill>
              </a:rPr>
              <a:t>Team Osprey · Vendor AI footprint · Confidential case-study material, not for distribution</a:t>
            </a:r>
            <a:endParaRPr sz="1200"/>
          </a:p>
        </p:txBody>
      </p:sp>
      <p:sp>
        <p:nvSpPr>
          <p:cNvPr id="6" name="Slide number"/>
          <p:cNvSpPr txBox="1"/>
          <p:nvPr/>
        </p:nvSpPr>
        <p:spPr>
          <a:xfrm>
            <a:off x="10954512" y="6437376"/>
            <a:ext cx="731520" cy="256032"/>
          </a:xfrm>
          <a:prstGeom prst="rect">
            <a:avLst/>
          </a:prstGeom>
          <a:noFill/>
        </p:spPr>
        <p:txBody>
          <a:bodyPr wrap="square" anchor="ctr" lIns="0" tIns="0" rIns="0" bIns="0">
            <a:noAutofit/>
          </a:bodyPr>
          <a:lstStyle/>
          <a:p>
            <a:pPr algn="r"/>
            <a:fld id="{1E28C51E-23E4-5667-9A84-A24028661998}" type="slidenum">
              <a:rPr lang="en-GB" sz="1000" dirty="0">
                <a:solidFill>
                  <a:srgbClr val="66757F"/>
                </a:solidFill>
              </a:rPr>
              <a:t>21</a:t>
            </a:fld>
            <a:endParaRPr sz="1200"/>
          </a:p>
        </p:txBody>
      </p:sp>
      <p:sp>
        <p:nvSpPr>
          <p:cNvPr id="7" name="Vendor evidence card"/>
          <p:cNvSpPr/>
          <p:nvPr/>
        </p:nvSpPr>
        <p:spPr>
          <a:xfrm>
            <a:off x="502920" y="1645920"/>
            <a:ext cx="6675120" cy="3200400"/>
          </a:xfrm>
          <a:prstGeom prst="roundRect">
            <a:avLst>
              <a:gd name="adj" fmla="val 2857"/>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Decisive evidence</a:t>
            </a:r>
            <a:endParaRPr sz="1200"/>
          </a:p>
          <a:p>
            <a:pPr algn="l">
              <a:spcBef>
                <a:spcPts val="400"/>
              </a:spcBef>
            </a:pPr>
            <a:r>
              <a:rPr sz="1000" b="1" i="0">
                <a:solidFill>
                  <a:srgbClr val="0A5E5D"/>
                </a:solidFill>
              </a:rPr>
              <a:t>V-002-E-0001 · Primary · Moderate</a:t>
            </a:r>
            <a:endParaRPr sz="1200"/>
          </a:p>
          <a:p>
            <a:pPr algn="l"/>
            <a:r>
              <a:rPr sz="1000" b="0" i="0">
                <a:solidFill>
                  <a:srgbClr val="66757F"/>
                </a:solidFill>
              </a:rPr>
              <a:t>SEC Form DEFA14A, Fiserv, 2026-05-15</a:t>
            </a:r>
            <a:endParaRPr sz="1200"/>
          </a:p>
          <a:p>
            <a:pPr algn="l"/>
            <a:r>
              <a:rPr sz="1050" b="0" i="1">
                <a:solidFill>
                  <a:srgbClr val="43535F"/>
                </a:solidFill>
              </a:rPr>
              <a:t>“Two weeks ago, we re-architected our client service portal to drive more self-service and agentic AI capabilities to resolve our tickets.”</a:t>
            </a:r>
            <a:endParaRPr sz="1200"/>
          </a:p>
          <a:p>
            <a:pPr algn="l">
              <a:spcBef>
                <a:spcPts val="400"/>
              </a:spcBef>
            </a:pPr>
            <a:r>
              <a:rPr sz="1000" b="1" i="0">
                <a:solidFill>
                  <a:srgbClr val="0A5E5D"/>
                </a:solidFill>
              </a:rPr>
              <a:t>V-002-E-0002 · Supporting · Moderate</a:t>
            </a:r>
            <a:endParaRPr sz="1200"/>
          </a:p>
          <a:p>
            <a:pPr algn="l"/>
            <a:r>
              <a:rPr sz="1000" b="0" i="0">
                <a:solidFill>
                  <a:srgbClr val="66757F"/>
                </a:solidFill>
              </a:rPr>
              <a:t>Press release mirror, Mondo Visione, 2026-01-08</a:t>
            </a:r>
            <a:endParaRPr sz="1200"/>
          </a:p>
          <a:p>
            <a:pPr algn="l"/>
            <a:r>
              <a:rPr sz="1050" b="0" i="1">
                <a:solidFill>
                  <a:srgbClr val="43535F"/>
                </a:solidFill>
              </a:rPr>
              <a:t>“GitHub Copilot has been deployed to more than 8,000 software engineers across Fiserv, driving measurable gains in developer productivity and accelerating solution delivery for clients.”</a:t>
            </a:r>
            <a:endParaRPr sz="1200"/>
          </a:p>
          <a:p>
            <a:pPr algn="l">
              <a:spcBef>
                <a:spcPts val="800"/>
              </a:spcBef>
            </a:pPr>
            <a:r>
              <a:rPr sz="1000" b="1" i="0">
                <a:solidFill>
                  <a:srgbClr val="0C2D36"/>
                </a:solidFill>
              </a:rPr>
              <a:t>How AI is used (column Q)</a:t>
            </a:r>
            <a:endParaRPr sz="1200"/>
          </a:p>
          <a:p>
            <a:pPr algn="l"/>
            <a:r>
              <a:rPr sz="1050" b="0" i="0">
                <a:solidFill>
                  <a:srgbClr val="43535F"/>
                </a:solidFill>
              </a:rPr>
              <a:t>Two usage pathways are indicated. First, agentic AI in the vendor's delivery operations, described as "resolve our tickets", "resolve client issues", and "onboarding", applied to tickets (V-002-E-0001, V-002-E-0014, V-002-E-0015). Second, generative AI and machine learning in the vendor's software development, described as "code generation" and "fraud…</a:t>
            </a:r>
            <a:endParaRPr sz="1200"/>
          </a:p>
        </p:txBody>
      </p:sp>
      <p:sp>
        <p:nvSpPr>
          <p:cNvPr id="8" name="Vendor reasoning"/>
          <p:cNvSpPr/>
          <p:nvPr/>
        </p:nvSpPr>
        <p:spPr>
          <a:xfrm>
            <a:off x="502920" y="4983480"/>
            <a:ext cx="6675120" cy="1234440"/>
          </a:xfrm>
          <a:prstGeom prst="roundRect">
            <a:avLst>
              <a:gd name="adj" fmla="val 7407"/>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Why this verdict</a:t>
            </a:r>
            <a:endParaRPr sz="1200"/>
          </a:p>
          <a:p>
            <a:pPr algn="l"/>
            <a:r>
              <a:rPr sz="1050" b="0" i="0">
                <a:solidFill>
                  <a:srgbClr val="43535F"/>
                </a:solidFill>
              </a:rPr>
              <a:t>It is likely that the vendor uses AI in the service. Confidence is low because the search of legal and trust pages (still pending), product pages and newsroom (still pending) and job postings (still pending) was not completed.</a:t>
            </a:r>
            <a:endParaRPr sz="1200"/>
          </a:p>
          <a:p>
            <a:pPr algn="l">
              <a:spcBef>
                <a:spcPts val="400"/>
              </a:spcBef>
            </a:pPr>
            <a:r>
              <a:rPr sz="1050" b="0" i="0">
                <a:solidFill>
                  <a:srgbClr val="43535F"/>
                </a:solidFill>
              </a:rPr>
              <a:t>AI providers: named by the vendor: agentOS, Finxact, NVIDIA, OpenAI, Personetics; named only by third parties: Cognition, Microsoft; DNS token only: Anthropic</a:t>
            </a:r>
            <a:endParaRPr sz="1200"/>
          </a:p>
        </p:txBody>
      </p:sp>
      <p:sp>
        <p:nvSpPr>
          <p:cNvPr id="9" name="Vendor risk"/>
          <p:cNvSpPr/>
          <p:nvPr/>
        </p:nvSpPr>
        <p:spPr>
          <a:xfrm>
            <a:off x="7406640" y="1645920"/>
            <a:ext cx="4279392" cy="1600200"/>
          </a:xfrm>
          <a:prstGeom prst="roundRect">
            <a:avLst>
              <a:gd name="adj" fmla="val 5714"/>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Risk</a:t>
            </a:r>
            <a:endParaRPr sz="1200"/>
          </a:p>
          <a:p>
            <a:pPr algn="l"/>
            <a:r>
              <a:rPr sz="1050" b="0" i="0">
                <a:solidFill>
                  <a:srgbClr val="43535F"/>
                </a:solidFill>
              </a:rPr>
              <a:t>exposure 2/3 · decision impact 3/3 (assumed)</a:t>
            </a:r>
            <a:endParaRPr sz="1200"/>
          </a:p>
          <a:p>
            <a:pPr algn="l"/>
            <a:r>
              <a:rPr sz="1050" b="0" i="0">
                <a:solidFill>
                  <a:srgbClr val="43535F"/>
                </a:solidFill>
              </a:rPr>
              <a:t>tier points 3 · transparency gap 2 → 15 of 18</a:t>
            </a:r>
            <a:endParaRPr sz="1200"/>
          </a:p>
          <a:p>
            <a:pPr algn="l">
              <a:spcBef>
                <a:spcPts val="300"/>
              </a:spcBef>
            </a:pPr>
            <a:r>
              <a:rPr sz="1200" b="1" i="0">
                <a:solidFill>
                  <a:srgbClr val="8A3A0E"/>
                </a:solidFill>
              </a:rPr>
              <a:t>High</a:t>
            </a:r>
            <a:endParaRPr sz="1200"/>
          </a:p>
        </p:txBody>
      </p:sp>
      <p:sp>
        <p:nvSpPr>
          <p:cNvPr id="10" name="Vendor flip"/>
          <p:cNvSpPr/>
          <p:nvPr/>
        </p:nvSpPr>
        <p:spPr>
          <a:xfrm>
            <a:off x="7406640" y="3383280"/>
            <a:ext cx="4279392" cy="1234440"/>
          </a:xfrm>
          <a:prstGeom prst="roundRect">
            <a:avLst>
              <a:gd name="adj" fmla="val 7407"/>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Flip condition</a:t>
            </a:r>
            <a:endParaRPr sz="1200"/>
          </a:p>
          <a:p>
            <a:pPr algn="l"/>
            <a:r>
              <a:rPr sz="1050" b="0" i="0">
                <a:solidFill>
                  <a:srgbClr val="43535F"/>
                </a:solidFill>
              </a:rPr>
              <a:t>Independent confirmation of AI use in the service itself would lift the Probable cap and raise the class to Critical.</a:t>
            </a:r>
            <a:endParaRPr sz="1200"/>
          </a:p>
        </p:txBody>
      </p:sp>
      <p:sp>
        <p:nvSpPr>
          <p:cNvPr id="11" name="Vendor action"/>
          <p:cNvSpPr/>
          <p:nvPr/>
        </p:nvSpPr>
        <p:spPr>
          <a:xfrm>
            <a:off x="7406640" y="4754880"/>
            <a:ext cx="4279392" cy="1417320"/>
          </a:xfrm>
          <a:prstGeom prst="roundRect">
            <a:avLst>
              <a:gd name="adj" fmla="val 6451"/>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Next action for Meridian</a:t>
            </a:r>
            <a:endParaRPr sz="1200"/>
          </a:p>
          <a:p>
            <a:pPr algn="l"/>
            <a:r>
              <a:rPr sz="1050" b="0" i="0">
                <a:solidFill>
                  <a:srgbClr val="43535F"/>
                </a:solidFill>
              </a:rPr>
              <a:t>Issue a targeted questionnaire within 15 business days covering which Meridian data the AI touches, model provider identity and AI sub-processors, training…</a:t>
            </a:r>
            <a:endParaRPr sz="1200"/>
          </a:p>
          <a:p>
            <a:pPr algn="l">
              <a:spcBef>
                <a:spcPts val="300"/>
              </a:spcBef>
            </a:pPr>
            <a:r>
              <a:rPr sz="1000" b="0" i="0">
                <a:solidFill>
                  <a:srgbClr val="66757F"/>
                </a:solidFill>
              </a:rPr>
              <a:t>Gap blocks SUB, TRAIN, LOC, EXPL, AGENT, PI, GOV, INC, MRM · questions Q2, Q3, Q4, Q5, Q6, Q7, Q8, Q9, Q10, Q11, Q13, Q14, Q15</a:t>
            </a:r>
            <a:endParaRPr sz="120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10896"/>
            <a:ext cx="9509760" cy="640080"/>
          </a:xfrm>
        </p:spPr>
        <p:txBody>
          <a:bodyPr wrap="square" anchor="b" lIns="0" tIns="0" rIns="0" bIns="0">
            <a:noAutofit/>
          </a:bodyPr>
          <a:lstStyle/>
          <a:p>
            <a:pPr algn="l"/>
            <a:r>
              <a:rPr sz="3000" b="1" i="0">
                <a:solidFill>
                  <a:srgbClr val="0C2D36"/>
                </a:solidFill>
              </a:rPr>
              <a:t>A8 · FSSI (V-003)</a:t>
            </a:r>
            <a:endParaRPr sz="1200"/>
          </a:p>
        </p:txBody>
      </p:sp>
      <p:sp>
        <p:nvSpPr>
          <p:cNvPr id="3" name="Corner tag"/>
          <p:cNvSpPr/>
          <p:nvPr/>
        </p:nvSpPr>
        <p:spPr>
          <a:xfrm>
            <a:off x="10241280" y="457200"/>
            <a:ext cx="1444752" cy="310896"/>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APPENDIX</a:t>
            </a:r>
            <a:endParaRPr sz="1000"/>
          </a:p>
        </p:txBody>
      </p:sp>
      <p:sp>
        <p:nvSpPr>
          <p:cNvPr id="4" name="Kicker"/>
          <p:cNvSpPr txBox="1"/>
          <p:nvPr/>
        </p:nvSpPr>
        <p:spPr>
          <a:xfrm>
            <a:off x="502920" y="987552"/>
            <a:ext cx="11183112" cy="502920"/>
          </a:xfrm>
          <a:prstGeom prst="rect">
            <a:avLst/>
          </a:prstGeom>
          <a:noFill/>
        </p:spPr>
        <p:txBody>
          <a:bodyPr wrap="square" anchor="t" lIns="0" tIns="0" rIns="0" bIns="0">
            <a:noAutofit/>
          </a:bodyPr>
          <a:lstStyle/>
          <a:p>
            <a:pPr algn="l"/>
            <a:r>
              <a:rPr sz="1500" b="0" i="0">
                <a:solidFill>
                  <a:srgbClr val="0A5E5D"/>
                </a:solidFill>
              </a:rPr>
              <a:t>High tier · No (Not detected) · AI risk None identified</a:t>
            </a:r>
            <a:endParaRPr sz="1200"/>
          </a:p>
        </p:txBody>
      </p:sp>
      <p:sp>
        <p:nvSpPr>
          <p:cNvPr id="5"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66757F"/>
                </a:solidFill>
              </a:rPr>
              <a:t>Team Osprey · Vendor AI footprint · Confidential case-study material, not for distribution</a:t>
            </a:r>
            <a:endParaRPr sz="1200"/>
          </a:p>
        </p:txBody>
      </p:sp>
      <p:sp>
        <p:nvSpPr>
          <p:cNvPr id="6" name="Slide number"/>
          <p:cNvSpPr txBox="1"/>
          <p:nvPr/>
        </p:nvSpPr>
        <p:spPr>
          <a:xfrm>
            <a:off x="10954512" y="6437376"/>
            <a:ext cx="731520" cy="256032"/>
          </a:xfrm>
          <a:prstGeom prst="rect">
            <a:avLst/>
          </a:prstGeom>
          <a:noFill/>
        </p:spPr>
        <p:txBody>
          <a:bodyPr wrap="square" anchor="ctr" lIns="0" tIns="0" rIns="0" bIns="0">
            <a:noAutofit/>
          </a:bodyPr>
          <a:lstStyle/>
          <a:p>
            <a:pPr algn="r"/>
            <a:fld id="{294FDA85-6D11-509B-8459-4A9A8734C83E}" type="slidenum">
              <a:rPr lang="en-GB" sz="1000" dirty="0">
                <a:solidFill>
                  <a:srgbClr val="66757F"/>
                </a:solidFill>
              </a:rPr>
              <a:t>22</a:t>
            </a:fld>
            <a:endParaRPr sz="1200"/>
          </a:p>
        </p:txBody>
      </p:sp>
      <p:sp>
        <p:nvSpPr>
          <p:cNvPr id="7" name="Vendor evidence card"/>
          <p:cNvSpPr/>
          <p:nvPr/>
        </p:nvSpPr>
        <p:spPr>
          <a:xfrm>
            <a:off x="502920" y="1645920"/>
            <a:ext cx="6675120" cy="3200400"/>
          </a:xfrm>
          <a:prstGeom prst="roundRect">
            <a:avLst>
              <a:gd name="adj" fmla="val 2857"/>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Decisive evidence</a:t>
            </a:r>
            <a:endParaRPr sz="1200"/>
          </a:p>
          <a:p>
            <a:pPr algn="l">
              <a:spcBef>
                <a:spcPts val="400"/>
              </a:spcBef>
            </a:pPr>
            <a:r>
              <a:rPr sz="1000" b="1" i="0">
                <a:solidFill>
                  <a:srgbClr val="0A5E5D"/>
                </a:solidFill>
              </a:rPr>
              <a:t>V-003-E-0001 · Context · Context - platform supplier</a:t>
            </a:r>
            <a:endParaRPr sz="1200"/>
          </a:p>
          <a:p>
            <a:pPr algn="l"/>
            <a:r>
              <a:rPr sz="1000" b="0" i="0">
                <a:solidFill>
                  <a:srgbClr val="66757F"/>
                </a:solidFill>
              </a:rPr>
              <a:t>Platform supplier blog, OpenText, 2026-02-02</a:t>
            </a:r>
            <a:endParaRPr sz="1200"/>
          </a:p>
          <a:p>
            <a:pPr algn="l"/>
            <a:r>
              <a:rPr sz="1050" b="0" i="1">
                <a:solidFill>
                  <a:srgbClr val="43535F"/>
                </a:solidFill>
              </a:rPr>
              <a:t>“In the same research, 69% of mature adopters reported being satisfied with their return on AI investment (ROAI), compared with 42% of newer adopters.”</a:t>
            </a:r>
            <a:endParaRPr sz="1200"/>
          </a:p>
          <a:p>
            <a:pPr algn="l">
              <a:spcBef>
                <a:spcPts val="400"/>
              </a:spcBef>
            </a:pPr>
            <a:r>
              <a:rPr sz="1000" b="1" i="0">
                <a:solidFill>
                  <a:srgbClr val="0A5E5D"/>
                </a:solidFill>
              </a:rPr>
              <a:t>V-003-E-0002 · Context · Context - platform supplier</a:t>
            </a:r>
            <a:endParaRPr sz="1200"/>
          </a:p>
          <a:p>
            <a:pPr algn="l"/>
            <a:r>
              <a:rPr sz="1000" b="0" i="0">
                <a:solidFill>
                  <a:srgbClr val="66757F"/>
                </a:solidFill>
              </a:rPr>
              <a:t>Platform supplier blog, OpenText, 2026-02-02</a:t>
            </a:r>
            <a:endParaRPr sz="1200"/>
          </a:p>
          <a:p>
            <a:pPr algn="l"/>
            <a:r>
              <a:rPr sz="1050" b="0" i="1">
                <a:solidFill>
                  <a:srgbClr val="43535F"/>
                </a:solidFill>
              </a:rPr>
              <a:t>“In this post, I’ll walk through the latest AI innovations we’ve incorporated into OpenText™ Experience Cloud across content, communications, and digital assets workflows.”</a:t>
            </a:r>
            <a:endParaRPr sz="1200"/>
          </a:p>
          <a:p>
            <a:pPr algn="l">
              <a:spcBef>
                <a:spcPts val="400"/>
              </a:spcBef>
            </a:pPr>
            <a:r>
              <a:rPr sz="1000" b="1" i="0">
                <a:solidFill>
                  <a:srgbClr val="0A5E5D"/>
                </a:solidFill>
              </a:rPr>
              <a:t>V-003-E-0003 · Context · Context - platform supplier</a:t>
            </a:r>
            <a:endParaRPr sz="1200"/>
          </a:p>
          <a:p>
            <a:pPr algn="l"/>
            <a:r>
              <a:rPr sz="1000" b="0" i="0">
                <a:solidFill>
                  <a:srgbClr val="66757F"/>
                </a:solidFill>
              </a:rPr>
              <a:t>Platform supplier blog, OpenText, 2026-02-02</a:t>
            </a:r>
            <a:endParaRPr sz="1200"/>
          </a:p>
          <a:p>
            <a:pPr algn="l"/>
            <a:r>
              <a:rPr sz="1050" b="0" i="1">
                <a:solidFill>
                  <a:srgbClr val="43535F"/>
                </a:solidFill>
              </a:rPr>
              <a:t>“Built into the OpenText Experience Cloud, it’s AI for the full content-to-experience lifecycle, including text, image, structure, and system.”</a:t>
            </a:r>
            <a:endParaRPr sz="1200"/>
          </a:p>
        </p:txBody>
      </p:sp>
      <p:sp>
        <p:nvSpPr>
          <p:cNvPr id="8" name="Vendor reasoning"/>
          <p:cNvSpPr/>
          <p:nvPr/>
        </p:nvSpPr>
        <p:spPr>
          <a:xfrm>
            <a:off x="502920" y="4983480"/>
            <a:ext cx="6675120" cy="1234440"/>
          </a:xfrm>
          <a:prstGeom prst="roundRect">
            <a:avLst>
              <a:gd name="adj" fmla="val 7407"/>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Why this verdict</a:t>
            </a:r>
            <a:endParaRPr sz="1200"/>
          </a:p>
          <a:p>
            <a:pPr algn="l"/>
            <a:r>
              <a:rPr sz="1050" b="0" i="0">
                <a:solidFill>
                  <a:srgbClr val="43535F"/>
                </a:solidFill>
              </a:rPr>
              <a:t>It is unlikely that the vendor uses AI in the service. Confidence is moderate because every mandatory source family was searched and no evidence of AI use was found.</a:t>
            </a:r>
            <a:endParaRPr sz="1200"/>
          </a:p>
          <a:p>
            <a:pPr algn="l">
              <a:spcBef>
                <a:spcPts val="400"/>
              </a:spcBef>
            </a:pPr>
            <a:r>
              <a:rPr sz="1050" b="0" i="0">
                <a:solidFill>
                  <a:srgbClr val="43535F"/>
                </a:solidFill>
              </a:rPr>
              <a:t>AI providers: none named publicly</a:t>
            </a:r>
            <a:endParaRPr sz="1200"/>
          </a:p>
        </p:txBody>
      </p:sp>
      <p:sp>
        <p:nvSpPr>
          <p:cNvPr id="9" name="Vendor risk"/>
          <p:cNvSpPr/>
          <p:nvPr/>
        </p:nvSpPr>
        <p:spPr>
          <a:xfrm>
            <a:off x="7406640" y="1645920"/>
            <a:ext cx="4279392" cy="1600200"/>
          </a:xfrm>
          <a:prstGeom prst="roundRect">
            <a:avLst>
              <a:gd name="adj" fmla="val 5714"/>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Risk</a:t>
            </a:r>
            <a:endParaRPr sz="1200"/>
          </a:p>
          <a:p>
            <a:pPr algn="l"/>
            <a:r>
              <a:rPr sz="1050" b="0" i="0">
                <a:solidFill>
                  <a:srgbClr val="43535F"/>
                </a:solidFill>
              </a:rPr>
              <a:t>exposure 0/3 · decision impact 0/3</a:t>
            </a:r>
            <a:endParaRPr sz="1200"/>
          </a:p>
          <a:p>
            <a:pPr algn="l"/>
            <a:r>
              <a:rPr sz="1050" b="0" i="0">
                <a:solidFill>
                  <a:srgbClr val="43535F"/>
                </a:solidFill>
              </a:rPr>
              <a:t>tier points 2 · transparency gap 3 → 5 of 18</a:t>
            </a:r>
            <a:endParaRPr sz="1200"/>
          </a:p>
          <a:p>
            <a:pPr algn="l">
              <a:spcBef>
                <a:spcPts val="300"/>
              </a:spcBef>
            </a:pPr>
            <a:r>
              <a:rPr sz="1200" b="1" i="0">
                <a:solidFill>
                  <a:srgbClr val="3F4D57"/>
                </a:solidFill>
              </a:rPr>
              <a:t>None identified</a:t>
            </a:r>
            <a:endParaRPr sz="1200"/>
          </a:p>
        </p:txBody>
      </p:sp>
      <p:sp>
        <p:nvSpPr>
          <p:cNvPr id="10" name="Vendor flip"/>
          <p:cNvSpPr/>
          <p:nvPr/>
        </p:nvSpPr>
        <p:spPr>
          <a:xfrm>
            <a:off x="7406640" y="3383280"/>
            <a:ext cx="4279392" cy="1234440"/>
          </a:xfrm>
          <a:prstGeom prst="roundRect">
            <a:avLst>
              <a:gd name="adj" fmla="val 7407"/>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Flip condition</a:t>
            </a:r>
            <a:endParaRPr sz="1200"/>
          </a:p>
          <a:p>
            <a:pPr algn="l"/>
            <a:r>
              <a:rPr sz="1050" b="0" i="0">
                <a:solidFill>
                  <a:srgbClr val="43535F"/>
                </a:solidFill>
              </a:rPr>
              <a:t>Evidence that AI features of the platforms the vendor uses, or AI tools used by its staff, touch Meridian data would require reassessment.</a:t>
            </a:r>
            <a:endParaRPr sz="1200"/>
          </a:p>
        </p:txBody>
      </p:sp>
      <p:sp>
        <p:nvSpPr>
          <p:cNvPr id="11" name="Vendor action"/>
          <p:cNvSpPr/>
          <p:nvPr/>
        </p:nvSpPr>
        <p:spPr>
          <a:xfrm>
            <a:off x="7406640" y="4754880"/>
            <a:ext cx="4279392" cy="1417320"/>
          </a:xfrm>
          <a:prstGeom prst="roundRect">
            <a:avLst>
              <a:gd name="adj" fmla="val 6451"/>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Next action for Meridian</a:t>
            </a:r>
            <a:endParaRPr sz="1200"/>
          </a:p>
          <a:p>
            <a:pPr algn="l"/>
            <a:r>
              <a:rPr sz="1050" b="0" i="0">
                <a:solidFill>
                  <a:srgbClr val="43535F"/>
                </a:solidFill>
              </a:rPr>
              <a:t>Obtain a written attestation from the vendor that no AI is used in the service or on Meridian data, including the AI features of the platforms it uses.</a:t>
            </a:r>
            <a:endParaRPr sz="120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10896"/>
            <a:ext cx="9509760" cy="640080"/>
          </a:xfrm>
        </p:spPr>
        <p:txBody>
          <a:bodyPr wrap="square" anchor="b" lIns="0" tIns="0" rIns="0" bIns="0">
            <a:noAutofit/>
          </a:bodyPr>
          <a:lstStyle/>
          <a:p>
            <a:pPr algn="l"/>
            <a:r>
              <a:rPr sz="3000" b="1" i="0">
                <a:solidFill>
                  <a:srgbClr val="0C2D36"/>
                </a:solidFill>
              </a:rPr>
              <a:t>A9 · Terrapin (V-004)</a:t>
            </a:r>
            <a:endParaRPr sz="1200"/>
          </a:p>
        </p:txBody>
      </p:sp>
      <p:sp>
        <p:nvSpPr>
          <p:cNvPr id="3" name="Corner tag"/>
          <p:cNvSpPr/>
          <p:nvPr/>
        </p:nvSpPr>
        <p:spPr>
          <a:xfrm>
            <a:off x="10241280" y="457200"/>
            <a:ext cx="1444752" cy="310896"/>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APPENDIX</a:t>
            </a:r>
            <a:endParaRPr sz="1000"/>
          </a:p>
        </p:txBody>
      </p:sp>
      <p:sp>
        <p:nvSpPr>
          <p:cNvPr id="4" name="Kicker"/>
          <p:cNvSpPr txBox="1"/>
          <p:nvPr/>
        </p:nvSpPr>
        <p:spPr>
          <a:xfrm>
            <a:off x="502920" y="987552"/>
            <a:ext cx="11183112" cy="502920"/>
          </a:xfrm>
          <a:prstGeom prst="rect">
            <a:avLst/>
          </a:prstGeom>
          <a:noFill/>
        </p:spPr>
        <p:txBody>
          <a:bodyPr wrap="square" anchor="t" lIns="0" tIns="0" rIns="0" bIns="0">
            <a:noAutofit/>
          </a:bodyPr>
          <a:lstStyle/>
          <a:p>
            <a:pPr algn="l"/>
            <a:r>
              <a:rPr sz="1500" b="0" i="0">
                <a:solidFill>
                  <a:srgbClr val="0A5E5D"/>
                </a:solidFill>
              </a:rPr>
              <a:t>High tier · Inconclusive · AI risk Medium, provisional; ceiling High if confirmed</a:t>
            </a:r>
            <a:endParaRPr sz="1200"/>
          </a:p>
        </p:txBody>
      </p:sp>
      <p:sp>
        <p:nvSpPr>
          <p:cNvPr id="5"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66757F"/>
                </a:solidFill>
              </a:rPr>
              <a:t>Team Osprey · Vendor AI footprint · Confidential case-study material, not for distribution</a:t>
            </a:r>
            <a:endParaRPr sz="1200"/>
          </a:p>
        </p:txBody>
      </p:sp>
      <p:sp>
        <p:nvSpPr>
          <p:cNvPr id="6" name="Slide number"/>
          <p:cNvSpPr txBox="1"/>
          <p:nvPr/>
        </p:nvSpPr>
        <p:spPr>
          <a:xfrm>
            <a:off x="10954512" y="6437376"/>
            <a:ext cx="731520" cy="256032"/>
          </a:xfrm>
          <a:prstGeom prst="rect">
            <a:avLst/>
          </a:prstGeom>
          <a:noFill/>
        </p:spPr>
        <p:txBody>
          <a:bodyPr wrap="square" anchor="ctr" lIns="0" tIns="0" rIns="0" bIns="0">
            <a:noAutofit/>
          </a:bodyPr>
          <a:lstStyle/>
          <a:p>
            <a:pPr algn="r"/>
            <a:fld id="{03DD467B-40CE-54D4-B503-D61430EC166F}" type="slidenum">
              <a:rPr lang="en-GB" sz="1000" dirty="0">
                <a:solidFill>
                  <a:srgbClr val="66757F"/>
                </a:solidFill>
              </a:rPr>
              <a:t>23</a:t>
            </a:fld>
            <a:endParaRPr sz="1200"/>
          </a:p>
        </p:txBody>
      </p:sp>
      <p:sp>
        <p:nvSpPr>
          <p:cNvPr id="7" name="Vendor evidence card"/>
          <p:cNvSpPr/>
          <p:nvPr/>
        </p:nvSpPr>
        <p:spPr>
          <a:xfrm>
            <a:off x="502920" y="1645920"/>
            <a:ext cx="6675120" cy="3200400"/>
          </a:xfrm>
          <a:prstGeom prst="roundRect">
            <a:avLst>
              <a:gd name="adj" fmla="val 2857"/>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Decisive evidence</a:t>
            </a:r>
            <a:endParaRPr sz="1200"/>
          </a:p>
          <a:p>
            <a:pPr algn="l">
              <a:spcBef>
                <a:spcPts val="400"/>
              </a:spcBef>
            </a:pPr>
            <a:r>
              <a:rPr sz="1000" b="1" i="0">
                <a:solidFill>
                  <a:srgbClr val="0A5E5D"/>
                </a:solidFill>
              </a:rPr>
              <a:t>V-004-E-0001 · Indicator · Context - relationship only</a:t>
            </a:r>
            <a:endParaRPr sz="1200"/>
          </a:p>
          <a:p>
            <a:pPr algn="l"/>
            <a:r>
              <a:rPr sz="1000" b="0" i="0">
                <a:solidFill>
                  <a:srgbClr val="66757F"/>
                </a:solidFill>
              </a:rPr>
              <a:t>DNS TXT record, Terrapin Technologies, dated by retrieval</a:t>
            </a:r>
            <a:endParaRPr sz="1200"/>
          </a:p>
          <a:p>
            <a:pPr algn="l"/>
            <a:r>
              <a:rPr sz="1050" b="0" i="1">
                <a:solidFill>
                  <a:srgbClr val="43535F"/>
                </a:solidFill>
              </a:rPr>
              <a:t>“anthropic-domain-verification-9aq3kr=73tzcSxHSSLJVpJGhNo7EEOXN”</a:t>
            </a:r>
            <a:endParaRPr sz="1200"/>
          </a:p>
          <a:p>
            <a:pPr algn="l">
              <a:spcBef>
                <a:spcPts val="400"/>
              </a:spcBef>
            </a:pPr>
            <a:r>
              <a:rPr sz="1000" b="1" i="0">
                <a:solidFill>
                  <a:srgbClr val="0A5E5D"/>
                </a:solidFill>
              </a:rPr>
              <a:t>V-004-E-0002 · Indicator · Context - relationship only</a:t>
            </a:r>
            <a:endParaRPr sz="1200"/>
          </a:p>
          <a:p>
            <a:pPr algn="l"/>
            <a:r>
              <a:rPr sz="1000" b="0" i="0">
                <a:solidFill>
                  <a:srgbClr val="66757F"/>
                </a:solidFill>
              </a:rPr>
              <a:t>DNS TXT record, Terrapin Technologies, dated by retrieval</a:t>
            </a:r>
            <a:endParaRPr sz="1200"/>
          </a:p>
          <a:p>
            <a:pPr algn="l"/>
            <a:r>
              <a:rPr sz="1050" b="0" i="1">
                <a:solidFill>
                  <a:srgbClr val="43535F"/>
                </a:solidFill>
              </a:rPr>
              <a:t>“openai-domain-verification=dv-PCbu8fARAow5Q9VteO3A6end”</a:t>
            </a:r>
            <a:endParaRPr sz="1200"/>
          </a:p>
          <a:p>
            <a:pPr algn="l">
              <a:spcBef>
                <a:spcPts val="800"/>
              </a:spcBef>
            </a:pPr>
            <a:r>
              <a:rPr sz="1000" b="1" i="0">
                <a:solidFill>
                  <a:srgbClr val="0C2D36"/>
                </a:solidFill>
              </a:rPr>
              <a:t>How AI is used (column Q)</a:t>
            </a:r>
            <a:endParaRPr sz="1200"/>
          </a:p>
          <a:p>
            <a:pPr algn="l"/>
            <a:r>
              <a:rPr sz="1050" b="0" i="0">
                <a:solidFill>
                  <a:srgbClr val="43535F"/>
                </a:solidFill>
              </a:rPr>
              <a:t>No usage pathway is evidenced in public material. Anthropic and OpenAI domain-verification tokens in the vendor's DNS records are a relationship indicator, not a confirmed sub-processor (V-004-E-0001, V-004-E-0002). The extent of AI use within the service itself, Meridian data reaching AI models, and human review over AI output is undetermined from public…</a:t>
            </a:r>
            <a:endParaRPr sz="1200"/>
          </a:p>
        </p:txBody>
      </p:sp>
      <p:sp>
        <p:nvSpPr>
          <p:cNvPr id="8" name="Vendor reasoning"/>
          <p:cNvSpPr/>
          <p:nvPr/>
        </p:nvSpPr>
        <p:spPr>
          <a:xfrm>
            <a:off x="502920" y="4983480"/>
            <a:ext cx="6675120" cy="1234440"/>
          </a:xfrm>
          <a:prstGeom prst="roundRect">
            <a:avLst>
              <a:gd name="adj" fmla="val 7407"/>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Why this verdict</a:t>
            </a:r>
            <a:endParaRPr sz="1200"/>
          </a:p>
          <a:p>
            <a:pPr algn="l"/>
            <a:r>
              <a:rPr sz="1050" b="0" i="0">
                <a:solidFill>
                  <a:srgbClr val="43535F"/>
                </a:solidFill>
              </a:rPr>
              <a:t>It is roughly even chance that the vendor uses AI in the service. Confidence is low because the search of legal and trust pages (blocked by bot protection) and product pages and newsroom (blocked by bot protection) was not completed.</a:t>
            </a:r>
            <a:endParaRPr sz="1200"/>
          </a:p>
          <a:p>
            <a:pPr algn="l">
              <a:spcBef>
                <a:spcPts val="400"/>
              </a:spcBef>
            </a:pPr>
            <a:r>
              <a:rPr sz="1050" b="0" i="0">
                <a:solidFill>
                  <a:srgbClr val="43535F"/>
                </a:solidFill>
              </a:rPr>
              <a:t>AI providers: DNS token only: Anthropic, OpenAI</a:t>
            </a:r>
            <a:endParaRPr sz="1200"/>
          </a:p>
        </p:txBody>
      </p:sp>
      <p:sp>
        <p:nvSpPr>
          <p:cNvPr id="9" name="Vendor risk"/>
          <p:cNvSpPr/>
          <p:nvPr/>
        </p:nvSpPr>
        <p:spPr>
          <a:xfrm>
            <a:off x="7406640" y="1645920"/>
            <a:ext cx="4279392" cy="1600200"/>
          </a:xfrm>
          <a:prstGeom prst="roundRect">
            <a:avLst>
              <a:gd name="adj" fmla="val 5714"/>
            </a:avLst>
          </a:prstGeom>
          <a:solidFill>
            <a:srgbClr val="FFF4D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Risk</a:t>
            </a:r>
            <a:endParaRPr sz="1200"/>
          </a:p>
          <a:p>
            <a:pPr algn="l"/>
            <a:r>
              <a:rPr sz="1050" b="0" i="0">
                <a:solidFill>
                  <a:srgbClr val="43535F"/>
                </a:solidFill>
              </a:rPr>
              <a:t>exposure 2/3 (assumed) · decision impact 2/3 (assumed)</a:t>
            </a:r>
            <a:endParaRPr sz="1200"/>
          </a:p>
          <a:p>
            <a:pPr algn="l"/>
            <a:r>
              <a:rPr sz="1050" b="0" i="0">
                <a:solidFill>
                  <a:srgbClr val="43535F"/>
                </a:solidFill>
              </a:rPr>
              <a:t>tier points 2 · transparency gap 3 → 13 of 18</a:t>
            </a:r>
            <a:endParaRPr sz="1200"/>
          </a:p>
          <a:p>
            <a:pPr algn="l">
              <a:spcBef>
                <a:spcPts val="300"/>
              </a:spcBef>
            </a:pPr>
            <a:r>
              <a:rPr sz="1200" b="1" i="0">
                <a:solidFill>
                  <a:srgbClr val="6B5000"/>
                </a:solidFill>
              </a:rPr>
              <a:t>Medium (provisional)</a:t>
            </a:r>
            <a:endParaRPr sz="1200"/>
          </a:p>
        </p:txBody>
      </p:sp>
      <p:sp>
        <p:nvSpPr>
          <p:cNvPr id="10" name="Vendor flip"/>
          <p:cNvSpPr/>
          <p:nvPr/>
        </p:nvSpPr>
        <p:spPr>
          <a:xfrm>
            <a:off x="7406640" y="3383280"/>
            <a:ext cx="4279392" cy="1234440"/>
          </a:xfrm>
          <a:prstGeom prst="roundRect">
            <a:avLst>
              <a:gd name="adj" fmla="val 7407"/>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Flip condition</a:t>
            </a:r>
            <a:endParaRPr sz="1200"/>
          </a:p>
          <a:p>
            <a:pPr algn="l"/>
            <a:r>
              <a:rPr sz="1050" b="0" i="0">
                <a:solidFill>
                  <a:srgbClr val="43535F"/>
                </a:solidFill>
              </a:rPr>
              <a:t>Confirmation that the AI services indicated only by DNS records (Anthropic and OpenAI) are used on Meridian data would make the verdict Yes and could raise the class to High.</a:t>
            </a:r>
            <a:endParaRPr sz="1200"/>
          </a:p>
        </p:txBody>
      </p:sp>
      <p:sp>
        <p:nvSpPr>
          <p:cNvPr id="11" name="Vendor action"/>
          <p:cNvSpPr/>
          <p:nvPr/>
        </p:nvSpPr>
        <p:spPr>
          <a:xfrm>
            <a:off x="7406640" y="4754880"/>
            <a:ext cx="4279392" cy="1417320"/>
          </a:xfrm>
          <a:prstGeom prst="roundRect">
            <a:avLst>
              <a:gd name="adj" fmla="val 6451"/>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Next action for Meridian</a:t>
            </a:r>
            <a:endParaRPr sz="1200"/>
          </a:p>
          <a:p>
            <a:pPr algn="l"/>
            <a:r>
              <a:rPr sz="1050" b="0" i="0">
                <a:solidFill>
                  <a:srgbClr val="43535F"/>
                </a:solidFill>
              </a:rPr>
              <a:t>Issue questionnaire items Q1 to Q4 within 15 business days to establish whether AI is used in the service, which Meridian data it touches, which model…</a:t>
            </a:r>
            <a:endParaRPr sz="1200"/>
          </a:p>
          <a:p>
            <a:pPr algn="l">
              <a:spcBef>
                <a:spcPts val="300"/>
              </a:spcBef>
            </a:pPr>
            <a:r>
              <a:rPr sz="1000" b="0" i="0">
                <a:solidFill>
                  <a:srgbClr val="66757F"/>
                </a:solidFill>
              </a:rPr>
              <a:t>Gap blocks SUB, TRAIN, LOC, EXPL, PI, GOV, INC · questions Q1, Q2, Q3, Q4, Q5, Q6, Q7, Q9, Q10, Q11, Q14, Q15</a:t>
            </a:r>
            <a:endParaRPr sz="120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10896"/>
            <a:ext cx="9509760" cy="640080"/>
          </a:xfrm>
        </p:spPr>
        <p:txBody>
          <a:bodyPr wrap="square" anchor="b" lIns="0" tIns="0" rIns="0" bIns="0">
            <a:noAutofit/>
          </a:bodyPr>
          <a:lstStyle/>
          <a:p>
            <a:pPr algn="l"/>
            <a:r>
              <a:rPr sz="3000" b="1" i="0">
                <a:solidFill>
                  <a:srgbClr val="0C2D36"/>
                </a:solidFill>
              </a:rPr>
              <a:t>A10 · BNY (V-005)</a:t>
            </a:r>
            <a:endParaRPr sz="1200"/>
          </a:p>
        </p:txBody>
      </p:sp>
      <p:sp>
        <p:nvSpPr>
          <p:cNvPr id="3" name="Corner tag"/>
          <p:cNvSpPr/>
          <p:nvPr/>
        </p:nvSpPr>
        <p:spPr>
          <a:xfrm>
            <a:off x="10241280" y="457200"/>
            <a:ext cx="1444752" cy="310896"/>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APPENDIX</a:t>
            </a:r>
            <a:endParaRPr sz="1000"/>
          </a:p>
        </p:txBody>
      </p:sp>
      <p:sp>
        <p:nvSpPr>
          <p:cNvPr id="4" name="Kicker"/>
          <p:cNvSpPr txBox="1"/>
          <p:nvPr/>
        </p:nvSpPr>
        <p:spPr>
          <a:xfrm>
            <a:off x="502920" y="987552"/>
            <a:ext cx="11183112" cy="502920"/>
          </a:xfrm>
          <a:prstGeom prst="rect">
            <a:avLst/>
          </a:prstGeom>
          <a:noFill/>
        </p:spPr>
        <p:txBody>
          <a:bodyPr wrap="square" anchor="t" lIns="0" tIns="0" rIns="0" bIns="0">
            <a:noAutofit/>
          </a:bodyPr>
          <a:lstStyle/>
          <a:p>
            <a:pPr algn="l"/>
            <a:r>
              <a:rPr sz="1500" b="0" i="0">
                <a:solidFill>
                  <a:srgbClr val="0A5E5D"/>
                </a:solidFill>
              </a:rPr>
              <a:t>Critical tier · Yes (Probable) · AI risk High</a:t>
            </a:r>
            <a:endParaRPr sz="1200"/>
          </a:p>
        </p:txBody>
      </p:sp>
      <p:sp>
        <p:nvSpPr>
          <p:cNvPr id="5"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66757F"/>
                </a:solidFill>
              </a:rPr>
              <a:t>Team Osprey · Vendor AI footprint · Confidential case-study material, not for distribution</a:t>
            </a:r>
            <a:endParaRPr sz="1200"/>
          </a:p>
        </p:txBody>
      </p:sp>
      <p:sp>
        <p:nvSpPr>
          <p:cNvPr id="6" name="Slide number"/>
          <p:cNvSpPr txBox="1"/>
          <p:nvPr/>
        </p:nvSpPr>
        <p:spPr>
          <a:xfrm>
            <a:off x="10954512" y="6437376"/>
            <a:ext cx="731520" cy="256032"/>
          </a:xfrm>
          <a:prstGeom prst="rect">
            <a:avLst/>
          </a:prstGeom>
          <a:noFill/>
        </p:spPr>
        <p:txBody>
          <a:bodyPr wrap="square" anchor="ctr" lIns="0" tIns="0" rIns="0" bIns="0">
            <a:noAutofit/>
          </a:bodyPr>
          <a:lstStyle/>
          <a:p>
            <a:pPr algn="r"/>
            <a:fld id="{F67B0536-123F-504E-A11A-C2AA391148EA}" type="slidenum">
              <a:rPr lang="en-GB" sz="1000" dirty="0">
                <a:solidFill>
                  <a:srgbClr val="66757F"/>
                </a:solidFill>
              </a:rPr>
              <a:t>24</a:t>
            </a:fld>
            <a:endParaRPr sz="1200"/>
          </a:p>
        </p:txBody>
      </p:sp>
      <p:sp>
        <p:nvSpPr>
          <p:cNvPr id="7" name="Vendor evidence card"/>
          <p:cNvSpPr/>
          <p:nvPr/>
        </p:nvSpPr>
        <p:spPr>
          <a:xfrm>
            <a:off x="502920" y="1645920"/>
            <a:ext cx="6675120" cy="3200400"/>
          </a:xfrm>
          <a:prstGeom prst="roundRect">
            <a:avLst>
              <a:gd name="adj" fmla="val 2857"/>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Decisive evidence</a:t>
            </a:r>
            <a:endParaRPr sz="1200"/>
          </a:p>
          <a:p>
            <a:pPr algn="l">
              <a:spcBef>
                <a:spcPts val="400"/>
              </a:spcBef>
            </a:pPr>
            <a:r>
              <a:rPr sz="1000" b="1" i="0">
                <a:solidFill>
                  <a:srgbClr val="0A5E5D"/>
                </a:solidFill>
              </a:rPr>
              <a:t>V-005-E-0001 · Primary · Moderate</a:t>
            </a:r>
            <a:endParaRPr sz="1200"/>
          </a:p>
          <a:p>
            <a:pPr algn="l"/>
            <a:r>
              <a:rPr sz="1000" b="0" i="0">
                <a:solidFill>
                  <a:srgbClr val="66757F"/>
                </a:solidFill>
              </a:rPr>
              <a:t>SEC Form 8-K exhibit, BNY, 2026-04-16</a:t>
            </a:r>
            <a:endParaRPr sz="1200"/>
          </a:p>
          <a:p>
            <a:pPr algn="l"/>
            <a:r>
              <a:rPr sz="1050" b="0" i="1">
                <a:solidFill>
                  <a:srgbClr val="43535F"/>
                </a:solidFill>
              </a:rPr>
              <a:t>“• ~220 enterprise AI solutions in production, and ~140 digital employees • Enhanced security and resilience • Deepening process excellence across: – High-volume workflows – embedding AI to automate at scale, e.g […]”</a:t>
            </a:r>
            <a:endParaRPr sz="1200"/>
          </a:p>
          <a:p>
            <a:pPr algn="l">
              <a:spcBef>
                <a:spcPts val="400"/>
              </a:spcBef>
            </a:pPr>
            <a:r>
              <a:rPr sz="1000" b="1" i="0">
                <a:solidFill>
                  <a:srgbClr val="0A5E5D"/>
                </a:solidFill>
              </a:rPr>
              <a:t>V-005-E-0003 · Supporting · Moderate</a:t>
            </a:r>
            <a:endParaRPr sz="1200"/>
          </a:p>
          <a:p>
            <a:pPr algn="l"/>
            <a:r>
              <a:rPr sz="1000" b="0" i="0">
                <a:solidFill>
                  <a:srgbClr val="66757F"/>
                </a:solidFill>
              </a:rPr>
              <a:t>Trade press, The Asian Banker, 2026-10-03</a:t>
            </a:r>
            <a:endParaRPr sz="1200"/>
          </a:p>
          <a:p>
            <a:pPr algn="l"/>
            <a:r>
              <a:rPr sz="1050" b="0" i="1">
                <a:solidFill>
                  <a:srgbClr val="43535F"/>
                </a:solidFill>
              </a:rPr>
              <a:t>“In the payments environment, AI supports anomaly detection and exception management across both cross-border and real-time rails.”</a:t>
            </a:r>
            <a:endParaRPr sz="1200"/>
          </a:p>
          <a:p>
            <a:pPr algn="l">
              <a:spcBef>
                <a:spcPts val="400"/>
              </a:spcBef>
            </a:pPr>
            <a:r>
              <a:rPr sz="1000" b="1" i="0">
                <a:solidFill>
                  <a:srgbClr val="0A5E5D"/>
                </a:solidFill>
              </a:rPr>
              <a:t>V-005-E-0002 · Supporting · Moderate</a:t>
            </a:r>
            <a:endParaRPr sz="1200"/>
          </a:p>
          <a:p>
            <a:pPr algn="l"/>
            <a:r>
              <a:rPr sz="1000" b="0" i="0">
                <a:solidFill>
                  <a:srgbClr val="66757F"/>
                </a:solidFill>
              </a:rPr>
              <a:t>Trade press, The Asian Banker, 2026-10-03</a:t>
            </a:r>
            <a:endParaRPr sz="1200"/>
          </a:p>
          <a:p>
            <a:pPr algn="l"/>
            <a:r>
              <a:rPr sz="1050" b="0" i="1">
                <a:solidFill>
                  <a:srgbClr val="43535F"/>
                </a:solidFill>
              </a:rPr>
              <a:t>“Eliza acts as an orchestrator for over 134 "digital employees" — multi-agentic AI solutions that work alongside human staff to support workflows such as payment validation, trade settlement and data analysis.”</a:t>
            </a:r>
            <a:endParaRPr sz="1200"/>
          </a:p>
        </p:txBody>
      </p:sp>
      <p:sp>
        <p:nvSpPr>
          <p:cNvPr id="8" name="Vendor reasoning"/>
          <p:cNvSpPr/>
          <p:nvPr/>
        </p:nvSpPr>
        <p:spPr>
          <a:xfrm>
            <a:off x="502920" y="4983480"/>
            <a:ext cx="6675120" cy="1234440"/>
          </a:xfrm>
          <a:prstGeom prst="roundRect">
            <a:avLst>
              <a:gd name="adj" fmla="val 7407"/>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Why this verdict</a:t>
            </a:r>
            <a:endParaRPr sz="1200"/>
          </a:p>
          <a:p>
            <a:pPr algn="l"/>
            <a:r>
              <a:rPr sz="1050" b="0" i="0">
                <a:solidFill>
                  <a:srgbClr val="43535F"/>
                </a:solidFill>
              </a:rPr>
              <a:t>It is likely that the vendor uses AI in the service. Confidence is low because the search of legal and trust pages (still pending), product pages and newsroom (still pending) and job postings (still pending) was not completed.</a:t>
            </a:r>
            <a:endParaRPr sz="1200"/>
          </a:p>
          <a:p>
            <a:pPr algn="l">
              <a:spcBef>
                <a:spcPts val="400"/>
              </a:spcBef>
            </a:pPr>
            <a:r>
              <a:rPr sz="1050" b="0" i="0">
                <a:solidFill>
                  <a:srgbClr val="43535F"/>
                </a:solidFill>
              </a:rPr>
              <a:t>AI providers: named by the vendor: AI Hub, Anthropic, Eliza, Eliza 2.0, Eliza AI platform, Google, Microsoft, NVIDIA, OpenAI; named only by third parties: Pelican AI</a:t>
            </a:r>
            <a:endParaRPr sz="1200"/>
          </a:p>
          <a:p>
            <a:pPr algn="l">
              <a:spcBef>
                <a:spcPts val="400"/>
              </a:spcBef>
            </a:pPr>
            <a:r>
              <a:rPr sz="1050" b="0" i="0">
                <a:solidFill>
                  <a:srgbClr val="66757F"/>
                </a:solidFill>
              </a:rPr>
              <a:t>Definition-test trap kept in the log, never cited: V-005-E-0046.</a:t>
            </a:r>
            <a:endParaRPr sz="1200"/>
          </a:p>
        </p:txBody>
      </p:sp>
      <p:sp>
        <p:nvSpPr>
          <p:cNvPr id="9" name="Vendor risk"/>
          <p:cNvSpPr/>
          <p:nvPr/>
        </p:nvSpPr>
        <p:spPr>
          <a:xfrm>
            <a:off x="7406640" y="1645920"/>
            <a:ext cx="4279392" cy="1600200"/>
          </a:xfrm>
          <a:prstGeom prst="roundRect">
            <a:avLst>
              <a:gd name="adj" fmla="val 5714"/>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Risk</a:t>
            </a:r>
            <a:endParaRPr sz="1200"/>
          </a:p>
          <a:p>
            <a:pPr algn="l"/>
            <a:r>
              <a:rPr sz="1050" b="0" i="0">
                <a:solidFill>
                  <a:srgbClr val="43535F"/>
                </a:solidFill>
              </a:rPr>
              <a:t>exposure 2/3 · decision impact 3/3 (assumed)</a:t>
            </a:r>
            <a:endParaRPr sz="1200"/>
          </a:p>
          <a:p>
            <a:pPr algn="l"/>
            <a:r>
              <a:rPr sz="1050" b="0" i="0">
                <a:solidFill>
                  <a:srgbClr val="43535F"/>
                </a:solidFill>
              </a:rPr>
              <a:t>tier points 3 · transparency gap 2 → 15 of 18</a:t>
            </a:r>
            <a:endParaRPr sz="1200"/>
          </a:p>
          <a:p>
            <a:pPr algn="l">
              <a:spcBef>
                <a:spcPts val="300"/>
              </a:spcBef>
            </a:pPr>
            <a:r>
              <a:rPr sz="1200" b="1" i="0">
                <a:solidFill>
                  <a:srgbClr val="8A3A0E"/>
                </a:solidFill>
              </a:rPr>
              <a:t>High</a:t>
            </a:r>
            <a:endParaRPr sz="1200"/>
          </a:p>
        </p:txBody>
      </p:sp>
      <p:sp>
        <p:nvSpPr>
          <p:cNvPr id="10" name="Vendor flip"/>
          <p:cNvSpPr/>
          <p:nvPr/>
        </p:nvSpPr>
        <p:spPr>
          <a:xfrm>
            <a:off x="7406640" y="3383280"/>
            <a:ext cx="4279392" cy="1234440"/>
          </a:xfrm>
          <a:prstGeom prst="roundRect">
            <a:avLst>
              <a:gd name="adj" fmla="val 7407"/>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Flip condition</a:t>
            </a:r>
            <a:endParaRPr sz="1200"/>
          </a:p>
          <a:p>
            <a:pPr algn="l"/>
            <a:r>
              <a:rPr sz="1050" b="0" i="0">
                <a:solidFill>
                  <a:srgbClr val="43535F"/>
                </a:solidFill>
              </a:rPr>
              <a:t>Independent confirmation of AI use in the service itself would lift the Probable cap and raise the class to Critical.</a:t>
            </a:r>
            <a:endParaRPr sz="1200"/>
          </a:p>
        </p:txBody>
      </p:sp>
      <p:sp>
        <p:nvSpPr>
          <p:cNvPr id="11" name="Vendor action"/>
          <p:cNvSpPr/>
          <p:nvPr/>
        </p:nvSpPr>
        <p:spPr>
          <a:xfrm>
            <a:off x="7406640" y="4754880"/>
            <a:ext cx="4279392" cy="1417320"/>
          </a:xfrm>
          <a:prstGeom prst="roundRect">
            <a:avLst>
              <a:gd name="adj" fmla="val 6451"/>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Next action for Meridian</a:t>
            </a:r>
            <a:endParaRPr sz="1200"/>
          </a:p>
          <a:p>
            <a:pPr algn="l"/>
            <a:r>
              <a:rPr sz="1050" b="0" i="0">
                <a:solidFill>
                  <a:srgbClr val="43535F"/>
                </a:solidFill>
              </a:rPr>
              <a:t>Issue a targeted questionnaire within 15 business days covering which Meridian data the AI touches, model provider identity and AI sub-processors, training…</a:t>
            </a:r>
            <a:endParaRPr sz="1200"/>
          </a:p>
          <a:p>
            <a:pPr algn="l">
              <a:spcBef>
                <a:spcPts val="300"/>
              </a:spcBef>
            </a:pPr>
            <a:r>
              <a:rPr sz="1000" b="0" i="0">
                <a:solidFill>
                  <a:srgbClr val="66757F"/>
                </a:solidFill>
              </a:rPr>
              <a:t>Gap blocks SUB, TRAIN, LOC, EXPL, AGENT, PI, GOV, INC, MRM · questions Q2, Q3, Q4, Q5, Q6, Q7, Q8, Q9, Q10, Q11, Q13, Q14, Q15</a:t>
            </a:r>
            <a:endParaRPr sz="120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10896"/>
            <a:ext cx="9509760" cy="640080"/>
          </a:xfrm>
        </p:spPr>
        <p:txBody>
          <a:bodyPr wrap="square" anchor="b" lIns="0" tIns="0" rIns="0" bIns="0">
            <a:noAutofit/>
          </a:bodyPr>
          <a:lstStyle/>
          <a:p>
            <a:pPr algn="l"/>
            <a:r>
              <a:rPr sz="3000" b="1" i="0">
                <a:solidFill>
                  <a:srgbClr val="0C2D36"/>
                </a:solidFill>
              </a:rPr>
              <a:t>A11 · TCH (V-006)</a:t>
            </a:r>
            <a:endParaRPr sz="1200"/>
          </a:p>
        </p:txBody>
      </p:sp>
      <p:sp>
        <p:nvSpPr>
          <p:cNvPr id="3" name="Corner tag"/>
          <p:cNvSpPr/>
          <p:nvPr/>
        </p:nvSpPr>
        <p:spPr>
          <a:xfrm>
            <a:off x="10241280" y="457200"/>
            <a:ext cx="1444752" cy="310896"/>
          </a:xfrm>
          <a:prstGeom prst="roundRect">
            <a:avLst>
              <a:gd name="adj" fmla="val 50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r>
              <a:rPr sz="1000" b="1" i="0">
                <a:solidFill>
                  <a:srgbClr val="0A5E5D"/>
                </a:solidFill>
              </a:rPr>
              <a:t>APPENDIX</a:t>
            </a:r>
            <a:endParaRPr sz="1000"/>
          </a:p>
        </p:txBody>
      </p:sp>
      <p:sp>
        <p:nvSpPr>
          <p:cNvPr id="4" name="Kicker"/>
          <p:cNvSpPr txBox="1"/>
          <p:nvPr/>
        </p:nvSpPr>
        <p:spPr>
          <a:xfrm>
            <a:off x="502920" y="987552"/>
            <a:ext cx="11183112" cy="502920"/>
          </a:xfrm>
          <a:prstGeom prst="rect">
            <a:avLst/>
          </a:prstGeom>
          <a:noFill/>
        </p:spPr>
        <p:txBody>
          <a:bodyPr wrap="square" anchor="t" lIns="0" tIns="0" rIns="0" bIns="0">
            <a:noAutofit/>
          </a:bodyPr>
          <a:lstStyle/>
          <a:p>
            <a:pPr algn="l"/>
            <a:r>
              <a:rPr sz="1500" b="0" i="0">
                <a:solidFill>
                  <a:srgbClr val="0A5E5D"/>
                </a:solidFill>
              </a:rPr>
              <a:t>Critical tier · Yes (Probable) · AI risk High</a:t>
            </a:r>
            <a:endParaRPr sz="1200"/>
          </a:p>
        </p:txBody>
      </p:sp>
      <p:sp>
        <p:nvSpPr>
          <p:cNvPr id="5" name="Footer"/>
          <p:cNvSpPr txBox="1"/>
          <p:nvPr/>
        </p:nvSpPr>
        <p:spPr>
          <a:xfrm>
            <a:off x="502920" y="6437376"/>
            <a:ext cx="8686800" cy="256032"/>
          </a:xfrm>
          <a:prstGeom prst="rect">
            <a:avLst/>
          </a:prstGeom>
          <a:noFill/>
        </p:spPr>
        <p:txBody>
          <a:bodyPr wrap="square" anchor="ctr" lIns="0" tIns="0" rIns="0" bIns="0">
            <a:noAutofit/>
          </a:bodyPr>
          <a:lstStyle/>
          <a:p>
            <a:pPr algn="l"/>
            <a:r>
              <a:rPr sz="1000" b="0" i="0">
                <a:solidFill>
                  <a:srgbClr val="66757F"/>
                </a:solidFill>
              </a:rPr>
              <a:t>Team Osprey · Vendor AI footprint · Confidential case-study material, not for distribution</a:t>
            </a:r>
            <a:endParaRPr sz="1200"/>
          </a:p>
        </p:txBody>
      </p:sp>
      <p:sp>
        <p:nvSpPr>
          <p:cNvPr id="6" name="Slide number"/>
          <p:cNvSpPr txBox="1"/>
          <p:nvPr/>
        </p:nvSpPr>
        <p:spPr>
          <a:xfrm>
            <a:off x="10954512" y="6437376"/>
            <a:ext cx="731520" cy="256032"/>
          </a:xfrm>
          <a:prstGeom prst="rect">
            <a:avLst/>
          </a:prstGeom>
          <a:noFill/>
        </p:spPr>
        <p:txBody>
          <a:bodyPr wrap="square" anchor="ctr" lIns="0" tIns="0" rIns="0" bIns="0">
            <a:noAutofit/>
          </a:bodyPr>
          <a:lstStyle/>
          <a:p>
            <a:pPr algn="r"/>
            <a:fld id="{DBB22742-448C-59D9-BC2B-17AD4BB4B393}" type="slidenum">
              <a:rPr lang="en-GB" sz="1000" dirty="0">
                <a:solidFill>
                  <a:srgbClr val="66757F"/>
                </a:solidFill>
              </a:rPr>
              <a:t>25</a:t>
            </a:fld>
            <a:endParaRPr sz="1200"/>
          </a:p>
        </p:txBody>
      </p:sp>
      <p:sp>
        <p:nvSpPr>
          <p:cNvPr id="7" name="Vendor evidence card"/>
          <p:cNvSpPr/>
          <p:nvPr/>
        </p:nvSpPr>
        <p:spPr>
          <a:xfrm>
            <a:off x="502920" y="1645920"/>
            <a:ext cx="6675120" cy="3200400"/>
          </a:xfrm>
          <a:prstGeom prst="roundRect">
            <a:avLst>
              <a:gd name="adj" fmla="val 2857"/>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Decisive evidence</a:t>
            </a:r>
            <a:endParaRPr sz="1200"/>
          </a:p>
          <a:p>
            <a:pPr algn="l">
              <a:spcBef>
                <a:spcPts val="400"/>
              </a:spcBef>
            </a:pPr>
            <a:r>
              <a:rPr sz="1000" b="1" i="0">
                <a:solidFill>
                  <a:srgbClr val="0A5E5D"/>
                </a:solidFill>
              </a:rPr>
              <a:t>V-006-E-0001 · Primary · Moderate</a:t>
            </a:r>
            <a:endParaRPr sz="1200"/>
          </a:p>
          <a:p>
            <a:pPr algn="l"/>
            <a:r>
              <a:rPr sz="1000" b="0" i="0">
                <a:solidFill>
                  <a:srgbClr val="66757F"/>
                </a:solidFill>
              </a:rPr>
              <a:t>Job posting, The Clearing House, 2026-09-21</a:t>
            </a:r>
            <a:endParaRPr sz="1200"/>
          </a:p>
          <a:p>
            <a:pPr algn="l"/>
            <a:r>
              <a:rPr sz="1050" b="0" i="1">
                <a:solidFill>
                  <a:srgbClr val="43535F"/>
                </a:solidFill>
              </a:rPr>
              <a:t>“Utilize AI-powered tools such as Microsoft Copilot, ChatGPT, ServiceNow AI, or similar technologies to enhance documentation, reporting, knowledge management, and incident response.”</a:t>
            </a:r>
            <a:endParaRPr sz="1200"/>
          </a:p>
          <a:p>
            <a:pPr algn="l">
              <a:spcBef>
                <a:spcPts val="400"/>
              </a:spcBef>
            </a:pPr>
            <a:r>
              <a:rPr sz="1000" b="1" i="0">
                <a:solidFill>
                  <a:srgbClr val="0A5E5D"/>
                </a:solidFill>
              </a:rPr>
              <a:t>V-006-E-0002 · Supporting · Moderate</a:t>
            </a:r>
            <a:endParaRPr sz="1200"/>
          </a:p>
          <a:p>
            <a:pPr algn="l"/>
            <a:r>
              <a:rPr sz="1000" b="0" i="0">
                <a:solidFill>
                  <a:srgbClr val="66757F"/>
                </a:solidFill>
              </a:rPr>
              <a:t>Job posting, The Clearing House, 2026-09-18</a:t>
            </a:r>
            <a:endParaRPr sz="1200"/>
          </a:p>
          <a:p>
            <a:pPr algn="l"/>
            <a:r>
              <a:rPr sz="1050" b="0" i="1">
                <a:solidFill>
                  <a:srgbClr val="43535F"/>
                </a:solidFill>
              </a:rPr>
              <a:t>“This role owns the operating discipline behind the coverage model, including new inquiry decisioning, service provider outreach programs, campaign follow-up, event follow-up, CRM discipline, reporting, account materials […]”</a:t>
            </a:r>
            <a:endParaRPr sz="1200"/>
          </a:p>
          <a:p>
            <a:pPr algn="l">
              <a:spcBef>
                <a:spcPts val="400"/>
              </a:spcBef>
            </a:pPr>
            <a:r>
              <a:rPr sz="1000" b="1" i="0">
                <a:solidFill>
                  <a:srgbClr val="0A5E5D"/>
                </a:solidFill>
              </a:rPr>
              <a:t>V-006-E-0004 · Supporting · Moderate</a:t>
            </a:r>
            <a:endParaRPr sz="1200"/>
          </a:p>
          <a:p>
            <a:pPr algn="l"/>
            <a:r>
              <a:rPr sz="1000" b="0" i="0">
                <a:solidFill>
                  <a:srgbClr val="66757F"/>
                </a:solidFill>
              </a:rPr>
              <a:t>Job posting, The Clearing House, 2026-09-11</a:t>
            </a:r>
            <a:endParaRPr sz="1200"/>
          </a:p>
          <a:p>
            <a:pPr algn="l"/>
            <a:r>
              <a:rPr sz="1050" b="0" i="1">
                <a:solidFill>
                  <a:srgbClr val="43535F"/>
                </a:solidFill>
              </a:rPr>
              <a:t>“The organization is actively transforming its payment platforms toward cloud-native, distributed architectures while introducing modern automation and AI-assisted engineering practices into its software development lifecycle.”</a:t>
            </a:r>
            <a:endParaRPr sz="1200"/>
          </a:p>
        </p:txBody>
      </p:sp>
      <p:sp>
        <p:nvSpPr>
          <p:cNvPr id="8" name="Vendor reasoning"/>
          <p:cNvSpPr/>
          <p:nvPr/>
        </p:nvSpPr>
        <p:spPr>
          <a:xfrm>
            <a:off x="502920" y="4983480"/>
            <a:ext cx="6675120" cy="1234440"/>
          </a:xfrm>
          <a:prstGeom prst="roundRect">
            <a:avLst>
              <a:gd name="adj" fmla="val 7407"/>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Why this verdict</a:t>
            </a:r>
            <a:endParaRPr sz="1200"/>
          </a:p>
          <a:p>
            <a:pPr algn="l"/>
            <a:r>
              <a:rPr sz="1050" b="0" i="0">
                <a:solidFill>
                  <a:srgbClr val="43535F"/>
                </a:solidFill>
              </a:rPr>
              <a:t>It is likely that the vendor uses AI in the service. Confidence is moderate because only one independent first-party or legally accountable source supports the finding.</a:t>
            </a:r>
            <a:endParaRPr sz="1200"/>
          </a:p>
          <a:p>
            <a:pPr algn="l">
              <a:spcBef>
                <a:spcPts val="400"/>
              </a:spcBef>
            </a:pPr>
            <a:r>
              <a:rPr sz="1050" b="0" i="0">
                <a:solidFill>
                  <a:srgbClr val="43535F"/>
                </a:solidFill>
              </a:rPr>
              <a:t>AI providers: named by the vendor: Microsoft, OpenAI, ServiceNow</a:t>
            </a:r>
            <a:endParaRPr sz="1200"/>
          </a:p>
        </p:txBody>
      </p:sp>
      <p:sp>
        <p:nvSpPr>
          <p:cNvPr id="9" name="Vendor risk"/>
          <p:cNvSpPr/>
          <p:nvPr/>
        </p:nvSpPr>
        <p:spPr>
          <a:xfrm>
            <a:off x="7406640" y="1645920"/>
            <a:ext cx="4279392" cy="1600200"/>
          </a:xfrm>
          <a:prstGeom prst="roundRect">
            <a:avLst>
              <a:gd name="adj" fmla="val 5714"/>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Risk</a:t>
            </a:r>
            <a:endParaRPr sz="1200"/>
          </a:p>
          <a:p>
            <a:pPr algn="l"/>
            <a:r>
              <a:rPr sz="1050" b="0" i="0">
                <a:solidFill>
                  <a:srgbClr val="43535F"/>
                </a:solidFill>
              </a:rPr>
              <a:t>exposure 2/3 · decision impact 3/3 (assumed)</a:t>
            </a:r>
            <a:endParaRPr sz="1200"/>
          </a:p>
          <a:p>
            <a:pPr algn="l"/>
            <a:r>
              <a:rPr sz="1050" b="0" i="0">
                <a:solidFill>
                  <a:srgbClr val="43535F"/>
                </a:solidFill>
              </a:rPr>
              <a:t>tier points 3 · transparency gap 2 → 15 of 18</a:t>
            </a:r>
            <a:endParaRPr sz="1200"/>
          </a:p>
          <a:p>
            <a:pPr algn="l">
              <a:spcBef>
                <a:spcPts val="300"/>
              </a:spcBef>
            </a:pPr>
            <a:r>
              <a:rPr sz="1200" b="1" i="0">
                <a:solidFill>
                  <a:srgbClr val="8A3A0E"/>
                </a:solidFill>
              </a:rPr>
              <a:t>High</a:t>
            </a:r>
            <a:endParaRPr sz="1200"/>
          </a:p>
        </p:txBody>
      </p:sp>
      <p:sp>
        <p:nvSpPr>
          <p:cNvPr id="10" name="Vendor flip"/>
          <p:cNvSpPr/>
          <p:nvPr/>
        </p:nvSpPr>
        <p:spPr>
          <a:xfrm>
            <a:off x="7406640" y="3383280"/>
            <a:ext cx="4279392" cy="1234440"/>
          </a:xfrm>
          <a:prstGeom prst="roundRect">
            <a:avLst>
              <a:gd name="adj" fmla="val 7407"/>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Flip condition</a:t>
            </a:r>
            <a:endParaRPr sz="1200"/>
          </a:p>
          <a:p>
            <a:pPr algn="l"/>
            <a:r>
              <a:rPr sz="1050" b="0" i="0">
                <a:solidFill>
                  <a:srgbClr val="43535F"/>
                </a:solidFill>
              </a:rPr>
              <a:t>Independent confirmation of AI use in the service itself would lift the Probable cap and raise the class to Critical.</a:t>
            </a:r>
            <a:endParaRPr sz="1200"/>
          </a:p>
        </p:txBody>
      </p:sp>
      <p:sp>
        <p:nvSpPr>
          <p:cNvPr id="11" name="Vendor action"/>
          <p:cNvSpPr/>
          <p:nvPr/>
        </p:nvSpPr>
        <p:spPr>
          <a:xfrm>
            <a:off x="7406640" y="4754880"/>
            <a:ext cx="4279392" cy="1417320"/>
          </a:xfrm>
          <a:prstGeom prst="roundRect">
            <a:avLst>
              <a:gd name="adj" fmla="val 6451"/>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tIns="91440" rIns="109728" bIns="73152">
            <a:noAutofit/>
          </a:bodyPr>
          <a:lstStyle/>
          <a:p>
            <a:pPr algn="l">
              <a:spcAft>
                <a:spcPts val="400"/>
              </a:spcAft>
            </a:pPr>
            <a:r>
              <a:rPr sz="1200" b="1" i="0">
                <a:solidFill>
                  <a:srgbClr val="0C2D36"/>
                </a:solidFill>
              </a:rPr>
              <a:t>Next action for Meridian</a:t>
            </a:r>
            <a:endParaRPr sz="1200"/>
          </a:p>
          <a:p>
            <a:pPr algn="l"/>
            <a:r>
              <a:rPr sz="1050" b="0" i="0">
                <a:solidFill>
                  <a:srgbClr val="43535F"/>
                </a:solidFill>
              </a:rPr>
              <a:t>Issue a targeted questionnaire within 15 business days covering which Meridian data the AI touches, model provider identity and AI sub-processors, training…</a:t>
            </a:r>
            <a:endParaRPr sz="1200"/>
          </a:p>
          <a:p>
            <a:pPr algn="l">
              <a:spcBef>
                <a:spcPts val="300"/>
              </a:spcBef>
            </a:pPr>
            <a:r>
              <a:rPr sz="1000" b="0" i="0">
                <a:solidFill>
                  <a:srgbClr val="66757F"/>
                </a:solidFill>
              </a:rPr>
              <a:t>Gap blocks SUB, TRAIN, LOC, EXPL, PI, GOV, INC, MRM · questions Q2, Q3, Q4, Q5, Q6, Q7, Q9, Q10, Q11, Q13, Q14, Q15</a:t>
            </a:r>
            <a:endParaRPr sz="1200"/>
          </a:p>
        </p:txBody>
      </p:sp>
    </p:spTree>
  </p:cSld>
  <p:clrMapOvr>
    <a:masterClrMapping/>
  </p:clrMapOvr>
</p:sld>
</file>

<file path=ppt/theme/theme1.xml><?xml version="1.0" encoding="utf-8"?>
<a:theme xmlns:a="http://schemas.openxmlformats.org/drawingml/2006/main" name="Team Osprey">
  <a:themeElements>
    <a:clrScheme name="Team Osprey">
      <a:dk1>
        <a:sysClr val="windowText" lastClr="000000"/>
      </a:dk1>
      <a:lt1>
        <a:sysClr val="window" lastClr="FFFFFF"/>
      </a:lt1>
      <a:dk2>
        <a:srgbClr val="0C2D36"/>
      </a:dk2>
      <a:lt2>
        <a:srgbClr val="F1F5F7"/>
      </a:lt2>
      <a:accent1>
        <a:srgbClr val="0E7C7B"/>
      </a:accent1>
      <a:accent2>
        <a:srgbClr val="0C2D36"/>
      </a:accent2>
      <a:accent3>
        <a:srgbClr val="86D4CA"/>
      </a:accent3>
      <a:accent4>
        <a:srgbClr val="F2B705"/>
      </a:accent4>
      <a:accent5>
        <a:srgbClr val="9B1C1C"/>
      </a:accent5>
      <a:accent6>
        <a:srgbClr val="43535F"/>
      </a:accent6>
      <a:hlink>
        <a:srgbClr val="0A5E5D"/>
      </a:hlink>
      <a:folHlink>
        <a:srgbClr val="66757F"/>
      </a:folHlink>
    </a:clrScheme>
    <a:fontScheme name="Team Osprey">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Reading the public footprint</dc:title>
  <dc:subject>Vendor AI usage analysis: case study 1 walkthrough</dc:subject>
  <dc:creator>Team Osprey</dc:creator>
  <cp:keywords>vendor AI usage; OSINT; third-party risk; confidential</cp:keywords>
  <dc:description>Confidential case-study material. Do not publish or distribute.</dc:description>
  <cp:lastModifiedBy>Team Osprey</cp:lastModifiedBy>
  <cp:revision>1</cp:revision>
  <dcterms:created xsi:type="dcterms:W3CDTF">2026-10-03T09:00:00Z</dcterms:created>
  <dcterms:modified xsi:type="dcterms:W3CDTF">2026-10-03T09:00:00Z</dcterms:modified>
  <cp:category>Confidential</cp:category>
</cp:coreProperties>
</file>